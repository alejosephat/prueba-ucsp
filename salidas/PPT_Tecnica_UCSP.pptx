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520000"/>
            <a:ext cx="10672000" cy="260000"/>
          </a:xfrm>
          <a:prstGeom prst="rect">
            <a:avLst/>
          </a:prstGeom>
          <a:noFill/>
        </p:spPr>
        <p:txBody>
          <a:bodyPr wrap="square" lIns="0" rIns="0" tIns="0" bIns="0">
            <a:spAutoFit/>
          </a:bodyPr>
          <a:lstStyle/>
          <a:p>
            <a:pPr algn="l">
              <a:lnSpc>
                <a:spcPct val="130000"/>
              </a:lnSpc>
            </a:pPr>
            <a:r>
              <a:rPr sz="1050" b="0" i="0">
                <a:solidFill>
                  <a:srgbClr val="A8452F"/>
                </a:solidFill>
                <a:latin typeface="Segoe UI"/>
              </a:rPr>
              <a:t>Prueba técnica · Analista de Datos · Universidad Católica San Pablo</a:t>
            </a:r>
          </a:p>
        </p:txBody>
      </p:sp>
      <p:sp>
        <p:nvSpPr>
          <p:cNvPr id="3" name="TextBox 2"/>
          <p:cNvSpPr txBox="1"/>
          <p:nvPr/>
        </p:nvSpPr>
        <p:spPr>
          <a:xfrm>
            <a:off x="760000" y="800000"/>
            <a:ext cx="10400000" cy="900000"/>
          </a:xfrm>
          <a:prstGeom prst="rect">
            <a:avLst/>
          </a:prstGeom>
          <a:noFill/>
        </p:spPr>
        <p:txBody>
          <a:bodyPr wrap="square" lIns="0" rIns="0" tIns="0" bIns="0">
            <a:spAutoFit/>
          </a:bodyPr>
          <a:lstStyle/>
          <a:p>
            <a:pPr algn="l">
              <a:lnSpc>
                <a:spcPct val="112000"/>
              </a:lnSpc>
            </a:pPr>
            <a:r>
              <a:rPr sz="3000" b="0" i="0">
                <a:solidFill>
                  <a:srgbClr val="1A1A1A"/>
                </a:solidFill>
                <a:latin typeface="Georgia"/>
              </a:rPr>
              <a:t>Evolución de la oferta académica</a:t>
            </a:r>
          </a:p>
          <a:p>
            <a:pPr algn="l">
              <a:lnSpc>
                <a:spcPct val="112000"/>
              </a:lnSpc>
            </a:pPr>
            <a:r>
              <a:rPr sz="3000" b="0" i="0">
                <a:solidFill>
                  <a:srgbClr val="1A1A1A"/>
                </a:solidFill>
                <a:latin typeface="Georgia"/>
              </a:rPr>
              <a:t>y la matrícula universitaria</a:t>
            </a:r>
          </a:p>
        </p:txBody>
      </p:sp>
      <p:sp>
        <p:nvSpPr>
          <p:cNvPr id="4" name="TextBox 3"/>
          <p:cNvSpPr txBox="1"/>
          <p:nvPr/>
        </p:nvSpPr>
        <p:spPr>
          <a:xfrm>
            <a:off x="760000" y="1850000"/>
            <a:ext cx="10400000" cy="300000"/>
          </a:xfrm>
          <a:prstGeom prst="rect">
            <a:avLst/>
          </a:prstGeom>
          <a:noFill/>
        </p:spPr>
        <p:txBody>
          <a:bodyPr wrap="square" lIns="0" rIns="0" tIns="0" bIns="0">
            <a:spAutoFit/>
          </a:bodyPr>
          <a:lstStyle/>
          <a:p>
            <a:pPr algn="l">
              <a:lnSpc>
                <a:spcPct val="130000"/>
              </a:lnSpc>
            </a:pPr>
            <a:r>
              <a:rPr sz="1150" b="0" i="0">
                <a:solidFill>
                  <a:srgbClr val="6B6560"/>
                </a:solidFill>
                <a:latin typeface="Segoe UI"/>
              </a:rPr>
              <a:t>Solución de extremo a extremo sobre los datos abiertos de SUNEDU (tuni.pe): ingesta, modelo, calidad, estadística y un tablero ejecutivo en Power BI.</a:t>
            </a:r>
          </a:p>
        </p:txBody>
      </p:sp>
      <p:cxnSp>
        <p:nvCxnSpPr>
          <p:cNvPr id="5" name="Connector 4"/>
          <p:cNvCxnSpPr/>
          <p:nvPr/>
        </p:nvCxnSpPr>
        <p:spPr>
          <a:xfrm>
            <a:off x="760000" y="220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60000" y="2380000"/>
            <a:ext cx="5600000" cy="250000"/>
          </a:xfrm>
          <a:prstGeom prst="rect">
            <a:avLst/>
          </a:prstGeom>
          <a:noFill/>
        </p:spPr>
        <p:txBody>
          <a:bodyPr wrap="square" lIns="0" rIns="0" tIns="0" bIns="0">
            <a:spAutoFit/>
          </a:bodyPr>
          <a:lstStyle/>
          <a:p>
            <a:pPr algn="l">
              <a:lnSpc>
                <a:spcPct val="130000"/>
              </a:lnSpc>
            </a:pPr>
            <a:r>
              <a:rPr sz="950" b="1" i="0">
                <a:solidFill>
                  <a:srgbClr val="A8452F"/>
                </a:solidFill>
                <a:latin typeface="Segoe UI"/>
              </a:rPr>
              <a:t>PREGUNTAS RESPONDIDAS, Y DÓNDE</a:t>
            </a:r>
          </a:p>
        </p:txBody>
      </p:sp>
      <p:sp>
        <p:nvSpPr>
          <p:cNvPr id="7" name="TextBox 6"/>
          <p:cNvSpPr txBox="1"/>
          <p:nvPr/>
        </p:nvSpPr>
        <p:spPr>
          <a:xfrm>
            <a:off x="760000" y="2700000"/>
            <a:ext cx="450000" cy="260000"/>
          </a:xfrm>
          <a:prstGeom prst="rect">
            <a:avLst/>
          </a:prstGeom>
          <a:noFill/>
        </p:spPr>
        <p:txBody>
          <a:bodyPr wrap="square" lIns="0" rIns="0" tIns="0" bIns="0">
            <a:spAutoFit/>
          </a:bodyPr>
          <a:lstStyle/>
          <a:p>
            <a:pPr algn="l">
              <a:lnSpc>
                <a:spcPct val="130000"/>
              </a:lnSpc>
            </a:pPr>
            <a:r>
              <a:rPr sz="1100" b="0" i="0">
                <a:solidFill>
                  <a:srgbClr val="A8452F"/>
                </a:solidFill>
                <a:latin typeface="Georgia"/>
              </a:rPr>
              <a:t>4.1</a:t>
            </a:r>
          </a:p>
        </p:txBody>
      </p:sp>
      <p:sp>
        <p:nvSpPr>
          <p:cNvPr id="8" name="TextBox 7"/>
          <p:cNvSpPr txBox="1"/>
          <p:nvPr/>
        </p:nvSpPr>
        <p:spPr>
          <a:xfrm>
            <a:off x="1280000" y="2700000"/>
            <a:ext cx="5000000" cy="260000"/>
          </a:xfrm>
          <a:prstGeom prst="rect">
            <a:avLst/>
          </a:prstGeom>
          <a:noFill/>
        </p:spPr>
        <p:txBody>
          <a:bodyPr wrap="square" lIns="0" rIns="0" tIns="0" bIns="0">
            <a:spAutoFit/>
          </a:bodyPr>
          <a:lstStyle/>
          <a:p>
            <a:pPr algn="l">
              <a:lnSpc>
                <a:spcPct val="130000"/>
              </a:lnSpc>
            </a:pPr>
            <a:r>
              <a:rPr sz="1150" b="0" i="0">
                <a:solidFill>
                  <a:srgbClr val="1A1A1A"/>
                </a:solidFill>
                <a:latin typeface="Segoe UI"/>
              </a:rPr>
              <a:t>Benchmark de demanda</a:t>
            </a:r>
          </a:p>
        </p:txBody>
      </p:sp>
      <p:sp>
        <p:nvSpPr>
          <p:cNvPr id="9" name="TextBox 8"/>
          <p:cNvSpPr txBox="1"/>
          <p:nvPr/>
        </p:nvSpPr>
        <p:spPr>
          <a:xfrm>
            <a:off x="1280000" y="2950000"/>
            <a:ext cx="5000000" cy="260000"/>
          </a:xfrm>
          <a:prstGeom prst="rect">
            <a:avLst/>
          </a:prstGeom>
          <a:noFill/>
        </p:spPr>
        <p:txBody>
          <a:bodyPr wrap="square" lIns="0" rIns="0" tIns="0" bIns="0">
            <a:spAutoFit/>
          </a:bodyPr>
          <a:lstStyle/>
          <a:p>
            <a:pPr algn="l">
              <a:lnSpc>
                <a:spcPct val="130000"/>
              </a:lnSpc>
            </a:pPr>
            <a:r>
              <a:rPr sz="950" b="0" i="0">
                <a:solidFill>
                  <a:srgbClr val="6B6560"/>
                </a:solidFill>
                <a:latin typeface="Segoe UI"/>
              </a:rPr>
              <a:t>Página 1 · la UCSP frente al sur y al país, en base 100</a:t>
            </a:r>
          </a:p>
        </p:txBody>
      </p:sp>
      <p:sp>
        <p:nvSpPr>
          <p:cNvPr id="10" name="TextBox 9"/>
          <p:cNvSpPr txBox="1"/>
          <p:nvPr/>
        </p:nvSpPr>
        <p:spPr>
          <a:xfrm>
            <a:off x="760000" y="3260000"/>
            <a:ext cx="450000" cy="260000"/>
          </a:xfrm>
          <a:prstGeom prst="rect">
            <a:avLst/>
          </a:prstGeom>
          <a:noFill/>
        </p:spPr>
        <p:txBody>
          <a:bodyPr wrap="square" lIns="0" rIns="0" tIns="0" bIns="0">
            <a:spAutoFit/>
          </a:bodyPr>
          <a:lstStyle/>
          <a:p>
            <a:pPr algn="l">
              <a:lnSpc>
                <a:spcPct val="130000"/>
              </a:lnSpc>
            </a:pPr>
            <a:r>
              <a:rPr sz="1100" b="0" i="0">
                <a:solidFill>
                  <a:srgbClr val="A8452F"/>
                </a:solidFill>
                <a:latin typeface="Georgia"/>
              </a:rPr>
              <a:t>4.2</a:t>
            </a:r>
          </a:p>
        </p:txBody>
      </p:sp>
      <p:sp>
        <p:nvSpPr>
          <p:cNvPr id="11" name="TextBox 10"/>
          <p:cNvSpPr txBox="1"/>
          <p:nvPr/>
        </p:nvSpPr>
        <p:spPr>
          <a:xfrm>
            <a:off x="1280000" y="3260000"/>
            <a:ext cx="5000000" cy="260000"/>
          </a:xfrm>
          <a:prstGeom prst="rect">
            <a:avLst/>
          </a:prstGeom>
          <a:noFill/>
        </p:spPr>
        <p:txBody>
          <a:bodyPr wrap="square" lIns="0" rIns="0" tIns="0" bIns="0">
            <a:spAutoFit/>
          </a:bodyPr>
          <a:lstStyle/>
          <a:p>
            <a:pPr algn="l">
              <a:lnSpc>
                <a:spcPct val="130000"/>
              </a:lnSpc>
            </a:pPr>
            <a:r>
              <a:rPr sz="1150" b="0" i="0">
                <a:solidFill>
                  <a:srgbClr val="1A1A1A"/>
                </a:solidFill>
                <a:latin typeface="Segoe UI"/>
              </a:rPr>
              <a:t>Demanda por programa</a:t>
            </a:r>
          </a:p>
        </p:txBody>
      </p:sp>
      <p:sp>
        <p:nvSpPr>
          <p:cNvPr id="12" name="TextBox 11"/>
          <p:cNvSpPr txBox="1"/>
          <p:nvPr/>
        </p:nvSpPr>
        <p:spPr>
          <a:xfrm>
            <a:off x="1280000" y="3510000"/>
            <a:ext cx="5000000" cy="260000"/>
          </a:xfrm>
          <a:prstGeom prst="rect">
            <a:avLst/>
          </a:prstGeom>
          <a:noFill/>
        </p:spPr>
        <p:txBody>
          <a:bodyPr wrap="square" lIns="0" rIns="0" tIns="0" bIns="0">
            <a:spAutoFit/>
          </a:bodyPr>
          <a:lstStyle/>
          <a:p>
            <a:pPr algn="l">
              <a:lnSpc>
                <a:spcPct val="130000"/>
              </a:lnSpc>
            </a:pPr>
            <a:r>
              <a:rPr sz="950" b="0" i="0">
                <a:solidFill>
                  <a:srgbClr val="6B6560"/>
                </a:solidFill>
                <a:latin typeface="Segoe UI"/>
              </a:rPr>
              <a:t>Página 2 · top y bottom 5 del año, responde a los filtros</a:t>
            </a:r>
          </a:p>
        </p:txBody>
      </p:sp>
      <p:sp>
        <p:nvSpPr>
          <p:cNvPr id="13" name="TextBox 12"/>
          <p:cNvSpPr txBox="1"/>
          <p:nvPr/>
        </p:nvSpPr>
        <p:spPr>
          <a:xfrm>
            <a:off x="760000" y="3820000"/>
            <a:ext cx="450000" cy="260000"/>
          </a:xfrm>
          <a:prstGeom prst="rect">
            <a:avLst/>
          </a:prstGeom>
          <a:noFill/>
        </p:spPr>
        <p:txBody>
          <a:bodyPr wrap="square" lIns="0" rIns="0" tIns="0" bIns="0">
            <a:spAutoFit/>
          </a:bodyPr>
          <a:lstStyle/>
          <a:p>
            <a:pPr algn="l">
              <a:lnSpc>
                <a:spcPct val="130000"/>
              </a:lnSpc>
            </a:pPr>
            <a:r>
              <a:rPr sz="1100" b="0" i="0">
                <a:solidFill>
                  <a:srgbClr val="A8452F"/>
                </a:solidFill>
                <a:latin typeface="Georgia"/>
              </a:rPr>
              <a:t>4.3</a:t>
            </a:r>
          </a:p>
        </p:txBody>
      </p:sp>
      <p:sp>
        <p:nvSpPr>
          <p:cNvPr id="14" name="TextBox 13"/>
          <p:cNvSpPr txBox="1"/>
          <p:nvPr/>
        </p:nvSpPr>
        <p:spPr>
          <a:xfrm>
            <a:off x="1280000" y="3820000"/>
            <a:ext cx="5000000" cy="260000"/>
          </a:xfrm>
          <a:prstGeom prst="rect">
            <a:avLst/>
          </a:prstGeom>
          <a:noFill/>
        </p:spPr>
        <p:txBody>
          <a:bodyPr wrap="square" lIns="0" rIns="0" tIns="0" bIns="0">
            <a:spAutoFit/>
          </a:bodyPr>
          <a:lstStyle/>
          <a:p>
            <a:pPr algn="l">
              <a:lnSpc>
                <a:spcPct val="130000"/>
              </a:lnSpc>
            </a:pPr>
            <a:r>
              <a:rPr sz="1150" b="0" i="0">
                <a:solidFill>
                  <a:srgbClr val="1A1A1A"/>
                </a:solidFill>
                <a:latin typeface="Segoe UI"/>
              </a:rPr>
              <a:t>Tendencia de los programas</a:t>
            </a:r>
          </a:p>
        </p:txBody>
      </p:sp>
      <p:sp>
        <p:nvSpPr>
          <p:cNvPr id="15" name="TextBox 14"/>
          <p:cNvSpPr txBox="1"/>
          <p:nvPr/>
        </p:nvSpPr>
        <p:spPr>
          <a:xfrm>
            <a:off x="1280000" y="4070000"/>
            <a:ext cx="5000000" cy="260000"/>
          </a:xfrm>
          <a:prstGeom prst="rect">
            <a:avLst/>
          </a:prstGeom>
          <a:noFill/>
        </p:spPr>
        <p:txBody>
          <a:bodyPr wrap="square" lIns="0" rIns="0" tIns="0" bIns="0">
            <a:spAutoFit/>
          </a:bodyPr>
          <a:lstStyle/>
          <a:p>
            <a:pPr algn="l">
              <a:lnSpc>
                <a:spcPct val="130000"/>
              </a:lnSpc>
            </a:pPr>
            <a:r>
              <a:rPr sz="950" b="0" i="0">
                <a:solidFill>
                  <a:srgbClr val="6B6560"/>
                </a:solidFill>
                <a:latin typeface="Segoe UI"/>
              </a:rPr>
              <a:t>Página 2 · regresión sobre ingreso y matrícula, contra el campo del sur</a:t>
            </a:r>
          </a:p>
        </p:txBody>
      </p:sp>
      <p:sp>
        <p:nvSpPr>
          <p:cNvPr id="16" name="TextBox 15"/>
          <p:cNvSpPr txBox="1"/>
          <p:nvPr/>
        </p:nvSpPr>
        <p:spPr>
          <a:xfrm>
            <a:off x="760000" y="4380000"/>
            <a:ext cx="450000" cy="260000"/>
          </a:xfrm>
          <a:prstGeom prst="rect">
            <a:avLst/>
          </a:prstGeom>
          <a:noFill/>
        </p:spPr>
        <p:txBody>
          <a:bodyPr wrap="square" lIns="0" rIns="0" tIns="0" bIns="0">
            <a:spAutoFit/>
          </a:bodyPr>
          <a:lstStyle/>
          <a:p>
            <a:pPr algn="l">
              <a:lnSpc>
                <a:spcPct val="130000"/>
              </a:lnSpc>
            </a:pPr>
            <a:r>
              <a:rPr sz="1100" b="0" i="0">
                <a:solidFill>
                  <a:srgbClr val="A8452F"/>
                </a:solidFill>
                <a:latin typeface="Georgia"/>
              </a:rPr>
              <a:t>4.4</a:t>
            </a:r>
          </a:p>
        </p:txBody>
      </p:sp>
      <p:sp>
        <p:nvSpPr>
          <p:cNvPr id="17" name="TextBox 16"/>
          <p:cNvSpPr txBox="1"/>
          <p:nvPr/>
        </p:nvSpPr>
        <p:spPr>
          <a:xfrm>
            <a:off x="1280000" y="4380000"/>
            <a:ext cx="5000000" cy="260000"/>
          </a:xfrm>
          <a:prstGeom prst="rect">
            <a:avLst/>
          </a:prstGeom>
          <a:noFill/>
        </p:spPr>
        <p:txBody>
          <a:bodyPr wrap="square" lIns="0" rIns="0" tIns="0" bIns="0">
            <a:spAutoFit/>
          </a:bodyPr>
          <a:lstStyle/>
          <a:p>
            <a:pPr algn="l">
              <a:lnSpc>
                <a:spcPct val="130000"/>
              </a:lnSpc>
            </a:pPr>
            <a:r>
              <a:rPr sz="1150" b="0" i="0">
                <a:solidFill>
                  <a:srgbClr val="1A1A1A"/>
                </a:solidFill>
                <a:latin typeface="Segoe UI"/>
              </a:rPr>
              <a:t>Selectividad (pregunta adicional)</a:t>
            </a:r>
          </a:p>
        </p:txBody>
      </p:sp>
      <p:sp>
        <p:nvSpPr>
          <p:cNvPr id="18" name="TextBox 17"/>
          <p:cNvSpPr txBox="1"/>
          <p:nvPr/>
        </p:nvSpPr>
        <p:spPr>
          <a:xfrm>
            <a:off x="1280000" y="4630000"/>
            <a:ext cx="5000000" cy="260000"/>
          </a:xfrm>
          <a:prstGeom prst="rect">
            <a:avLst/>
          </a:prstGeom>
          <a:noFill/>
        </p:spPr>
        <p:txBody>
          <a:bodyPr wrap="square" lIns="0" rIns="0" tIns="0" bIns="0">
            <a:spAutoFit/>
          </a:bodyPr>
          <a:lstStyle/>
          <a:p>
            <a:pPr algn="l">
              <a:lnSpc>
                <a:spcPct val="130000"/>
              </a:lnSpc>
            </a:pPr>
            <a:r>
              <a:rPr sz="950" b="0" i="0">
                <a:solidFill>
                  <a:srgbClr val="6B6560"/>
                </a:solidFill>
                <a:latin typeface="Segoe UI"/>
              </a:rPr>
              <a:t>Página 3 · ¿qué tan selectiva es la UCSP frente a sus pares privados?</a:t>
            </a:r>
          </a:p>
        </p:txBody>
      </p:sp>
      <p:sp>
        <p:nvSpPr>
          <p:cNvPr id="19" name="TextBox 18"/>
          <p:cNvSpPr txBox="1"/>
          <p:nvPr/>
        </p:nvSpPr>
        <p:spPr>
          <a:xfrm>
            <a:off x="6700000" y="2380000"/>
            <a:ext cx="4700000" cy="250000"/>
          </a:xfrm>
          <a:prstGeom prst="rect">
            <a:avLst/>
          </a:prstGeom>
          <a:noFill/>
        </p:spPr>
        <p:txBody>
          <a:bodyPr wrap="square" lIns="0" rIns="0" tIns="0" bIns="0">
            <a:spAutoFit/>
          </a:bodyPr>
          <a:lstStyle/>
          <a:p>
            <a:pPr algn="l">
              <a:lnSpc>
                <a:spcPct val="130000"/>
              </a:lnSpc>
            </a:pPr>
            <a:r>
              <a:rPr sz="950" b="1" i="0">
                <a:solidFill>
                  <a:srgbClr val="A8452F"/>
                </a:solidFill>
                <a:latin typeface="Segoe UI"/>
              </a:rPr>
              <a:t>DATASETS USADOS Y RECORTE</a:t>
            </a:r>
          </a:p>
        </p:txBody>
      </p:sp>
      <p:cxnSp>
        <p:nvCxnSpPr>
          <p:cNvPr id="20" name="Connector 19"/>
          <p:cNvCxnSpPr/>
          <p:nvPr/>
        </p:nvCxnSpPr>
        <p:spPr>
          <a:xfrm>
            <a:off x="6700000" y="2680000"/>
            <a:ext cx="4730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70000" y="2790000"/>
            <a:ext cx="1720983" cy="205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Dataset</a:t>
            </a:r>
          </a:p>
        </p:txBody>
      </p:sp>
      <p:sp>
        <p:nvSpPr>
          <p:cNvPr id="22" name="TextBox 21"/>
          <p:cNvSpPr txBox="1"/>
          <p:nvPr/>
        </p:nvSpPr>
        <p:spPr>
          <a:xfrm>
            <a:off x="8630983" y="2790000"/>
            <a:ext cx="1100655" cy="205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Periodo</a:t>
            </a:r>
          </a:p>
        </p:txBody>
      </p:sp>
      <p:sp>
        <p:nvSpPr>
          <p:cNvPr id="23" name="TextBox 22"/>
          <p:cNvSpPr txBox="1"/>
          <p:nvPr/>
        </p:nvSpPr>
        <p:spPr>
          <a:xfrm>
            <a:off x="9871638" y="2790000"/>
            <a:ext cx="1488360" cy="205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Uso</a:t>
            </a:r>
          </a:p>
        </p:txBody>
      </p:sp>
      <p:cxnSp>
        <p:nvCxnSpPr>
          <p:cNvPr id="24" name="Connector 23"/>
          <p:cNvCxnSpPr/>
          <p:nvPr/>
        </p:nvCxnSpPr>
        <p:spPr>
          <a:xfrm>
            <a:off x="6700000" y="2975000"/>
            <a:ext cx="473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770000" y="3075000"/>
            <a:ext cx="1720983"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Matriculado</a:t>
            </a:r>
          </a:p>
        </p:txBody>
      </p:sp>
      <p:sp>
        <p:nvSpPr>
          <p:cNvPr id="26" name="TextBox 25"/>
          <p:cNvSpPr txBox="1"/>
          <p:nvPr/>
        </p:nvSpPr>
        <p:spPr>
          <a:xfrm>
            <a:off x="8630983" y="3075000"/>
            <a:ext cx="1100655"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2020-I … 2025-II</a:t>
            </a:r>
          </a:p>
        </p:txBody>
      </p:sp>
      <p:sp>
        <p:nvSpPr>
          <p:cNvPr id="27" name="TextBox 26"/>
          <p:cNvSpPr txBox="1"/>
          <p:nvPr/>
        </p:nvSpPr>
        <p:spPr>
          <a:xfrm>
            <a:off x="9871638" y="3075000"/>
            <a:ext cx="1488360"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hecho, 12 semestres</a:t>
            </a:r>
          </a:p>
        </p:txBody>
      </p:sp>
      <p:sp>
        <p:nvSpPr>
          <p:cNvPr id="28" name="TextBox 27"/>
          <p:cNvSpPr txBox="1"/>
          <p:nvPr/>
        </p:nvSpPr>
        <p:spPr>
          <a:xfrm>
            <a:off x="6770000" y="3280000"/>
            <a:ext cx="1720983"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Ingresante</a:t>
            </a:r>
          </a:p>
        </p:txBody>
      </p:sp>
      <p:sp>
        <p:nvSpPr>
          <p:cNvPr id="29" name="TextBox 28"/>
          <p:cNvSpPr txBox="1"/>
          <p:nvPr/>
        </p:nvSpPr>
        <p:spPr>
          <a:xfrm>
            <a:off x="8630983" y="3280000"/>
            <a:ext cx="1100655"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2020–2025</a:t>
            </a:r>
          </a:p>
        </p:txBody>
      </p:sp>
      <p:sp>
        <p:nvSpPr>
          <p:cNvPr id="30" name="TextBox 29"/>
          <p:cNvSpPr txBox="1"/>
          <p:nvPr/>
        </p:nvSpPr>
        <p:spPr>
          <a:xfrm>
            <a:off x="9871638" y="3280000"/>
            <a:ext cx="1488360"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hecho</a:t>
            </a:r>
          </a:p>
        </p:txBody>
      </p:sp>
      <p:sp>
        <p:nvSpPr>
          <p:cNvPr id="31" name="TextBox 30"/>
          <p:cNvSpPr txBox="1"/>
          <p:nvPr/>
        </p:nvSpPr>
        <p:spPr>
          <a:xfrm>
            <a:off x="6770000" y="3485000"/>
            <a:ext cx="1720983"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Postulante</a:t>
            </a:r>
          </a:p>
        </p:txBody>
      </p:sp>
      <p:sp>
        <p:nvSpPr>
          <p:cNvPr id="32" name="TextBox 31"/>
          <p:cNvSpPr txBox="1"/>
          <p:nvPr/>
        </p:nvSpPr>
        <p:spPr>
          <a:xfrm>
            <a:off x="8630983" y="3485000"/>
            <a:ext cx="1100655"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2022–2025</a:t>
            </a:r>
          </a:p>
        </p:txBody>
      </p:sp>
      <p:sp>
        <p:nvSpPr>
          <p:cNvPr id="33" name="TextBox 32"/>
          <p:cNvSpPr txBox="1"/>
          <p:nvPr/>
        </p:nvSpPr>
        <p:spPr>
          <a:xfrm>
            <a:off x="9871638" y="3485000"/>
            <a:ext cx="1488360"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hecho · pregunta 4.4</a:t>
            </a:r>
          </a:p>
        </p:txBody>
      </p:sp>
      <p:sp>
        <p:nvSpPr>
          <p:cNvPr id="34" name="TextBox 33"/>
          <p:cNvSpPr txBox="1"/>
          <p:nvPr/>
        </p:nvSpPr>
        <p:spPr>
          <a:xfrm>
            <a:off x="6770000" y="3690000"/>
            <a:ext cx="1720983"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Egresado · Docente · GYT</a:t>
            </a:r>
          </a:p>
        </p:txBody>
      </p:sp>
      <p:sp>
        <p:nvSpPr>
          <p:cNvPr id="35" name="TextBox 34"/>
          <p:cNvSpPr txBox="1"/>
          <p:nvPr/>
        </p:nvSpPr>
        <p:spPr>
          <a:xfrm>
            <a:off x="8630983" y="3690000"/>
            <a:ext cx="1100655"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2020/22–2025</a:t>
            </a:r>
          </a:p>
        </p:txBody>
      </p:sp>
      <p:sp>
        <p:nvSpPr>
          <p:cNvPr id="36" name="TextBox 35"/>
          <p:cNvSpPr txBox="1"/>
          <p:nvPr/>
        </p:nvSpPr>
        <p:spPr>
          <a:xfrm>
            <a:off x="9871638" y="3690000"/>
            <a:ext cx="1488360"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hechos de contexto</a:t>
            </a:r>
          </a:p>
        </p:txBody>
      </p:sp>
      <p:sp>
        <p:nvSpPr>
          <p:cNvPr id="37" name="TextBox 36"/>
          <p:cNvSpPr txBox="1"/>
          <p:nvPr/>
        </p:nvSpPr>
        <p:spPr>
          <a:xfrm>
            <a:off x="6770000" y="3895000"/>
            <a:ext cx="1720983"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Carnés</a:t>
            </a:r>
          </a:p>
        </p:txBody>
      </p:sp>
      <p:sp>
        <p:nvSpPr>
          <p:cNvPr id="38" name="TextBox 37"/>
          <p:cNvSpPr txBox="1"/>
          <p:nvPr/>
        </p:nvSpPr>
        <p:spPr>
          <a:xfrm>
            <a:off x="8630983" y="3895000"/>
            <a:ext cx="1100655"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2021–2025</a:t>
            </a:r>
          </a:p>
        </p:txBody>
      </p:sp>
      <p:sp>
        <p:nvSpPr>
          <p:cNvPr id="39" name="TextBox 38"/>
          <p:cNvSpPr txBox="1"/>
          <p:nvPr/>
        </p:nvSpPr>
        <p:spPr>
          <a:xfrm>
            <a:off x="9871638" y="3895000"/>
            <a:ext cx="1488360"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contraste de calidad</a:t>
            </a:r>
          </a:p>
        </p:txBody>
      </p:sp>
      <p:sp>
        <p:nvSpPr>
          <p:cNvPr id="40" name="TextBox 39"/>
          <p:cNvSpPr txBox="1"/>
          <p:nvPr/>
        </p:nvSpPr>
        <p:spPr>
          <a:xfrm>
            <a:off x="6770000" y="4100000"/>
            <a:ext cx="1720983"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Oferta univ. · GYT extranjeros</a:t>
            </a:r>
          </a:p>
        </p:txBody>
      </p:sp>
      <p:sp>
        <p:nvSpPr>
          <p:cNvPr id="41" name="TextBox 40"/>
          <p:cNvSpPr txBox="1"/>
          <p:nvPr/>
        </p:nvSpPr>
        <p:spPr>
          <a:xfrm>
            <a:off x="8630983" y="4100000"/>
            <a:ext cx="1100655"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a:t>
            </a:r>
          </a:p>
        </p:txBody>
      </p:sp>
      <p:sp>
        <p:nvSpPr>
          <p:cNvPr id="42" name="TextBox 41"/>
          <p:cNvSpPr txBox="1"/>
          <p:nvPr/>
        </p:nvSpPr>
        <p:spPr>
          <a:xfrm>
            <a:off x="9871638" y="4100000"/>
            <a:ext cx="1488360" cy="205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fuera, motivo declarado</a:t>
            </a:r>
          </a:p>
        </p:txBody>
      </p:sp>
      <p:cxnSp>
        <p:nvCxnSpPr>
          <p:cNvPr id="43" name="Connector 42"/>
          <p:cNvCxnSpPr/>
          <p:nvPr/>
        </p:nvCxnSpPr>
        <p:spPr>
          <a:xfrm>
            <a:off x="6700000" y="4295000"/>
            <a:ext cx="4730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700000" y="4520000"/>
            <a:ext cx="4700000" cy="250000"/>
          </a:xfrm>
          <a:prstGeom prst="rect">
            <a:avLst/>
          </a:prstGeom>
          <a:noFill/>
        </p:spPr>
        <p:txBody>
          <a:bodyPr wrap="square" lIns="0" rIns="0" tIns="0" bIns="0">
            <a:spAutoFit/>
          </a:bodyPr>
          <a:lstStyle/>
          <a:p>
            <a:pPr algn="l">
              <a:lnSpc>
                <a:spcPct val="130000"/>
              </a:lnSpc>
            </a:pPr>
            <a:r>
              <a:rPr sz="950" b="1" i="0">
                <a:solidFill>
                  <a:srgbClr val="A8452F"/>
                </a:solidFill>
                <a:latin typeface="Segoe UI"/>
              </a:rPr>
              <a:t>LIMITACIONES RELEVANTES</a:t>
            </a:r>
          </a:p>
        </p:txBody>
      </p:sp>
      <p:sp>
        <p:nvSpPr>
          <p:cNvPr id="45" name="TextBox 44"/>
          <p:cNvSpPr txBox="1"/>
          <p:nvPr/>
        </p:nvSpPr>
        <p:spPr>
          <a:xfrm>
            <a:off x="6700000" y="4810000"/>
            <a:ext cx="150000" cy="240000"/>
          </a:xfrm>
          <a:prstGeom prst="rect">
            <a:avLst/>
          </a:prstGeom>
          <a:noFill/>
        </p:spPr>
        <p:txBody>
          <a:bodyPr wrap="square" lIns="0" rIns="0" tIns="0" bIns="0">
            <a:spAutoFit/>
          </a:bodyPr>
          <a:lstStyle/>
          <a:p>
            <a:pPr algn="l">
              <a:lnSpc>
                <a:spcPct val="130000"/>
              </a:lnSpc>
            </a:pPr>
            <a:r>
              <a:rPr sz="900" b="0" i="0">
                <a:solidFill>
                  <a:srgbClr val="A8452F"/>
                </a:solidFill>
                <a:latin typeface="Segoe UI"/>
              </a:rPr>
              <a:t>—</a:t>
            </a:r>
          </a:p>
        </p:txBody>
      </p:sp>
      <p:sp>
        <p:nvSpPr>
          <p:cNvPr id="46" name="TextBox 45"/>
          <p:cNvSpPr txBox="1"/>
          <p:nvPr/>
        </p:nvSpPr>
        <p:spPr>
          <a:xfrm>
            <a:off x="6920000" y="4810000"/>
            <a:ext cx="4510000" cy="440000"/>
          </a:xfrm>
          <a:prstGeom prst="rect">
            <a:avLst/>
          </a:prstGeom>
          <a:noFill/>
        </p:spPr>
        <p:txBody>
          <a:bodyPr wrap="square" lIns="0" rIns="0" tIns="0" bIns="0">
            <a:spAutoFit/>
          </a:bodyPr>
          <a:lstStyle/>
          <a:p>
            <a:pPr algn="l">
              <a:lnSpc>
                <a:spcPct val="130000"/>
              </a:lnSpc>
            </a:pPr>
            <a:r>
              <a:rPr sz="900" b="0" i="0">
                <a:solidFill>
                  <a:srgbClr val="3D3A36"/>
                </a:solidFill>
                <a:latin typeface="Segoe UI"/>
              </a:rPr>
              <a:t>Regresión con 5 puntos (2021–2025): detecta solo tendencias claras. 2020 queda fuera por la ruptura de la pandemia.</a:t>
            </a:r>
          </a:p>
        </p:txBody>
      </p:sp>
      <p:sp>
        <p:nvSpPr>
          <p:cNvPr id="47" name="TextBox 46"/>
          <p:cNvSpPr txBox="1"/>
          <p:nvPr/>
        </p:nvSpPr>
        <p:spPr>
          <a:xfrm>
            <a:off x="6700000" y="5250000"/>
            <a:ext cx="150000" cy="240000"/>
          </a:xfrm>
          <a:prstGeom prst="rect">
            <a:avLst/>
          </a:prstGeom>
          <a:noFill/>
        </p:spPr>
        <p:txBody>
          <a:bodyPr wrap="square" lIns="0" rIns="0" tIns="0" bIns="0">
            <a:spAutoFit/>
          </a:bodyPr>
          <a:lstStyle/>
          <a:p>
            <a:pPr algn="l">
              <a:lnSpc>
                <a:spcPct val="130000"/>
              </a:lnSpc>
            </a:pPr>
            <a:r>
              <a:rPr sz="900" b="0" i="0">
                <a:solidFill>
                  <a:srgbClr val="A8452F"/>
                </a:solidFill>
                <a:latin typeface="Segoe UI"/>
              </a:rPr>
              <a:t>—</a:t>
            </a:r>
          </a:p>
        </p:txBody>
      </p:sp>
      <p:sp>
        <p:nvSpPr>
          <p:cNvPr id="48" name="TextBox 47"/>
          <p:cNvSpPr txBox="1"/>
          <p:nvPr/>
        </p:nvSpPr>
        <p:spPr>
          <a:xfrm>
            <a:off x="6920000" y="5250000"/>
            <a:ext cx="4510000" cy="440000"/>
          </a:xfrm>
          <a:prstGeom prst="rect">
            <a:avLst/>
          </a:prstGeom>
          <a:noFill/>
        </p:spPr>
        <p:txBody>
          <a:bodyPr wrap="square" lIns="0" rIns="0" tIns="0" bIns="0">
            <a:spAutoFit/>
          </a:bodyPr>
          <a:lstStyle/>
          <a:p>
            <a:pPr algn="l">
              <a:lnSpc>
                <a:spcPct val="130000"/>
              </a:lnSpc>
            </a:pPr>
            <a:r>
              <a:rPr sz="900" b="0" i="0">
                <a:solidFill>
                  <a:srgbClr val="3D3A36"/>
                </a:solidFill>
                <a:latin typeface="Segoe UI"/>
              </a:rPr>
              <a:t>Egresados no trae geografía y docentes no trae programa: granos declarados, con guardas en DAX.</a:t>
            </a:r>
          </a:p>
        </p:txBody>
      </p:sp>
      <p:sp>
        <p:nvSpPr>
          <p:cNvPr id="49" name="TextBox 48"/>
          <p:cNvSpPr txBox="1"/>
          <p:nvPr/>
        </p:nvSpPr>
        <p:spPr>
          <a:xfrm>
            <a:off x="6700000" y="5690000"/>
            <a:ext cx="150000" cy="240000"/>
          </a:xfrm>
          <a:prstGeom prst="rect">
            <a:avLst/>
          </a:prstGeom>
          <a:noFill/>
        </p:spPr>
        <p:txBody>
          <a:bodyPr wrap="square" lIns="0" rIns="0" tIns="0" bIns="0">
            <a:spAutoFit/>
          </a:bodyPr>
          <a:lstStyle/>
          <a:p>
            <a:pPr algn="l">
              <a:lnSpc>
                <a:spcPct val="130000"/>
              </a:lnSpc>
            </a:pPr>
            <a:r>
              <a:rPr sz="900" b="0" i="0">
                <a:solidFill>
                  <a:srgbClr val="A8452F"/>
                </a:solidFill>
                <a:latin typeface="Segoe UI"/>
              </a:rPr>
              <a:t>—</a:t>
            </a:r>
          </a:p>
        </p:txBody>
      </p:sp>
      <p:sp>
        <p:nvSpPr>
          <p:cNvPr id="50" name="TextBox 49"/>
          <p:cNvSpPr txBox="1"/>
          <p:nvPr/>
        </p:nvSpPr>
        <p:spPr>
          <a:xfrm>
            <a:off x="6920000" y="5690000"/>
            <a:ext cx="4510000" cy="440000"/>
          </a:xfrm>
          <a:prstGeom prst="rect">
            <a:avLst/>
          </a:prstGeom>
          <a:noFill/>
        </p:spPr>
        <p:txBody>
          <a:bodyPr wrap="square" lIns="0" rIns="0" tIns="0" bIns="0">
            <a:spAutoFit/>
          </a:bodyPr>
          <a:lstStyle/>
          <a:p>
            <a:pPr algn="l">
              <a:lnSpc>
                <a:spcPct val="130000"/>
              </a:lnSpc>
            </a:pPr>
            <a:r>
              <a:rPr sz="900" b="0" i="0">
                <a:solidFill>
                  <a:srgbClr val="3D3A36"/>
                </a:solidFill>
                <a:latin typeface="Segoe UI"/>
              </a:rPr>
              <a:t>2025-II de egresados y docentes llega incompleto (55–63 % de su volumen típico).</a:t>
            </a:r>
          </a:p>
        </p:txBody>
      </p:sp>
      <p:cxnSp>
        <p:nvCxnSpPr>
          <p:cNvPr id="51" name="Connector 50"/>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Alcance: pregrado (NIVEL_ACADEMICO = 'Carrera Profesional'). Ingesta del catálogo completo: 56 archivos, 1 270 MB, 9 datasets.</a:t>
            </a:r>
          </a:p>
        </p:txBody>
      </p:sp>
      <p:sp>
        <p:nvSpPr>
          <p:cNvPr id="53" name="TextBox 52"/>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430000"/>
            <a:ext cx="10672000" cy="260000"/>
          </a:xfrm>
          <a:prstGeom prst="rect">
            <a:avLst/>
          </a:prstGeom>
          <a:noFill/>
        </p:spPr>
        <p:txBody>
          <a:bodyPr wrap="square" lIns="0" rIns="0" tIns="0" bIns="0">
            <a:spAutoFit/>
          </a:bodyPr>
          <a:lstStyle/>
          <a:p>
            <a:pPr algn="l">
              <a:lnSpc>
                <a:spcPct val="130000"/>
              </a:lnSpc>
            </a:pPr>
            <a:r>
              <a:rPr sz="1000" b="0" i="0">
                <a:solidFill>
                  <a:srgbClr val="A8452F"/>
                </a:solidFill>
                <a:latin typeface="Segoe UI"/>
              </a:rPr>
              <a:t>3.1 · Ingesta y transformación reproducible</a:t>
            </a:r>
          </a:p>
        </p:txBody>
      </p:sp>
      <p:sp>
        <p:nvSpPr>
          <p:cNvPr id="3" name="TextBox 2"/>
          <p:cNvSpPr txBox="1"/>
          <p:nvPr/>
        </p:nvSpPr>
        <p:spPr>
          <a:xfrm>
            <a:off x="760000" y="700000"/>
            <a:ext cx="10600000" cy="520000"/>
          </a:xfrm>
          <a:prstGeom prst="rect">
            <a:avLst/>
          </a:prstGeom>
          <a:noFill/>
        </p:spPr>
        <p:txBody>
          <a:bodyPr wrap="square" lIns="0" rIns="0" tIns="0" bIns="0">
            <a:spAutoFit/>
          </a:bodyPr>
          <a:lstStyle/>
          <a:p>
            <a:pPr algn="l">
              <a:lnSpc>
                <a:spcPct val="130000"/>
              </a:lnSpc>
            </a:pPr>
            <a:r>
              <a:rPr sz="2300" b="0" i="0">
                <a:solidFill>
                  <a:srgbClr val="1A1A1A"/>
                </a:solidFill>
                <a:latin typeface="Georgia"/>
              </a:rPr>
              <a:t>Un comando reconstruye todo desde la fuente</a:t>
            </a:r>
          </a:p>
        </p:txBody>
      </p:sp>
      <p:sp>
        <p:nvSpPr>
          <p:cNvPr id="4" name="TextBox 3"/>
          <p:cNvSpPr txBox="1"/>
          <p:nvPr/>
        </p:nvSpPr>
        <p:spPr>
          <a:xfrm>
            <a:off x="760000" y="1210000"/>
            <a:ext cx="10400000" cy="560000"/>
          </a:xfrm>
          <a:prstGeom prst="rect">
            <a:avLst/>
          </a:prstGeom>
          <a:noFill/>
        </p:spPr>
        <p:txBody>
          <a:bodyPr wrap="square" lIns="0" rIns="0" tIns="0" bIns="0">
            <a:spAutoFit/>
          </a:bodyPr>
          <a:lstStyle/>
          <a:p>
            <a:pPr algn="l">
              <a:lnSpc>
                <a:spcPct val="130000"/>
              </a:lnSpc>
            </a:pPr>
            <a:r>
              <a:rPr sz="1100" b="0" i="0">
                <a:solidFill>
                  <a:srgbClr val="6B6560"/>
                </a:solidFill>
                <a:latin typeface="Segoe UI"/>
              </a:rPr>
              <a:t>El enunciado pide un proceso ejecutable de principio a fin, sin pasos manuales, que consolide periodos y estandarice universidades, programas y ubicación.</a:t>
            </a:r>
          </a:p>
        </p:txBody>
      </p:sp>
      <p:cxnSp>
        <p:nvCxnSpPr>
          <p:cNvPr id="5" name="Connector 4"/>
          <p:cNvCxnSpPr/>
          <p:nvPr/>
        </p:nvCxnSpPr>
        <p:spPr>
          <a:xfrm>
            <a:off x="760000" y="181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run_all.py · 01_descargar.py · 02_transformar.py · sql/bronze · sql/silver · sql/gold</a:t>
            </a:r>
          </a:p>
        </p:txBody>
      </p:sp>
      <p:sp>
        <p:nvSpPr>
          <p:cNvPr id="8" name="TextBox 7"/>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2 / 13</a:t>
            </a:r>
          </a:p>
        </p:txBody>
      </p:sp>
      <p:sp>
        <p:nvSpPr>
          <p:cNvPr id="9" name="Rectangle 8"/>
          <p:cNvSpPr/>
          <p:nvPr/>
        </p:nvSpPr>
        <p:spPr>
          <a:xfrm>
            <a:off x="760000" y="1960000"/>
            <a:ext cx="1080000" cy="640000"/>
          </a:xfrm>
          <a:prstGeom prst="rect">
            <a:avLst/>
          </a:prstGeom>
          <a:noFill/>
          <a:ln w="9525">
            <a:solidFill>
              <a:srgbClr val="D8D2CA"/>
            </a:solidFill>
          </a:ln>
          <a:effectLst/>
        </p:spPr>
        <p:txBody>
          <a:bodyPr rtlCol="0" anchor="ctr"/>
          <a:lstStyle/>
          <a:p>
            <a:pPr algn="ctr"/>
          </a:p>
        </p:txBody>
      </p:sp>
      <p:sp>
        <p:nvSpPr>
          <p:cNvPr id="10" name="TextBox 9"/>
          <p:cNvSpPr txBox="1"/>
          <p:nvPr/>
        </p:nvSpPr>
        <p:spPr>
          <a:xfrm>
            <a:off x="760000" y="2010000"/>
            <a:ext cx="1080000" cy="240000"/>
          </a:xfrm>
          <a:prstGeom prst="rect">
            <a:avLst/>
          </a:prstGeom>
          <a:noFill/>
        </p:spPr>
        <p:txBody>
          <a:bodyPr wrap="square" lIns="0" rIns="0" tIns="0" bIns="0">
            <a:spAutoFit/>
          </a:bodyPr>
          <a:lstStyle/>
          <a:p>
            <a:pPr algn="ctr">
              <a:lnSpc>
                <a:spcPct val="130000"/>
              </a:lnSpc>
            </a:pPr>
            <a:r>
              <a:rPr sz="1000" b="1" i="0">
                <a:solidFill>
                  <a:srgbClr val="1A1A1A"/>
                </a:solidFill>
                <a:latin typeface="Segoe UI"/>
              </a:rPr>
              <a:t>API de TUNI</a:t>
            </a:r>
          </a:p>
        </p:txBody>
      </p:sp>
      <p:sp>
        <p:nvSpPr>
          <p:cNvPr id="11" name="TextBox 10"/>
          <p:cNvSpPr txBox="1"/>
          <p:nvPr/>
        </p:nvSpPr>
        <p:spPr>
          <a:xfrm>
            <a:off x="760000" y="2240000"/>
            <a:ext cx="1080000" cy="360000"/>
          </a:xfrm>
          <a:prstGeom prst="rect">
            <a:avLst/>
          </a:prstGeom>
          <a:noFill/>
        </p:spPr>
        <p:txBody>
          <a:bodyPr wrap="square" lIns="0" rIns="0" tIns="0" bIns="0">
            <a:spAutoFit/>
          </a:bodyPr>
          <a:lstStyle/>
          <a:p>
            <a:pPr algn="ctr">
              <a:lnSpc>
                <a:spcPct val="110000"/>
              </a:lnSpc>
            </a:pPr>
            <a:r>
              <a:rPr sz="850" b="0" i="0">
                <a:solidFill>
                  <a:srgbClr val="6B6560"/>
                </a:solidFill>
                <a:latin typeface="Segoe UI"/>
              </a:rPr>
              <a:t>catálogo y</a:t>
            </a:r>
          </a:p>
          <a:p>
            <a:pPr algn="ctr">
              <a:lnSpc>
                <a:spcPct val="110000"/>
              </a:lnSpc>
            </a:pPr>
            <a:r>
              <a:rPr sz="850" b="0" i="0">
                <a:solidFill>
                  <a:srgbClr val="6B6560"/>
                </a:solidFill>
                <a:latin typeface="Segoe UI"/>
              </a:rPr>
              <a:t>descarga</a:t>
            </a:r>
          </a:p>
        </p:txBody>
      </p:sp>
      <p:cxnSp>
        <p:nvCxnSpPr>
          <p:cNvPr id="12" name="Connector 11"/>
          <p:cNvCxnSpPr/>
          <p:nvPr/>
        </p:nvCxnSpPr>
        <p:spPr>
          <a:xfrm>
            <a:off x="1840000" y="2280000"/>
            <a:ext cx="19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030000" y="1960000"/>
            <a:ext cx="1080000" cy="640000"/>
          </a:xfrm>
          <a:prstGeom prst="rect">
            <a:avLst/>
          </a:prstGeom>
          <a:noFill/>
          <a:ln w="9525">
            <a:solidFill>
              <a:srgbClr val="D8D2CA"/>
            </a:solidFill>
          </a:ln>
          <a:effectLst/>
        </p:spPr>
        <p:txBody>
          <a:bodyPr rtlCol="0" anchor="ctr"/>
          <a:lstStyle/>
          <a:p>
            <a:pPr algn="ctr"/>
          </a:p>
        </p:txBody>
      </p:sp>
      <p:sp>
        <p:nvSpPr>
          <p:cNvPr id="14" name="TextBox 13"/>
          <p:cNvSpPr txBox="1"/>
          <p:nvPr/>
        </p:nvSpPr>
        <p:spPr>
          <a:xfrm>
            <a:off x="2030000" y="2010000"/>
            <a:ext cx="1080000" cy="240000"/>
          </a:xfrm>
          <a:prstGeom prst="rect">
            <a:avLst/>
          </a:prstGeom>
          <a:noFill/>
        </p:spPr>
        <p:txBody>
          <a:bodyPr wrap="square" lIns="0" rIns="0" tIns="0" bIns="0">
            <a:spAutoFit/>
          </a:bodyPr>
          <a:lstStyle/>
          <a:p>
            <a:pPr algn="ctr">
              <a:lnSpc>
                <a:spcPct val="130000"/>
              </a:lnSpc>
            </a:pPr>
            <a:r>
              <a:rPr sz="1000" b="1" i="0">
                <a:solidFill>
                  <a:srgbClr val="1A1A1A"/>
                </a:solidFill>
                <a:latin typeface="Segoe UI"/>
              </a:rPr>
              <a:t>Bronze</a:t>
            </a:r>
          </a:p>
        </p:txBody>
      </p:sp>
      <p:sp>
        <p:nvSpPr>
          <p:cNvPr id="15" name="TextBox 14"/>
          <p:cNvSpPr txBox="1"/>
          <p:nvPr/>
        </p:nvSpPr>
        <p:spPr>
          <a:xfrm>
            <a:off x="2030000" y="2240000"/>
            <a:ext cx="1080000" cy="360000"/>
          </a:xfrm>
          <a:prstGeom prst="rect">
            <a:avLst/>
          </a:prstGeom>
          <a:noFill/>
        </p:spPr>
        <p:txBody>
          <a:bodyPr wrap="square" lIns="0" rIns="0" tIns="0" bIns="0">
            <a:spAutoFit/>
          </a:bodyPr>
          <a:lstStyle/>
          <a:p>
            <a:pPr algn="ctr">
              <a:lnSpc>
                <a:spcPct val="110000"/>
              </a:lnSpc>
            </a:pPr>
            <a:r>
              <a:rPr sz="850" b="0" i="0">
                <a:solidFill>
                  <a:srgbClr val="6B6560"/>
                </a:solidFill>
                <a:latin typeface="Segoe UI"/>
              </a:rPr>
              <a:t>zips intactos</a:t>
            </a:r>
          </a:p>
          <a:p>
            <a:pPr algn="ctr">
              <a:lnSpc>
                <a:spcPct val="110000"/>
              </a:lnSpc>
            </a:pPr>
            <a:r>
              <a:rPr sz="850" b="0" i="0">
                <a:solidFill>
                  <a:srgbClr val="6B6560"/>
                </a:solidFill>
                <a:latin typeface="Segoe UI"/>
              </a:rPr>
              <a:t>y sha256</a:t>
            </a:r>
          </a:p>
        </p:txBody>
      </p:sp>
      <p:cxnSp>
        <p:nvCxnSpPr>
          <p:cNvPr id="16" name="Connector 15"/>
          <p:cNvCxnSpPr/>
          <p:nvPr/>
        </p:nvCxnSpPr>
        <p:spPr>
          <a:xfrm>
            <a:off x="3110000" y="2280000"/>
            <a:ext cx="19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3300000" y="1960000"/>
            <a:ext cx="1080000" cy="640000"/>
          </a:xfrm>
          <a:prstGeom prst="rect">
            <a:avLst/>
          </a:prstGeom>
          <a:noFill/>
          <a:ln w="9525">
            <a:solidFill>
              <a:srgbClr val="D8D2CA"/>
            </a:solidFill>
          </a:ln>
          <a:effectLst/>
        </p:spPr>
        <p:txBody>
          <a:bodyPr rtlCol="0" anchor="ctr"/>
          <a:lstStyle/>
          <a:p>
            <a:pPr algn="ctr"/>
          </a:p>
        </p:txBody>
      </p:sp>
      <p:sp>
        <p:nvSpPr>
          <p:cNvPr id="18" name="TextBox 17"/>
          <p:cNvSpPr txBox="1"/>
          <p:nvPr/>
        </p:nvSpPr>
        <p:spPr>
          <a:xfrm>
            <a:off x="3300000" y="2010000"/>
            <a:ext cx="1080000" cy="240000"/>
          </a:xfrm>
          <a:prstGeom prst="rect">
            <a:avLst/>
          </a:prstGeom>
          <a:noFill/>
        </p:spPr>
        <p:txBody>
          <a:bodyPr wrap="square" lIns="0" rIns="0" tIns="0" bIns="0">
            <a:spAutoFit/>
          </a:bodyPr>
          <a:lstStyle/>
          <a:p>
            <a:pPr algn="ctr">
              <a:lnSpc>
                <a:spcPct val="130000"/>
              </a:lnSpc>
            </a:pPr>
            <a:r>
              <a:rPr sz="1000" b="1" i="0">
                <a:solidFill>
                  <a:srgbClr val="1A1A1A"/>
                </a:solidFill>
                <a:latin typeface="Segoe UI"/>
              </a:rPr>
              <a:t>Silver</a:t>
            </a:r>
          </a:p>
        </p:txBody>
      </p:sp>
      <p:sp>
        <p:nvSpPr>
          <p:cNvPr id="19" name="TextBox 18"/>
          <p:cNvSpPr txBox="1"/>
          <p:nvPr/>
        </p:nvSpPr>
        <p:spPr>
          <a:xfrm>
            <a:off x="3300000" y="2240000"/>
            <a:ext cx="1080000" cy="360000"/>
          </a:xfrm>
          <a:prstGeom prst="rect">
            <a:avLst/>
          </a:prstGeom>
          <a:noFill/>
        </p:spPr>
        <p:txBody>
          <a:bodyPr wrap="square" lIns="0" rIns="0" tIns="0" bIns="0">
            <a:spAutoFit/>
          </a:bodyPr>
          <a:lstStyle/>
          <a:p>
            <a:pPr algn="ctr">
              <a:lnSpc>
                <a:spcPct val="110000"/>
              </a:lnSpc>
            </a:pPr>
            <a:r>
              <a:rPr sz="850" b="0" i="0">
                <a:solidFill>
                  <a:srgbClr val="6B6560"/>
                </a:solidFill>
                <a:latin typeface="Segoe UI"/>
              </a:rPr>
              <a:t>tipado y</a:t>
            </a:r>
          </a:p>
          <a:p>
            <a:pPr algn="ctr">
              <a:lnSpc>
                <a:spcPct val="110000"/>
              </a:lnSpc>
            </a:pPr>
            <a:r>
              <a:rPr sz="850" b="0" i="0">
                <a:solidFill>
                  <a:srgbClr val="6B6560"/>
                </a:solidFill>
                <a:latin typeface="Segoe UI"/>
              </a:rPr>
              <a:t>normalizado</a:t>
            </a:r>
          </a:p>
        </p:txBody>
      </p:sp>
      <p:cxnSp>
        <p:nvCxnSpPr>
          <p:cNvPr id="20" name="Connector 19"/>
          <p:cNvCxnSpPr/>
          <p:nvPr/>
        </p:nvCxnSpPr>
        <p:spPr>
          <a:xfrm>
            <a:off x="4380000" y="2280000"/>
            <a:ext cx="19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570000" y="1960000"/>
            <a:ext cx="1080000" cy="640000"/>
          </a:xfrm>
          <a:prstGeom prst="rect">
            <a:avLst/>
          </a:prstGeom>
          <a:noFill/>
          <a:ln w="9525">
            <a:solidFill>
              <a:srgbClr val="D8D2CA"/>
            </a:solidFill>
          </a:ln>
          <a:effectLst/>
        </p:spPr>
        <p:txBody>
          <a:bodyPr rtlCol="0" anchor="ctr"/>
          <a:lstStyle/>
          <a:p>
            <a:pPr algn="ctr"/>
          </a:p>
        </p:txBody>
      </p:sp>
      <p:sp>
        <p:nvSpPr>
          <p:cNvPr id="22" name="TextBox 21"/>
          <p:cNvSpPr txBox="1"/>
          <p:nvPr/>
        </p:nvSpPr>
        <p:spPr>
          <a:xfrm>
            <a:off x="4570000" y="2010000"/>
            <a:ext cx="1080000" cy="240000"/>
          </a:xfrm>
          <a:prstGeom prst="rect">
            <a:avLst/>
          </a:prstGeom>
          <a:noFill/>
        </p:spPr>
        <p:txBody>
          <a:bodyPr wrap="square" lIns="0" rIns="0" tIns="0" bIns="0">
            <a:spAutoFit/>
          </a:bodyPr>
          <a:lstStyle/>
          <a:p>
            <a:pPr algn="ctr">
              <a:lnSpc>
                <a:spcPct val="130000"/>
              </a:lnSpc>
            </a:pPr>
            <a:r>
              <a:rPr sz="1000" b="1" i="0">
                <a:solidFill>
                  <a:srgbClr val="1A1A1A"/>
                </a:solidFill>
                <a:latin typeface="Segoe UI"/>
              </a:rPr>
              <a:t>Gold</a:t>
            </a:r>
          </a:p>
        </p:txBody>
      </p:sp>
      <p:sp>
        <p:nvSpPr>
          <p:cNvPr id="23" name="TextBox 22"/>
          <p:cNvSpPr txBox="1"/>
          <p:nvPr/>
        </p:nvSpPr>
        <p:spPr>
          <a:xfrm>
            <a:off x="4570000" y="2240000"/>
            <a:ext cx="1080000" cy="360000"/>
          </a:xfrm>
          <a:prstGeom prst="rect">
            <a:avLst/>
          </a:prstGeom>
          <a:noFill/>
        </p:spPr>
        <p:txBody>
          <a:bodyPr wrap="square" lIns="0" rIns="0" tIns="0" bIns="0">
            <a:spAutoFit/>
          </a:bodyPr>
          <a:lstStyle/>
          <a:p>
            <a:pPr algn="ctr">
              <a:lnSpc>
                <a:spcPct val="110000"/>
              </a:lnSpc>
            </a:pPr>
            <a:r>
              <a:rPr sz="850" b="0" i="0">
                <a:solidFill>
                  <a:srgbClr val="6B6560"/>
                </a:solidFill>
                <a:latin typeface="Segoe UI"/>
              </a:rPr>
              <a:t>estrella</a:t>
            </a:r>
          </a:p>
          <a:p>
            <a:pPr algn="ctr">
              <a:lnSpc>
                <a:spcPct val="110000"/>
              </a:lnSpc>
            </a:pPr>
            <a:r>
              <a:rPr sz="850" b="0" i="0">
                <a:solidFill>
                  <a:srgbClr val="6B6560"/>
                </a:solidFill>
                <a:latin typeface="Segoe UI"/>
              </a:rPr>
              <a:t>agregada</a:t>
            </a:r>
          </a:p>
        </p:txBody>
      </p:sp>
      <p:cxnSp>
        <p:nvCxnSpPr>
          <p:cNvPr id="24" name="Connector 23"/>
          <p:cNvCxnSpPr/>
          <p:nvPr/>
        </p:nvCxnSpPr>
        <p:spPr>
          <a:xfrm>
            <a:off x="5650000" y="2280000"/>
            <a:ext cx="19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840000" y="1960000"/>
            <a:ext cx="1080000" cy="640000"/>
          </a:xfrm>
          <a:prstGeom prst="rect">
            <a:avLst/>
          </a:prstGeom>
          <a:noFill/>
          <a:ln w="9525">
            <a:solidFill>
              <a:srgbClr val="D8D2CA"/>
            </a:solidFill>
          </a:ln>
          <a:effectLst/>
        </p:spPr>
        <p:txBody>
          <a:bodyPr rtlCol="0" anchor="ctr"/>
          <a:lstStyle/>
          <a:p>
            <a:pPr algn="ctr"/>
          </a:p>
        </p:txBody>
      </p:sp>
      <p:sp>
        <p:nvSpPr>
          <p:cNvPr id="26" name="TextBox 25"/>
          <p:cNvSpPr txBox="1"/>
          <p:nvPr/>
        </p:nvSpPr>
        <p:spPr>
          <a:xfrm>
            <a:off x="5840000" y="2010000"/>
            <a:ext cx="1080000" cy="240000"/>
          </a:xfrm>
          <a:prstGeom prst="rect">
            <a:avLst/>
          </a:prstGeom>
          <a:noFill/>
        </p:spPr>
        <p:txBody>
          <a:bodyPr wrap="square" lIns="0" rIns="0" tIns="0" bIns="0">
            <a:spAutoFit/>
          </a:bodyPr>
          <a:lstStyle/>
          <a:p>
            <a:pPr algn="ctr">
              <a:lnSpc>
                <a:spcPct val="130000"/>
              </a:lnSpc>
            </a:pPr>
            <a:r>
              <a:rPr sz="1000" b="1" i="0">
                <a:solidFill>
                  <a:srgbClr val="1A1A1A"/>
                </a:solidFill>
                <a:latin typeface="Segoe UI"/>
              </a:rPr>
              <a:t>Power BI</a:t>
            </a:r>
          </a:p>
        </p:txBody>
      </p:sp>
      <p:sp>
        <p:nvSpPr>
          <p:cNvPr id="27" name="TextBox 26"/>
          <p:cNvSpPr txBox="1"/>
          <p:nvPr/>
        </p:nvSpPr>
        <p:spPr>
          <a:xfrm>
            <a:off x="5840000" y="2240000"/>
            <a:ext cx="1080000" cy="360000"/>
          </a:xfrm>
          <a:prstGeom prst="rect">
            <a:avLst/>
          </a:prstGeom>
          <a:noFill/>
        </p:spPr>
        <p:txBody>
          <a:bodyPr wrap="square" lIns="0" rIns="0" tIns="0" bIns="0">
            <a:spAutoFit/>
          </a:bodyPr>
          <a:lstStyle/>
          <a:p>
            <a:pPr algn="ctr">
              <a:lnSpc>
                <a:spcPct val="110000"/>
              </a:lnSpc>
            </a:pPr>
            <a:r>
              <a:rPr sz="850" b="0" i="0">
                <a:solidFill>
                  <a:srgbClr val="6B6560"/>
                </a:solidFill>
                <a:latin typeface="Segoe UI"/>
              </a:rPr>
              <a:t>modelo</a:t>
            </a:r>
          </a:p>
          <a:p>
            <a:pPr algn="ctr">
              <a:lnSpc>
                <a:spcPct val="110000"/>
              </a:lnSpc>
            </a:pPr>
            <a:r>
              <a:rPr sz="850" b="0" i="0">
                <a:solidFill>
                  <a:srgbClr val="6B6560"/>
                </a:solidFill>
                <a:latin typeface="Segoe UI"/>
              </a:rPr>
              <a:t>semántico</a:t>
            </a:r>
          </a:p>
        </p:txBody>
      </p:sp>
      <p:sp>
        <p:nvSpPr>
          <p:cNvPr id="28" name="TextBox 27"/>
          <p:cNvSpPr txBox="1"/>
          <p:nvPr/>
        </p:nvSpPr>
        <p:spPr>
          <a:xfrm>
            <a:off x="760000" y="2840000"/>
            <a:ext cx="150000" cy="240000"/>
          </a:xfrm>
          <a:prstGeom prst="rect">
            <a:avLst/>
          </a:prstGeom>
          <a:noFill/>
        </p:spPr>
        <p:txBody>
          <a:bodyPr wrap="square" lIns="0" rIns="0" tIns="0" bIns="0">
            <a:spAutoFit/>
          </a:bodyPr>
          <a:lstStyle/>
          <a:p>
            <a:pPr algn="l">
              <a:lnSpc>
                <a:spcPct val="130000"/>
              </a:lnSpc>
            </a:pPr>
            <a:r>
              <a:rPr sz="950" b="0" i="0">
                <a:solidFill>
                  <a:srgbClr val="A8452F"/>
                </a:solidFill>
                <a:latin typeface="Segoe UI"/>
              </a:rPr>
              <a:t>—</a:t>
            </a:r>
          </a:p>
        </p:txBody>
      </p:sp>
      <p:sp>
        <p:nvSpPr>
          <p:cNvPr id="29" name="TextBox 28"/>
          <p:cNvSpPr txBox="1"/>
          <p:nvPr/>
        </p:nvSpPr>
        <p:spPr>
          <a:xfrm>
            <a:off x="980000" y="2840000"/>
            <a:ext cx="6030000" cy="67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Descarga por API: tuni.pe es una SPA sin enlaces de archivo. Se reprodujo su cadena de 5 llamadas: 56 archivos y 1 270 MB, con sha256 en un manifiesto.</a:t>
            </a:r>
          </a:p>
        </p:txBody>
      </p:sp>
      <p:sp>
        <p:nvSpPr>
          <p:cNvPr id="30" name="TextBox 29"/>
          <p:cNvSpPr txBox="1"/>
          <p:nvPr/>
        </p:nvSpPr>
        <p:spPr>
          <a:xfrm>
            <a:off x="760000" y="3510000"/>
            <a:ext cx="150000" cy="240000"/>
          </a:xfrm>
          <a:prstGeom prst="rect">
            <a:avLst/>
          </a:prstGeom>
          <a:noFill/>
        </p:spPr>
        <p:txBody>
          <a:bodyPr wrap="square" lIns="0" rIns="0" tIns="0" bIns="0">
            <a:spAutoFit/>
          </a:bodyPr>
          <a:lstStyle/>
          <a:p>
            <a:pPr algn="l">
              <a:lnSpc>
                <a:spcPct val="130000"/>
              </a:lnSpc>
            </a:pPr>
            <a:r>
              <a:rPr sz="950" b="0" i="0">
                <a:solidFill>
                  <a:srgbClr val="A8452F"/>
                </a:solidFill>
                <a:latin typeface="Segoe UI"/>
              </a:rPr>
              <a:t>—</a:t>
            </a:r>
          </a:p>
        </p:txBody>
      </p:sp>
      <p:sp>
        <p:nvSpPr>
          <p:cNvPr id="31" name="TextBox 30"/>
          <p:cNvSpPr txBox="1"/>
          <p:nvPr/>
        </p:nvSpPr>
        <p:spPr>
          <a:xfrm>
            <a:off x="980000" y="3510000"/>
            <a:ext cx="6030000" cy="67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Toda la lógica en SQL por capas (24 archivos .sql sobre DuckDB). Python solo orquesta, y por eso silver y gold corren igual en Spark.</a:t>
            </a:r>
          </a:p>
        </p:txBody>
      </p:sp>
      <p:sp>
        <p:nvSpPr>
          <p:cNvPr id="32" name="TextBox 31"/>
          <p:cNvSpPr txBox="1"/>
          <p:nvPr/>
        </p:nvSpPr>
        <p:spPr>
          <a:xfrm>
            <a:off x="760000" y="4180000"/>
            <a:ext cx="150000" cy="240000"/>
          </a:xfrm>
          <a:prstGeom prst="rect">
            <a:avLst/>
          </a:prstGeom>
          <a:noFill/>
        </p:spPr>
        <p:txBody>
          <a:bodyPr wrap="square" lIns="0" rIns="0" tIns="0" bIns="0">
            <a:spAutoFit/>
          </a:bodyPr>
          <a:lstStyle/>
          <a:p>
            <a:pPr algn="l">
              <a:lnSpc>
                <a:spcPct val="130000"/>
              </a:lnSpc>
            </a:pPr>
            <a:r>
              <a:rPr sz="950" b="0" i="0">
                <a:solidFill>
                  <a:srgbClr val="A8452F"/>
                </a:solidFill>
                <a:latin typeface="Segoe UI"/>
              </a:rPr>
              <a:t>—</a:t>
            </a:r>
          </a:p>
        </p:txBody>
      </p:sp>
      <p:sp>
        <p:nvSpPr>
          <p:cNvPr id="33" name="TextBox 32"/>
          <p:cNvSpPr txBox="1"/>
          <p:nvPr/>
        </p:nvSpPr>
        <p:spPr>
          <a:xfrm>
            <a:off x="980000" y="4180000"/>
            <a:ext cx="6030000" cy="67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Consolidación: 12 semestres de matrícula, 6 años de ingresantes y 4 de postulantes en una tabla por fuente, con los nombres de columna unificados.</a:t>
            </a:r>
          </a:p>
        </p:txBody>
      </p:sp>
      <p:sp>
        <p:nvSpPr>
          <p:cNvPr id="34" name="TextBox 33"/>
          <p:cNvSpPr txBox="1"/>
          <p:nvPr/>
        </p:nvSpPr>
        <p:spPr>
          <a:xfrm>
            <a:off x="760000" y="4850000"/>
            <a:ext cx="150000" cy="240000"/>
          </a:xfrm>
          <a:prstGeom prst="rect">
            <a:avLst/>
          </a:prstGeom>
          <a:noFill/>
        </p:spPr>
        <p:txBody>
          <a:bodyPr wrap="square" lIns="0" rIns="0" tIns="0" bIns="0">
            <a:spAutoFit/>
          </a:bodyPr>
          <a:lstStyle/>
          <a:p>
            <a:pPr algn="l">
              <a:lnSpc>
                <a:spcPct val="130000"/>
              </a:lnSpc>
            </a:pPr>
            <a:r>
              <a:rPr sz="950" b="0" i="0">
                <a:solidFill>
                  <a:srgbClr val="A8452F"/>
                </a:solidFill>
                <a:latin typeface="Segoe UI"/>
              </a:rPr>
              <a:t>—</a:t>
            </a:r>
          </a:p>
        </p:txBody>
      </p:sp>
      <p:sp>
        <p:nvSpPr>
          <p:cNvPr id="35" name="TextBox 34"/>
          <p:cNvSpPr txBox="1"/>
          <p:nvPr/>
        </p:nvSpPr>
        <p:spPr>
          <a:xfrm>
            <a:off x="980000" y="4850000"/>
            <a:ext cx="6030000" cy="67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Estandarización: universidad por código INEI, programa por INEI + código SIU (el SIU se repite entre universidades) y geografía normalizada sin tildes ni espacios.</a:t>
            </a:r>
          </a:p>
        </p:txBody>
      </p:sp>
      <p:sp>
        <p:nvSpPr>
          <p:cNvPr id="36" name="TextBox 35"/>
          <p:cNvSpPr txBox="1"/>
          <p:nvPr/>
        </p:nvSpPr>
        <p:spPr>
          <a:xfrm>
            <a:off x="760000" y="5520000"/>
            <a:ext cx="150000" cy="240000"/>
          </a:xfrm>
          <a:prstGeom prst="rect">
            <a:avLst/>
          </a:prstGeom>
          <a:noFill/>
        </p:spPr>
        <p:txBody>
          <a:bodyPr wrap="square" lIns="0" rIns="0" tIns="0" bIns="0">
            <a:spAutoFit/>
          </a:bodyPr>
          <a:lstStyle/>
          <a:p>
            <a:pPr algn="l">
              <a:lnSpc>
                <a:spcPct val="130000"/>
              </a:lnSpc>
            </a:pPr>
            <a:r>
              <a:rPr sz="950" b="0" i="0">
                <a:solidFill>
                  <a:srgbClr val="A8452F"/>
                </a:solidFill>
                <a:latin typeface="Segoe UI"/>
              </a:rPr>
              <a:t>—</a:t>
            </a:r>
          </a:p>
        </p:txBody>
      </p:sp>
      <p:sp>
        <p:nvSpPr>
          <p:cNvPr id="37" name="TextBox 36"/>
          <p:cNvSpPr txBox="1"/>
          <p:nvPr/>
        </p:nvSpPr>
        <p:spPr>
          <a:xfrm>
            <a:off x="980000" y="5520000"/>
            <a:ext cx="6030000" cy="67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Reproducible: 23 min 13 s desde una carpeta vacía. Una segunda corrida da 13 de 13 parquets idénticos byte a byte.</a:t>
            </a:r>
          </a:p>
        </p:txBody>
      </p:sp>
      <p:sp>
        <p:nvSpPr>
          <p:cNvPr id="38" name="Rectangle 37"/>
          <p:cNvSpPr/>
          <p:nvPr/>
        </p:nvSpPr>
        <p:spPr>
          <a:xfrm>
            <a:off x="7300000" y="1900000"/>
            <a:ext cx="4130000" cy="4300000"/>
          </a:xfrm>
          <a:prstGeom prst="rect">
            <a:avLst/>
          </a:prstGeom>
          <a:noFill/>
          <a:ln w="9525">
            <a:solidFill>
              <a:srgbClr val="D8D2CA"/>
            </a:solidFill>
          </a:ln>
          <a:effectLst/>
        </p:spPr>
        <p:txBody>
          <a:bodyPr rtlCol="0" anchor="ctr"/>
          <a:lstStyle/>
          <a:p>
            <a:pPr algn="ctr"/>
          </a:p>
        </p:txBody>
      </p:sp>
      <p:sp>
        <p:nvSpPr>
          <p:cNvPr id="39" name="TextBox 38"/>
          <p:cNvSpPr txBox="1"/>
          <p:nvPr/>
        </p:nvSpPr>
        <p:spPr>
          <a:xfrm>
            <a:off x="7480000" y="2040000"/>
            <a:ext cx="4130000" cy="250000"/>
          </a:xfrm>
          <a:prstGeom prst="rect">
            <a:avLst/>
          </a:prstGeom>
          <a:noFill/>
        </p:spPr>
        <p:txBody>
          <a:bodyPr wrap="square" lIns="0" rIns="0" tIns="0" bIns="0">
            <a:spAutoFit/>
          </a:bodyPr>
          <a:lstStyle/>
          <a:p>
            <a:pPr algn="l">
              <a:lnSpc>
                <a:spcPct val="130000"/>
              </a:lnSpc>
            </a:pPr>
            <a:r>
              <a:rPr sz="950" b="1" i="0">
                <a:solidFill>
                  <a:srgbClr val="3D6B4A"/>
                </a:solidFill>
                <a:latin typeface="Segoe UI"/>
              </a:rPr>
              <a:t>CÓMO SE CUMPLE EL CRITERIO</a:t>
            </a:r>
          </a:p>
        </p:txBody>
      </p:sp>
      <p:sp>
        <p:nvSpPr>
          <p:cNvPr id="40" name="TextBox 39"/>
          <p:cNvSpPr txBox="1"/>
          <p:nvPr/>
        </p:nvSpPr>
        <p:spPr>
          <a:xfrm>
            <a:off x="7480000" y="2320000"/>
            <a:ext cx="2930000" cy="520000"/>
          </a:xfrm>
          <a:prstGeom prst="rect">
            <a:avLst/>
          </a:prstGeom>
          <a:noFill/>
        </p:spPr>
        <p:txBody>
          <a:bodyPr wrap="square" lIns="0" rIns="0" tIns="0" bIns="0">
            <a:spAutoFit/>
          </a:bodyPr>
          <a:lstStyle/>
          <a:p>
            <a:pPr algn="l">
              <a:lnSpc>
                <a:spcPct val="110000"/>
              </a:lnSpc>
            </a:pPr>
            <a:r>
              <a:rPr sz="1300" b="0" i="0">
                <a:solidFill>
                  <a:srgbClr val="1A1A1A"/>
                </a:solidFill>
                <a:latin typeface="Georgia"/>
              </a:rPr>
              <a:t>Ingesta y transformación</a:t>
            </a:r>
          </a:p>
        </p:txBody>
      </p:sp>
      <p:sp>
        <p:nvSpPr>
          <p:cNvPr id="41" name="TextBox 40"/>
          <p:cNvSpPr txBox="1"/>
          <p:nvPr/>
        </p:nvSpPr>
        <p:spPr>
          <a:xfrm>
            <a:off x="10430000" y="2280000"/>
            <a:ext cx="830000" cy="420000"/>
          </a:xfrm>
          <a:prstGeom prst="rect">
            <a:avLst/>
          </a:prstGeom>
          <a:noFill/>
        </p:spPr>
        <p:txBody>
          <a:bodyPr wrap="square" lIns="0" rIns="0" tIns="0" bIns="0">
            <a:spAutoFit/>
          </a:bodyPr>
          <a:lstStyle/>
          <a:p>
            <a:pPr algn="r">
              <a:lnSpc>
                <a:spcPct val="130000"/>
              </a:lnSpc>
            </a:pPr>
            <a:r>
              <a:rPr sz="2000" b="0" i="0">
                <a:solidFill>
                  <a:srgbClr val="A8452F"/>
                </a:solidFill>
                <a:latin typeface="Georgia"/>
              </a:rPr>
              <a:t>20 %</a:t>
            </a:r>
          </a:p>
        </p:txBody>
      </p:sp>
      <p:cxnSp>
        <p:nvCxnSpPr>
          <p:cNvPr id="42" name="Connector 41"/>
          <p:cNvCxnSpPr/>
          <p:nvPr/>
        </p:nvCxnSpPr>
        <p:spPr>
          <a:xfrm>
            <a:off x="7480000" y="292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480000" y="298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44" name="TextBox 43"/>
          <p:cNvSpPr txBox="1"/>
          <p:nvPr/>
        </p:nvSpPr>
        <p:spPr>
          <a:xfrm>
            <a:off x="7720000" y="298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Reproducibilidad del proceso</a:t>
            </a:r>
          </a:p>
        </p:txBody>
      </p:sp>
      <p:sp>
        <p:nvSpPr>
          <p:cNvPr id="45" name="TextBox 44"/>
          <p:cNvSpPr txBox="1"/>
          <p:nvPr/>
        </p:nvSpPr>
        <p:spPr>
          <a:xfrm>
            <a:off x="7720000" y="324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python run_all.py, exit 0 desde cero. Idempotente: el sha256 evita volver a descargar y la etapa 01 baja de 225 s a 2 s.</a:t>
            </a:r>
          </a:p>
        </p:txBody>
      </p:sp>
      <p:cxnSp>
        <p:nvCxnSpPr>
          <p:cNvPr id="46" name="Connector 45"/>
          <p:cNvCxnSpPr/>
          <p:nvPr/>
        </p:nvCxnSpPr>
        <p:spPr>
          <a:xfrm>
            <a:off x="7480000" y="396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480000" y="402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48" name="TextBox 47"/>
          <p:cNvSpPr txBox="1"/>
          <p:nvPr/>
        </p:nvSpPr>
        <p:spPr>
          <a:xfrm>
            <a:off x="7720000" y="402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Uso de Python y SQL</a:t>
            </a:r>
          </a:p>
        </p:txBody>
      </p:sp>
      <p:sp>
        <p:nvSpPr>
          <p:cNvPr id="49" name="TextBox 48"/>
          <p:cNvSpPr txBox="1"/>
          <p:nvPr/>
        </p:nvSpPr>
        <p:spPr>
          <a:xfrm>
            <a:off x="7720000" y="428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24 archivos .sql con toda la transformación y las comprobaciones; validar_sql.py valida todo el SQL en 3 s.</a:t>
            </a:r>
          </a:p>
        </p:txBody>
      </p:sp>
      <p:cxnSp>
        <p:nvCxnSpPr>
          <p:cNvPr id="50" name="Connector 49"/>
          <p:cNvCxnSpPr/>
          <p:nvPr/>
        </p:nvCxnSpPr>
        <p:spPr>
          <a:xfrm>
            <a:off x="7480000" y="500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80000" y="506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52" name="TextBox 51"/>
          <p:cNvSpPr txBox="1"/>
          <p:nvPr/>
        </p:nvSpPr>
        <p:spPr>
          <a:xfrm>
            <a:off x="7720000" y="506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Múltiples periodos y fuentes</a:t>
            </a:r>
          </a:p>
        </p:txBody>
      </p:sp>
      <p:sp>
        <p:nvSpPr>
          <p:cNvPr id="53" name="TextBox 52"/>
          <p:cNvSpPr txBox="1"/>
          <p:nvPr/>
        </p:nvSpPr>
        <p:spPr>
          <a:xfrm>
            <a:off x="7720000" y="532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2020–2025, los 9 datasets del catálogo ingestados y 7 integrados en silver, cada uno con su motivo declarado.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430000"/>
            <a:ext cx="10672000" cy="260000"/>
          </a:xfrm>
          <a:prstGeom prst="rect">
            <a:avLst/>
          </a:prstGeom>
          <a:noFill/>
        </p:spPr>
        <p:txBody>
          <a:bodyPr wrap="square" lIns="0" rIns="0" tIns="0" bIns="0">
            <a:spAutoFit/>
          </a:bodyPr>
          <a:lstStyle/>
          <a:p>
            <a:pPr algn="l">
              <a:lnSpc>
                <a:spcPct val="130000"/>
              </a:lnSpc>
            </a:pPr>
            <a:r>
              <a:rPr sz="1000" b="0" i="0">
                <a:solidFill>
                  <a:srgbClr val="A8452F"/>
                </a:solidFill>
                <a:latin typeface="Segoe UI"/>
              </a:rPr>
              <a:t>3.2 · Calidad e integración de datos</a:t>
            </a:r>
          </a:p>
        </p:txBody>
      </p:sp>
      <p:sp>
        <p:nvSpPr>
          <p:cNvPr id="3" name="TextBox 2"/>
          <p:cNvSpPr txBox="1"/>
          <p:nvPr/>
        </p:nvSpPr>
        <p:spPr>
          <a:xfrm>
            <a:off x="760000" y="700000"/>
            <a:ext cx="10600000" cy="520000"/>
          </a:xfrm>
          <a:prstGeom prst="rect">
            <a:avLst/>
          </a:prstGeom>
          <a:noFill/>
        </p:spPr>
        <p:txBody>
          <a:bodyPr wrap="square" lIns="0" rIns="0" tIns="0" bIns="0">
            <a:spAutoFit/>
          </a:bodyPr>
          <a:lstStyle/>
          <a:p>
            <a:pPr algn="l">
              <a:lnSpc>
                <a:spcPct val="130000"/>
              </a:lnSpc>
            </a:pPr>
            <a:r>
              <a:rPr sz="2300" b="0" i="0">
                <a:solidFill>
                  <a:srgbClr val="1A1A1A"/>
                </a:solidFill>
                <a:latin typeface="Georgia"/>
              </a:rPr>
              <a:t>Tres controles principales, cada uno nacido de un problema de la fuente</a:t>
            </a:r>
          </a:p>
        </p:txBody>
      </p:sp>
      <p:sp>
        <p:nvSpPr>
          <p:cNvPr id="4" name="TextBox 3"/>
          <p:cNvSpPr txBox="1"/>
          <p:nvPr/>
        </p:nvSpPr>
        <p:spPr>
          <a:xfrm>
            <a:off x="760000" y="1210000"/>
            <a:ext cx="10400000" cy="560000"/>
          </a:xfrm>
          <a:prstGeom prst="rect">
            <a:avLst/>
          </a:prstGeom>
          <a:noFill/>
        </p:spPr>
        <p:txBody>
          <a:bodyPr wrap="square" lIns="0" rIns="0" tIns="0" bIns="0">
            <a:spAutoFit/>
          </a:bodyPr>
          <a:lstStyle/>
          <a:p>
            <a:pPr algn="l">
              <a:lnSpc>
                <a:spcPct val="130000"/>
              </a:lnSpc>
            </a:pPr>
            <a:r>
              <a:rPr sz="1100" b="0" i="0">
                <a:solidFill>
                  <a:srgbClr val="6B6560"/>
                </a:solidFill>
                <a:latin typeface="Segoe UI"/>
              </a:rPr>
              <a:t>Se piden al menos tres controles con resultados, y documentar las claves de integración, las diferencias de nombres y códigos y lo que quedó fuera.</a:t>
            </a:r>
          </a:p>
        </p:txBody>
      </p:sp>
      <p:cxnSp>
        <p:nvCxnSpPr>
          <p:cNvPr id="5" name="Connector 4"/>
          <p:cNvCxnSpPr/>
          <p:nvPr/>
        </p:nvCxnSpPr>
        <p:spPr>
          <a:xfrm>
            <a:off x="760000" y="181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sql/calidad.sql · salidas/calidad/qc_resultados.csv · docs/controles_calidad.md</a:t>
            </a:r>
          </a:p>
        </p:txBody>
      </p:sp>
      <p:sp>
        <p:nvSpPr>
          <p:cNvPr id="8" name="TextBox 7"/>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3 / 13</a:t>
            </a:r>
          </a:p>
        </p:txBody>
      </p:sp>
      <p:cxnSp>
        <p:nvCxnSpPr>
          <p:cNvPr id="9" name="Connector 8"/>
          <p:cNvCxnSpPr/>
          <p:nvPr/>
        </p:nvCxnSpPr>
        <p:spPr>
          <a:xfrm>
            <a:off x="760000" y="1960000"/>
            <a:ext cx="6250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0000" y="2070000"/>
            <a:ext cx="1769722" cy="40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Control</a:t>
            </a:r>
          </a:p>
        </p:txBody>
      </p:sp>
      <p:sp>
        <p:nvSpPr>
          <p:cNvPr id="11" name="TextBox 10"/>
          <p:cNvSpPr txBox="1"/>
          <p:nvPr/>
        </p:nvSpPr>
        <p:spPr>
          <a:xfrm>
            <a:off x="2739722" y="2070000"/>
            <a:ext cx="2550972" cy="40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Problema de la fuente</a:t>
            </a:r>
          </a:p>
        </p:txBody>
      </p:sp>
      <p:sp>
        <p:nvSpPr>
          <p:cNvPr id="12" name="TextBox 11"/>
          <p:cNvSpPr txBox="1"/>
          <p:nvPr/>
        </p:nvSpPr>
        <p:spPr>
          <a:xfrm>
            <a:off x="5430694" y="2070000"/>
            <a:ext cx="1509305" cy="40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Resultado</a:t>
            </a:r>
          </a:p>
        </p:txBody>
      </p:sp>
      <p:cxnSp>
        <p:nvCxnSpPr>
          <p:cNvPr id="13" name="Connector 12"/>
          <p:cNvCxnSpPr/>
          <p:nvPr/>
        </p:nvCxnSpPr>
        <p:spPr>
          <a:xfrm>
            <a:off x="760000" y="2450000"/>
            <a:ext cx="625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30000" y="2550000"/>
            <a:ext cx="1769722" cy="4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Nada se pierde entre capas</a:t>
            </a:r>
          </a:p>
        </p:txBody>
      </p:sp>
      <p:sp>
        <p:nvSpPr>
          <p:cNvPr id="15" name="TextBox 14"/>
          <p:cNvSpPr txBox="1"/>
          <p:nvPr/>
        </p:nvSpPr>
        <p:spPr>
          <a:xfrm>
            <a:off x="2739722" y="2550000"/>
            <a:ext cx="2550972" cy="4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2 filas con una comilla abortaban un archivo de 327 475</a:t>
            </a:r>
          </a:p>
        </p:txBody>
      </p:sp>
      <p:sp>
        <p:nvSpPr>
          <p:cNvPr id="16" name="TextBox 15"/>
          <p:cNvSpPr txBox="1"/>
          <p:nvPr/>
        </p:nvSpPr>
        <p:spPr>
          <a:xfrm>
            <a:off x="5430694" y="2550000"/>
            <a:ext cx="1509305" cy="4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0 diferencias en 44 archivos</a:t>
            </a:r>
          </a:p>
        </p:txBody>
      </p:sp>
      <p:sp>
        <p:nvSpPr>
          <p:cNvPr id="17" name="TextBox 16"/>
          <p:cNvSpPr txBox="1"/>
          <p:nvPr/>
        </p:nvSpPr>
        <p:spPr>
          <a:xfrm>
            <a:off x="830000" y="2950000"/>
            <a:ext cx="1769722" cy="4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Las llaves identifican lo que dicen</a:t>
            </a:r>
          </a:p>
        </p:txBody>
      </p:sp>
      <p:sp>
        <p:nvSpPr>
          <p:cNvPr id="18" name="TextBox 17"/>
          <p:cNvSpPr txBox="1"/>
          <p:nvPr/>
        </p:nvSpPr>
        <p:spPr>
          <a:xfrm>
            <a:off x="2739722" y="2950000"/>
            <a:ext cx="2550972" cy="4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Código SIU repetido entre universidades; periodos 3 y 4</a:t>
            </a:r>
          </a:p>
        </p:txBody>
      </p:sp>
      <p:sp>
        <p:nvSpPr>
          <p:cNvPr id="19" name="TextBox 18"/>
          <p:cNvSpPr txBox="1"/>
          <p:nvPr/>
        </p:nvSpPr>
        <p:spPr>
          <a:xfrm>
            <a:off x="5430694" y="2950000"/>
            <a:ext cx="1509305" cy="4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0 huérfanos en 17 pruebas</a:t>
            </a:r>
          </a:p>
        </p:txBody>
      </p:sp>
      <p:sp>
        <p:nvSpPr>
          <p:cNvPr id="20" name="TextBox 19"/>
          <p:cNvSpPr txBox="1"/>
          <p:nvPr/>
        </p:nvSpPr>
        <p:spPr>
          <a:xfrm>
            <a:off x="830000" y="3350000"/>
            <a:ext cx="1769722" cy="4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Cada fuente cubre lo que dice</a:t>
            </a:r>
          </a:p>
        </p:txBody>
      </p:sp>
      <p:sp>
        <p:nvSpPr>
          <p:cNvPr id="21" name="TextBox 20"/>
          <p:cNvSpPr txBox="1"/>
          <p:nvPr/>
        </p:nvSpPr>
        <p:spPr>
          <a:xfrm>
            <a:off x="2739722" y="3350000"/>
            <a:ext cx="2550972" cy="4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Periodos publicados a medias; universidades que no reportan</a:t>
            </a:r>
          </a:p>
        </p:txBody>
      </p:sp>
      <p:sp>
        <p:nvSpPr>
          <p:cNvPr id="22" name="TextBox 21"/>
          <p:cNvSpPr txBox="1"/>
          <p:nvPr/>
        </p:nvSpPr>
        <p:spPr>
          <a:xfrm>
            <a:off x="5430694" y="3350000"/>
            <a:ext cx="1509305" cy="4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egresado 2025-II al 55 %</a:t>
            </a:r>
          </a:p>
        </p:txBody>
      </p:sp>
      <p:cxnSp>
        <p:nvCxnSpPr>
          <p:cNvPr id="23" name="Connector 22"/>
          <p:cNvCxnSpPr/>
          <p:nvPr/>
        </p:nvCxnSpPr>
        <p:spPr>
          <a:xfrm>
            <a:off x="760000" y="3740000"/>
            <a:ext cx="6250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60000" y="3900000"/>
            <a:ext cx="6250000" cy="250000"/>
          </a:xfrm>
          <a:prstGeom prst="rect">
            <a:avLst/>
          </a:prstGeom>
          <a:noFill/>
        </p:spPr>
        <p:txBody>
          <a:bodyPr wrap="square" lIns="0" rIns="0" tIns="0" bIns="0">
            <a:spAutoFit/>
          </a:bodyPr>
          <a:lstStyle/>
          <a:p>
            <a:pPr algn="l">
              <a:lnSpc>
                <a:spcPct val="130000"/>
              </a:lnSpc>
            </a:pPr>
            <a:r>
              <a:rPr sz="950" b="1" i="0">
                <a:solidFill>
                  <a:srgbClr val="A8452F"/>
                </a:solidFill>
                <a:latin typeface="Segoe UI"/>
              </a:rPr>
              <a:t>INTEGRACIÓN DE INGRESANTES Y MATRICULADOS</a:t>
            </a:r>
          </a:p>
        </p:txBody>
      </p:sp>
      <p:sp>
        <p:nvSpPr>
          <p:cNvPr id="25" name="TextBox 24"/>
          <p:cNvSpPr txBox="1"/>
          <p:nvPr/>
        </p:nvSpPr>
        <p:spPr>
          <a:xfrm>
            <a:off x="760000" y="4180000"/>
            <a:ext cx="150000" cy="240000"/>
          </a:xfrm>
          <a:prstGeom prst="rect">
            <a:avLst/>
          </a:prstGeom>
          <a:noFill/>
        </p:spPr>
        <p:txBody>
          <a:bodyPr wrap="square" lIns="0" rIns="0" tIns="0" bIns="0">
            <a:spAutoFit/>
          </a:bodyPr>
          <a:lstStyle/>
          <a:p>
            <a:pPr algn="l">
              <a:lnSpc>
                <a:spcPct val="130000"/>
              </a:lnSpc>
            </a:pPr>
            <a:r>
              <a:rPr sz="950" b="0" i="0">
                <a:solidFill>
                  <a:srgbClr val="A8452F"/>
                </a:solidFill>
                <a:latin typeface="Segoe UI"/>
              </a:rPr>
              <a:t>—</a:t>
            </a:r>
          </a:p>
        </p:txBody>
      </p:sp>
      <p:sp>
        <p:nvSpPr>
          <p:cNvPr id="26" name="TextBox 25"/>
          <p:cNvSpPr txBox="1"/>
          <p:nvPr/>
        </p:nvSpPr>
        <p:spPr>
          <a:xfrm>
            <a:off x="980000" y="4180000"/>
            <a:ext cx="6030000" cy="56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Claves: universidad = CODIGO_INEI; programa = INEI + CODIGO_SIU_PROGRAMA; ubicación = departamento + provincia.</a:t>
            </a:r>
          </a:p>
        </p:txBody>
      </p:sp>
      <p:sp>
        <p:nvSpPr>
          <p:cNvPr id="27" name="TextBox 26"/>
          <p:cNvSpPr txBox="1"/>
          <p:nvPr/>
        </p:nvSpPr>
        <p:spPr>
          <a:xfrm>
            <a:off x="760000" y="4740000"/>
            <a:ext cx="150000" cy="240000"/>
          </a:xfrm>
          <a:prstGeom prst="rect">
            <a:avLst/>
          </a:prstGeom>
          <a:noFill/>
        </p:spPr>
        <p:txBody>
          <a:bodyPr wrap="square" lIns="0" rIns="0" tIns="0" bIns="0">
            <a:spAutoFit/>
          </a:bodyPr>
          <a:lstStyle/>
          <a:p>
            <a:pPr algn="l">
              <a:lnSpc>
                <a:spcPct val="130000"/>
              </a:lnSpc>
            </a:pPr>
            <a:r>
              <a:rPr sz="950" b="0" i="0">
                <a:solidFill>
                  <a:srgbClr val="A8452F"/>
                </a:solidFill>
                <a:latin typeface="Segoe UI"/>
              </a:rPr>
              <a:t>—</a:t>
            </a:r>
          </a:p>
        </p:txBody>
      </p:sp>
      <p:sp>
        <p:nvSpPr>
          <p:cNvPr id="28" name="TextBox 27"/>
          <p:cNvSpPr txBox="1"/>
          <p:nvPr/>
        </p:nvSpPr>
        <p:spPr>
          <a:xfrm>
            <a:off x="980000" y="4740000"/>
            <a:ext cx="6030000" cy="56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Nombres que cambian entre periodos: se toma el último valor no nulo por código, y la divergencia se reporta (control 10).</a:t>
            </a:r>
          </a:p>
        </p:txBody>
      </p:sp>
      <p:sp>
        <p:nvSpPr>
          <p:cNvPr id="29" name="TextBox 28"/>
          <p:cNvSpPr txBox="1"/>
          <p:nvPr/>
        </p:nvSpPr>
        <p:spPr>
          <a:xfrm>
            <a:off x="760000" y="5300000"/>
            <a:ext cx="150000" cy="240000"/>
          </a:xfrm>
          <a:prstGeom prst="rect">
            <a:avLst/>
          </a:prstGeom>
          <a:noFill/>
        </p:spPr>
        <p:txBody>
          <a:bodyPr wrap="square" lIns="0" rIns="0" tIns="0" bIns="0">
            <a:spAutoFit/>
          </a:bodyPr>
          <a:lstStyle/>
          <a:p>
            <a:pPr algn="l">
              <a:lnSpc>
                <a:spcPct val="130000"/>
              </a:lnSpc>
            </a:pPr>
            <a:r>
              <a:rPr sz="950" b="0" i="0">
                <a:solidFill>
                  <a:srgbClr val="A8452F"/>
                </a:solidFill>
                <a:latin typeface="Segoe UI"/>
              </a:rPr>
              <a:t>—</a:t>
            </a:r>
          </a:p>
        </p:txBody>
      </p:sp>
      <p:sp>
        <p:nvSpPr>
          <p:cNvPr id="30" name="TextBox 29"/>
          <p:cNvSpPr txBox="1"/>
          <p:nvPr/>
        </p:nvSpPr>
        <p:spPr>
          <a:xfrm>
            <a:off x="980000" y="5300000"/>
            <a:ext cx="6030000" cy="56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Fuera: posgrado (~20 % de cada archivo, contado archivo por archivo) y años sin dato en la regresión.</a:t>
            </a:r>
          </a:p>
        </p:txBody>
      </p:sp>
      <p:sp>
        <p:nvSpPr>
          <p:cNvPr id="31" name="Rectangle 30"/>
          <p:cNvSpPr/>
          <p:nvPr/>
        </p:nvSpPr>
        <p:spPr>
          <a:xfrm>
            <a:off x="7300000" y="1900000"/>
            <a:ext cx="4130000" cy="4300000"/>
          </a:xfrm>
          <a:prstGeom prst="rect">
            <a:avLst/>
          </a:prstGeom>
          <a:noFill/>
          <a:ln w="9525">
            <a:solidFill>
              <a:srgbClr val="D8D2CA"/>
            </a:solidFill>
          </a:ln>
          <a:effectLst/>
        </p:spPr>
        <p:txBody>
          <a:bodyPr rtlCol="0" anchor="ctr"/>
          <a:lstStyle/>
          <a:p>
            <a:pPr algn="ctr"/>
          </a:p>
        </p:txBody>
      </p:sp>
      <p:sp>
        <p:nvSpPr>
          <p:cNvPr id="32" name="TextBox 31"/>
          <p:cNvSpPr txBox="1"/>
          <p:nvPr/>
        </p:nvSpPr>
        <p:spPr>
          <a:xfrm>
            <a:off x="7480000" y="2040000"/>
            <a:ext cx="4130000" cy="250000"/>
          </a:xfrm>
          <a:prstGeom prst="rect">
            <a:avLst/>
          </a:prstGeom>
          <a:noFill/>
        </p:spPr>
        <p:txBody>
          <a:bodyPr wrap="square" lIns="0" rIns="0" tIns="0" bIns="0">
            <a:spAutoFit/>
          </a:bodyPr>
          <a:lstStyle/>
          <a:p>
            <a:pPr algn="l">
              <a:lnSpc>
                <a:spcPct val="130000"/>
              </a:lnSpc>
            </a:pPr>
            <a:r>
              <a:rPr sz="950" b="1" i="0">
                <a:solidFill>
                  <a:srgbClr val="3D6B4A"/>
                </a:solidFill>
                <a:latin typeface="Segoe UI"/>
              </a:rPr>
              <a:t>CÓMO SE CUMPLE EL CRITERIO</a:t>
            </a:r>
          </a:p>
        </p:txBody>
      </p:sp>
      <p:sp>
        <p:nvSpPr>
          <p:cNvPr id="33" name="TextBox 32"/>
          <p:cNvSpPr txBox="1"/>
          <p:nvPr/>
        </p:nvSpPr>
        <p:spPr>
          <a:xfrm>
            <a:off x="7480000" y="2320000"/>
            <a:ext cx="2930000" cy="520000"/>
          </a:xfrm>
          <a:prstGeom prst="rect">
            <a:avLst/>
          </a:prstGeom>
          <a:noFill/>
        </p:spPr>
        <p:txBody>
          <a:bodyPr wrap="square" lIns="0" rIns="0" tIns="0" bIns="0">
            <a:spAutoFit/>
          </a:bodyPr>
          <a:lstStyle/>
          <a:p>
            <a:pPr algn="l">
              <a:lnSpc>
                <a:spcPct val="110000"/>
              </a:lnSpc>
            </a:pPr>
            <a:r>
              <a:rPr sz="1300" b="0" i="0">
                <a:solidFill>
                  <a:srgbClr val="1A1A1A"/>
                </a:solidFill>
                <a:latin typeface="Georgia"/>
              </a:rPr>
              <a:t>Calidad e integración</a:t>
            </a:r>
          </a:p>
        </p:txBody>
      </p:sp>
      <p:sp>
        <p:nvSpPr>
          <p:cNvPr id="34" name="TextBox 33"/>
          <p:cNvSpPr txBox="1"/>
          <p:nvPr/>
        </p:nvSpPr>
        <p:spPr>
          <a:xfrm>
            <a:off x="10430000" y="2280000"/>
            <a:ext cx="830000" cy="420000"/>
          </a:xfrm>
          <a:prstGeom prst="rect">
            <a:avLst/>
          </a:prstGeom>
          <a:noFill/>
        </p:spPr>
        <p:txBody>
          <a:bodyPr wrap="square" lIns="0" rIns="0" tIns="0" bIns="0">
            <a:spAutoFit/>
          </a:bodyPr>
          <a:lstStyle/>
          <a:p>
            <a:pPr algn="r">
              <a:lnSpc>
                <a:spcPct val="130000"/>
              </a:lnSpc>
            </a:pPr>
            <a:r>
              <a:rPr sz="2000" b="0" i="0">
                <a:solidFill>
                  <a:srgbClr val="A8452F"/>
                </a:solidFill>
                <a:latin typeface="Georgia"/>
              </a:rPr>
              <a:t>15 %</a:t>
            </a:r>
          </a:p>
        </p:txBody>
      </p:sp>
      <p:cxnSp>
        <p:nvCxnSpPr>
          <p:cNvPr id="35" name="Connector 34"/>
          <p:cNvCxnSpPr/>
          <p:nvPr/>
        </p:nvCxnSpPr>
        <p:spPr>
          <a:xfrm>
            <a:off x="7480000" y="292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480000" y="298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37" name="TextBox 36"/>
          <p:cNvSpPr txBox="1"/>
          <p:nvPr/>
        </p:nvSpPr>
        <p:spPr>
          <a:xfrm>
            <a:off x="7720000" y="298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Controles implementados</a:t>
            </a:r>
          </a:p>
        </p:txBody>
      </p:sp>
      <p:sp>
        <p:nvSpPr>
          <p:cNvPr id="38" name="TextBox 37"/>
          <p:cNvSpPr txBox="1"/>
          <p:nvPr/>
        </p:nvSpPr>
        <p:spPr>
          <a:xfrm>
            <a:off x="7720000" y="324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17 controles en una sola consulta SQL, con 3 principales. 106 filas en OK, 116 informativas y 0 en REVISAR.</a:t>
            </a:r>
          </a:p>
        </p:txBody>
      </p:sp>
      <p:cxnSp>
        <p:nvCxnSpPr>
          <p:cNvPr id="39" name="Connector 38"/>
          <p:cNvCxnSpPr/>
          <p:nvPr/>
        </p:nvCxnSpPr>
        <p:spPr>
          <a:xfrm>
            <a:off x="7480000" y="396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480000" y="402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41" name="TextBox 40"/>
          <p:cNvSpPr txBox="1"/>
          <p:nvPr/>
        </p:nvSpPr>
        <p:spPr>
          <a:xfrm>
            <a:off x="7720000" y="402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Homologación de universidades y programas</a:t>
            </a:r>
          </a:p>
        </p:txBody>
      </p:sp>
      <p:sp>
        <p:nvSpPr>
          <p:cNvPr id="42" name="TextBox 41"/>
          <p:cNvSpPr txBox="1"/>
          <p:nvPr/>
        </p:nvSpPr>
        <p:spPr>
          <a:xfrm>
            <a:off x="7720000" y="428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Universidad por código INEI. Programas por la clasificación CINE-UNESCO que trae SUNEDU, sin emparejar nombres por similitud.</a:t>
            </a:r>
          </a:p>
        </p:txBody>
      </p:sp>
      <p:cxnSp>
        <p:nvCxnSpPr>
          <p:cNvPr id="43" name="Connector 42"/>
          <p:cNvCxnSpPr/>
          <p:nvPr/>
        </p:nvCxnSpPr>
        <p:spPr>
          <a:xfrm>
            <a:off x="7480000" y="500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480000" y="506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45" name="TextBox 44"/>
          <p:cNvSpPr txBox="1"/>
          <p:nvPr/>
        </p:nvSpPr>
        <p:spPr>
          <a:xfrm>
            <a:off x="7720000" y="506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Conciliación con la fuente</a:t>
            </a:r>
          </a:p>
        </p:txBody>
      </p:sp>
      <p:sp>
        <p:nvSpPr>
          <p:cNvPr id="46" name="TextBox 45"/>
          <p:cNvSpPr txBox="1"/>
          <p:nvPr/>
        </p:nvSpPr>
        <p:spPr>
          <a:xfrm>
            <a:off x="7720000" y="532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Filas del CSV contra filas en silver, archivo por archivo: 0 diferencias. Admitidos contra ingresantes: dos fuentes independientes que concuerdan.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430000"/>
            <a:ext cx="10672000" cy="260000"/>
          </a:xfrm>
          <a:prstGeom prst="rect">
            <a:avLst/>
          </a:prstGeom>
          <a:noFill/>
        </p:spPr>
        <p:txBody>
          <a:bodyPr wrap="square" lIns="0" rIns="0" tIns="0" bIns="0">
            <a:spAutoFit/>
          </a:bodyPr>
          <a:lstStyle/>
          <a:p>
            <a:pPr algn="l">
              <a:lnSpc>
                <a:spcPct val="130000"/>
              </a:lnSpc>
            </a:pPr>
            <a:r>
              <a:rPr sz="1000" b="0" i="0">
                <a:solidFill>
                  <a:srgbClr val="A8452F"/>
                </a:solidFill>
                <a:latin typeface="Segoe UI"/>
              </a:rPr>
              <a:t>3.3 · Modelo dimensional</a:t>
            </a:r>
          </a:p>
        </p:txBody>
      </p:sp>
      <p:sp>
        <p:nvSpPr>
          <p:cNvPr id="3" name="TextBox 2"/>
          <p:cNvSpPr txBox="1"/>
          <p:nvPr/>
        </p:nvSpPr>
        <p:spPr>
          <a:xfrm>
            <a:off x="760000" y="700000"/>
            <a:ext cx="10600000" cy="520000"/>
          </a:xfrm>
          <a:prstGeom prst="rect">
            <a:avLst/>
          </a:prstGeom>
          <a:noFill/>
        </p:spPr>
        <p:txBody>
          <a:bodyPr wrap="square" lIns="0" rIns="0" tIns="0" bIns="0">
            <a:spAutoFit/>
          </a:bodyPr>
          <a:lstStyle/>
          <a:p>
            <a:pPr algn="l">
              <a:lnSpc>
                <a:spcPct val="130000"/>
              </a:lnSpc>
            </a:pPr>
            <a:r>
              <a:rPr sz="2300" b="0" i="0">
                <a:solidFill>
                  <a:srgbClr val="1A1A1A"/>
                </a:solidFill>
                <a:latin typeface="Georgia"/>
              </a:rPr>
              <a:t>Una estrella con siete hechos y seis dimensiones compartidas</a:t>
            </a:r>
          </a:p>
        </p:txBody>
      </p:sp>
      <p:sp>
        <p:nvSpPr>
          <p:cNvPr id="4" name="TextBox 3"/>
          <p:cNvSpPr txBox="1"/>
          <p:nvPr/>
        </p:nvSpPr>
        <p:spPr>
          <a:xfrm>
            <a:off x="760000" y="1210000"/>
            <a:ext cx="10400000" cy="560000"/>
          </a:xfrm>
          <a:prstGeom prst="rect">
            <a:avLst/>
          </a:prstGeom>
          <a:noFill/>
        </p:spPr>
        <p:txBody>
          <a:bodyPr wrap="square" lIns="0" rIns="0" tIns="0" bIns="0">
            <a:spAutoFit/>
          </a:bodyPr>
          <a:lstStyle/>
          <a:p>
            <a:pPr algn="l">
              <a:lnSpc>
                <a:spcPct val="130000"/>
              </a:lnSpc>
            </a:pPr>
            <a:r>
              <a:rPr sz="1100" b="0" i="0">
                <a:solidFill>
                  <a:srgbClr val="6B6560"/>
                </a:solidFill>
                <a:latin typeface="Segoe UI"/>
              </a:rPr>
              <a:t>Se pide un esquema estrella, la granularidad de cada hecho y dimensiones compartidas para analizar ingresantes y matrícula en conjunto.</a:t>
            </a:r>
          </a:p>
        </p:txBody>
      </p:sp>
      <p:cxnSp>
        <p:nvCxnSpPr>
          <p:cNvPr id="5" name="Connector 4"/>
          <p:cNvCxnSpPr/>
          <p:nvPr/>
        </p:nvCxnSpPr>
        <p:spPr>
          <a:xfrm>
            <a:off x="760000" y="181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docs/diccionario_datos.md · powerbi/modelo_tmdl/relationships.tmdl</a:t>
            </a:r>
          </a:p>
        </p:txBody>
      </p:sp>
      <p:sp>
        <p:nvSpPr>
          <p:cNvPr id="8" name="TextBox 7"/>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4 / 13</a:t>
            </a:r>
          </a:p>
        </p:txBody>
      </p:sp>
      <p:cxnSp>
        <p:nvCxnSpPr>
          <p:cNvPr id="9" name="Connector 8"/>
          <p:cNvCxnSpPr/>
          <p:nvPr/>
        </p:nvCxnSpPr>
        <p:spPr>
          <a:xfrm>
            <a:off x="760000" y="1960000"/>
            <a:ext cx="6250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0000" y="2070000"/>
            <a:ext cx="1248888" cy="27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Hecho</a:t>
            </a:r>
          </a:p>
        </p:txBody>
      </p:sp>
      <p:sp>
        <p:nvSpPr>
          <p:cNvPr id="11" name="TextBox 10"/>
          <p:cNvSpPr txBox="1"/>
          <p:nvPr/>
        </p:nvSpPr>
        <p:spPr>
          <a:xfrm>
            <a:off x="2218888" y="2070000"/>
            <a:ext cx="1943333" cy="27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Grano</a:t>
            </a:r>
          </a:p>
        </p:txBody>
      </p:sp>
      <p:sp>
        <p:nvSpPr>
          <p:cNvPr id="12" name="TextBox 11"/>
          <p:cNvSpPr txBox="1"/>
          <p:nvPr/>
        </p:nvSpPr>
        <p:spPr>
          <a:xfrm>
            <a:off x="4302221" y="2070000"/>
            <a:ext cx="276666" cy="270000"/>
          </a:xfrm>
          <a:prstGeom prst="rect">
            <a:avLst/>
          </a:prstGeom>
          <a:noFill/>
        </p:spPr>
        <p:txBody>
          <a:bodyPr wrap="square" lIns="0" rIns="0" tIns="0" bIns="0">
            <a:spAutoFit/>
          </a:bodyPr>
          <a:lstStyle/>
          <a:p>
            <a:pPr algn="ctr">
              <a:lnSpc>
                <a:spcPct val="115000"/>
              </a:lnSpc>
            </a:pPr>
            <a:r>
              <a:rPr sz="850" b="1" i="0">
                <a:solidFill>
                  <a:srgbClr val="1A1A1A"/>
                </a:solidFill>
                <a:latin typeface="Segoe UI"/>
              </a:rPr>
              <a:t>Año</a:t>
            </a:r>
          </a:p>
        </p:txBody>
      </p:sp>
      <p:sp>
        <p:nvSpPr>
          <p:cNvPr id="13" name="TextBox 12"/>
          <p:cNvSpPr txBox="1"/>
          <p:nvPr/>
        </p:nvSpPr>
        <p:spPr>
          <a:xfrm>
            <a:off x="4718887" y="2070000"/>
            <a:ext cx="276666" cy="270000"/>
          </a:xfrm>
          <a:prstGeom prst="rect">
            <a:avLst/>
          </a:prstGeom>
          <a:noFill/>
        </p:spPr>
        <p:txBody>
          <a:bodyPr wrap="square" lIns="0" rIns="0" tIns="0" bIns="0">
            <a:spAutoFit/>
          </a:bodyPr>
          <a:lstStyle/>
          <a:p>
            <a:pPr algn="ctr">
              <a:lnSpc>
                <a:spcPct val="115000"/>
              </a:lnSpc>
            </a:pPr>
            <a:r>
              <a:rPr sz="850" b="1" i="0">
                <a:solidFill>
                  <a:srgbClr val="1A1A1A"/>
                </a:solidFill>
                <a:latin typeface="Segoe UI"/>
              </a:rPr>
              <a:t>Sem.</a:t>
            </a:r>
          </a:p>
        </p:txBody>
      </p:sp>
      <p:sp>
        <p:nvSpPr>
          <p:cNvPr id="14" name="TextBox 13"/>
          <p:cNvSpPr txBox="1"/>
          <p:nvPr/>
        </p:nvSpPr>
        <p:spPr>
          <a:xfrm>
            <a:off x="5135553" y="2070000"/>
            <a:ext cx="276666" cy="270000"/>
          </a:xfrm>
          <a:prstGeom prst="rect">
            <a:avLst/>
          </a:prstGeom>
          <a:noFill/>
        </p:spPr>
        <p:txBody>
          <a:bodyPr wrap="square" lIns="0" rIns="0" tIns="0" bIns="0">
            <a:spAutoFit/>
          </a:bodyPr>
          <a:lstStyle/>
          <a:p>
            <a:pPr algn="ctr">
              <a:lnSpc>
                <a:spcPct val="115000"/>
              </a:lnSpc>
            </a:pPr>
            <a:r>
              <a:rPr sz="850" b="1" i="0">
                <a:solidFill>
                  <a:srgbClr val="1A1A1A"/>
                </a:solidFill>
                <a:latin typeface="Segoe UI"/>
              </a:rPr>
              <a:t>Univ.</a:t>
            </a:r>
          </a:p>
        </p:txBody>
      </p:sp>
      <p:sp>
        <p:nvSpPr>
          <p:cNvPr id="15" name="TextBox 14"/>
          <p:cNvSpPr txBox="1"/>
          <p:nvPr/>
        </p:nvSpPr>
        <p:spPr>
          <a:xfrm>
            <a:off x="5552219" y="2070000"/>
            <a:ext cx="276666" cy="270000"/>
          </a:xfrm>
          <a:prstGeom prst="rect">
            <a:avLst/>
          </a:prstGeom>
          <a:noFill/>
        </p:spPr>
        <p:txBody>
          <a:bodyPr wrap="square" lIns="0" rIns="0" tIns="0" bIns="0">
            <a:spAutoFit/>
          </a:bodyPr>
          <a:lstStyle/>
          <a:p>
            <a:pPr algn="ctr">
              <a:lnSpc>
                <a:spcPct val="115000"/>
              </a:lnSpc>
            </a:pPr>
            <a:r>
              <a:rPr sz="850" b="1" i="0">
                <a:solidFill>
                  <a:srgbClr val="1A1A1A"/>
                </a:solidFill>
                <a:latin typeface="Segoe UI"/>
              </a:rPr>
              <a:t>Prog.</a:t>
            </a:r>
          </a:p>
        </p:txBody>
      </p:sp>
      <p:sp>
        <p:nvSpPr>
          <p:cNvPr id="16" name="TextBox 15"/>
          <p:cNvSpPr txBox="1"/>
          <p:nvPr/>
        </p:nvSpPr>
        <p:spPr>
          <a:xfrm>
            <a:off x="5968885" y="2070000"/>
            <a:ext cx="276666" cy="270000"/>
          </a:xfrm>
          <a:prstGeom prst="rect">
            <a:avLst/>
          </a:prstGeom>
          <a:noFill/>
        </p:spPr>
        <p:txBody>
          <a:bodyPr wrap="square" lIns="0" rIns="0" tIns="0" bIns="0">
            <a:spAutoFit/>
          </a:bodyPr>
          <a:lstStyle/>
          <a:p>
            <a:pPr algn="ctr">
              <a:lnSpc>
                <a:spcPct val="115000"/>
              </a:lnSpc>
            </a:pPr>
            <a:r>
              <a:rPr sz="850" b="1" i="0">
                <a:solidFill>
                  <a:srgbClr val="1A1A1A"/>
                </a:solidFill>
                <a:latin typeface="Segoe UI"/>
              </a:rPr>
              <a:t>Ubic.</a:t>
            </a:r>
          </a:p>
        </p:txBody>
      </p:sp>
      <p:sp>
        <p:nvSpPr>
          <p:cNvPr id="17" name="TextBox 16"/>
          <p:cNvSpPr txBox="1"/>
          <p:nvPr/>
        </p:nvSpPr>
        <p:spPr>
          <a:xfrm>
            <a:off x="6385551" y="2070000"/>
            <a:ext cx="554444" cy="270000"/>
          </a:xfrm>
          <a:prstGeom prst="rect">
            <a:avLst/>
          </a:prstGeom>
          <a:noFill/>
        </p:spPr>
        <p:txBody>
          <a:bodyPr wrap="square" lIns="0" rIns="0" tIns="0" bIns="0">
            <a:spAutoFit/>
          </a:bodyPr>
          <a:lstStyle/>
          <a:p>
            <a:pPr algn="r">
              <a:lnSpc>
                <a:spcPct val="115000"/>
              </a:lnSpc>
            </a:pPr>
            <a:r>
              <a:rPr sz="850" b="1" i="0">
                <a:solidFill>
                  <a:srgbClr val="1A1A1A"/>
                </a:solidFill>
                <a:latin typeface="Segoe UI"/>
              </a:rPr>
              <a:t>Filas</a:t>
            </a:r>
          </a:p>
        </p:txBody>
      </p:sp>
      <p:cxnSp>
        <p:nvCxnSpPr>
          <p:cNvPr id="18" name="Connector 17"/>
          <p:cNvCxnSpPr/>
          <p:nvPr/>
        </p:nvCxnSpPr>
        <p:spPr>
          <a:xfrm>
            <a:off x="760000" y="2320000"/>
            <a:ext cx="625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30000" y="2420000"/>
            <a:ext cx="1248888"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fct_ingresantes</a:t>
            </a:r>
          </a:p>
        </p:txBody>
      </p:sp>
      <p:sp>
        <p:nvSpPr>
          <p:cNvPr id="20" name="TextBox 19"/>
          <p:cNvSpPr txBox="1"/>
          <p:nvPr/>
        </p:nvSpPr>
        <p:spPr>
          <a:xfrm>
            <a:off x="2218888" y="2420000"/>
            <a:ext cx="1943333"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año × programa × ubicación</a:t>
            </a:r>
          </a:p>
        </p:txBody>
      </p:sp>
      <p:sp>
        <p:nvSpPr>
          <p:cNvPr id="21" name="TextBox 20"/>
          <p:cNvSpPr txBox="1"/>
          <p:nvPr/>
        </p:nvSpPr>
        <p:spPr>
          <a:xfrm>
            <a:off x="4302221" y="242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22" name="TextBox 21"/>
          <p:cNvSpPr txBox="1"/>
          <p:nvPr/>
        </p:nvSpPr>
        <p:spPr>
          <a:xfrm>
            <a:off x="4718887" y="242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23" name="TextBox 22"/>
          <p:cNvSpPr txBox="1"/>
          <p:nvPr/>
        </p:nvSpPr>
        <p:spPr>
          <a:xfrm>
            <a:off x="5135553" y="242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24" name="TextBox 23"/>
          <p:cNvSpPr txBox="1"/>
          <p:nvPr/>
        </p:nvSpPr>
        <p:spPr>
          <a:xfrm>
            <a:off x="5552219" y="242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25" name="TextBox 24"/>
          <p:cNvSpPr txBox="1"/>
          <p:nvPr/>
        </p:nvSpPr>
        <p:spPr>
          <a:xfrm>
            <a:off x="5968885" y="242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26" name="TextBox 25"/>
          <p:cNvSpPr txBox="1"/>
          <p:nvPr/>
        </p:nvSpPr>
        <p:spPr>
          <a:xfrm>
            <a:off x="6385551" y="2420000"/>
            <a:ext cx="554444" cy="27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15,215</a:t>
            </a:r>
          </a:p>
        </p:txBody>
      </p:sp>
      <p:sp>
        <p:nvSpPr>
          <p:cNvPr id="27" name="TextBox 26"/>
          <p:cNvSpPr txBox="1"/>
          <p:nvPr/>
        </p:nvSpPr>
        <p:spPr>
          <a:xfrm>
            <a:off x="830000" y="2690000"/>
            <a:ext cx="1248888"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fct_matricula</a:t>
            </a:r>
          </a:p>
        </p:txBody>
      </p:sp>
      <p:sp>
        <p:nvSpPr>
          <p:cNvPr id="28" name="TextBox 27"/>
          <p:cNvSpPr txBox="1"/>
          <p:nvPr/>
        </p:nvSpPr>
        <p:spPr>
          <a:xfrm>
            <a:off x="2218888" y="2690000"/>
            <a:ext cx="1943333"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año × semestre × programa × ubicación</a:t>
            </a:r>
          </a:p>
        </p:txBody>
      </p:sp>
      <p:sp>
        <p:nvSpPr>
          <p:cNvPr id="29" name="TextBox 28"/>
          <p:cNvSpPr txBox="1"/>
          <p:nvPr/>
        </p:nvSpPr>
        <p:spPr>
          <a:xfrm>
            <a:off x="4302221" y="269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30" name="TextBox 29"/>
          <p:cNvSpPr txBox="1"/>
          <p:nvPr/>
        </p:nvSpPr>
        <p:spPr>
          <a:xfrm>
            <a:off x="4718887" y="269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31" name="TextBox 30"/>
          <p:cNvSpPr txBox="1"/>
          <p:nvPr/>
        </p:nvSpPr>
        <p:spPr>
          <a:xfrm>
            <a:off x="5135553" y="269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32" name="TextBox 31"/>
          <p:cNvSpPr txBox="1"/>
          <p:nvPr/>
        </p:nvSpPr>
        <p:spPr>
          <a:xfrm>
            <a:off x="5552219" y="269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33" name="TextBox 32"/>
          <p:cNvSpPr txBox="1"/>
          <p:nvPr/>
        </p:nvSpPr>
        <p:spPr>
          <a:xfrm>
            <a:off x="5968885" y="269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34" name="TextBox 33"/>
          <p:cNvSpPr txBox="1"/>
          <p:nvPr/>
        </p:nvSpPr>
        <p:spPr>
          <a:xfrm>
            <a:off x="6385551" y="2690000"/>
            <a:ext cx="554444" cy="27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37,828</a:t>
            </a:r>
          </a:p>
        </p:txBody>
      </p:sp>
      <p:sp>
        <p:nvSpPr>
          <p:cNvPr id="35" name="TextBox 34"/>
          <p:cNvSpPr txBox="1"/>
          <p:nvPr/>
        </p:nvSpPr>
        <p:spPr>
          <a:xfrm>
            <a:off x="830000" y="2960000"/>
            <a:ext cx="1248888"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fct_postulantes</a:t>
            </a:r>
          </a:p>
        </p:txBody>
      </p:sp>
      <p:sp>
        <p:nvSpPr>
          <p:cNvPr id="36" name="TextBox 35"/>
          <p:cNvSpPr txBox="1"/>
          <p:nvPr/>
        </p:nvSpPr>
        <p:spPr>
          <a:xfrm>
            <a:off x="2218888" y="2960000"/>
            <a:ext cx="1943333"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año × programa × ubicación</a:t>
            </a:r>
          </a:p>
        </p:txBody>
      </p:sp>
      <p:sp>
        <p:nvSpPr>
          <p:cNvPr id="37" name="TextBox 36"/>
          <p:cNvSpPr txBox="1"/>
          <p:nvPr/>
        </p:nvSpPr>
        <p:spPr>
          <a:xfrm>
            <a:off x="4302221" y="296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38" name="TextBox 37"/>
          <p:cNvSpPr txBox="1"/>
          <p:nvPr/>
        </p:nvSpPr>
        <p:spPr>
          <a:xfrm>
            <a:off x="4718887" y="296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39" name="TextBox 38"/>
          <p:cNvSpPr txBox="1"/>
          <p:nvPr/>
        </p:nvSpPr>
        <p:spPr>
          <a:xfrm>
            <a:off x="5135553" y="296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40" name="TextBox 39"/>
          <p:cNvSpPr txBox="1"/>
          <p:nvPr/>
        </p:nvSpPr>
        <p:spPr>
          <a:xfrm>
            <a:off x="5552219" y="296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41" name="TextBox 40"/>
          <p:cNvSpPr txBox="1"/>
          <p:nvPr/>
        </p:nvSpPr>
        <p:spPr>
          <a:xfrm>
            <a:off x="5968885" y="296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42" name="TextBox 41"/>
          <p:cNvSpPr txBox="1"/>
          <p:nvPr/>
        </p:nvSpPr>
        <p:spPr>
          <a:xfrm>
            <a:off x="6385551" y="2960000"/>
            <a:ext cx="554444" cy="27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10,607</a:t>
            </a:r>
          </a:p>
        </p:txBody>
      </p:sp>
      <p:sp>
        <p:nvSpPr>
          <p:cNvPr id="43" name="TextBox 42"/>
          <p:cNvSpPr txBox="1"/>
          <p:nvPr/>
        </p:nvSpPr>
        <p:spPr>
          <a:xfrm>
            <a:off x="830000" y="3230000"/>
            <a:ext cx="1248888"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fct_egresados</a:t>
            </a:r>
          </a:p>
        </p:txBody>
      </p:sp>
      <p:sp>
        <p:nvSpPr>
          <p:cNvPr id="44" name="TextBox 43"/>
          <p:cNvSpPr txBox="1"/>
          <p:nvPr/>
        </p:nvSpPr>
        <p:spPr>
          <a:xfrm>
            <a:off x="2218888" y="3230000"/>
            <a:ext cx="1943333"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año × semestre × programa</a:t>
            </a:r>
          </a:p>
        </p:txBody>
      </p:sp>
      <p:sp>
        <p:nvSpPr>
          <p:cNvPr id="45" name="TextBox 44"/>
          <p:cNvSpPr txBox="1"/>
          <p:nvPr/>
        </p:nvSpPr>
        <p:spPr>
          <a:xfrm>
            <a:off x="4302221" y="323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46" name="TextBox 45"/>
          <p:cNvSpPr txBox="1"/>
          <p:nvPr/>
        </p:nvSpPr>
        <p:spPr>
          <a:xfrm>
            <a:off x="4718887" y="323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47" name="TextBox 46"/>
          <p:cNvSpPr txBox="1"/>
          <p:nvPr/>
        </p:nvSpPr>
        <p:spPr>
          <a:xfrm>
            <a:off x="5135553" y="323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48" name="TextBox 47"/>
          <p:cNvSpPr txBox="1"/>
          <p:nvPr/>
        </p:nvSpPr>
        <p:spPr>
          <a:xfrm>
            <a:off x="5552219" y="323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49" name="TextBox 48"/>
          <p:cNvSpPr txBox="1"/>
          <p:nvPr/>
        </p:nvSpPr>
        <p:spPr>
          <a:xfrm>
            <a:off x="5968885" y="323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50" name="TextBox 49"/>
          <p:cNvSpPr txBox="1"/>
          <p:nvPr/>
        </p:nvSpPr>
        <p:spPr>
          <a:xfrm>
            <a:off x="6385551" y="3230000"/>
            <a:ext cx="554444" cy="27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11,000</a:t>
            </a:r>
          </a:p>
        </p:txBody>
      </p:sp>
      <p:sp>
        <p:nvSpPr>
          <p:cNvPr id="51" name="TextBox 50"/>
          <p:cNvSpPr txBox="1"/>
          <p:nvPr/>
        </p:nvSpPr>
        <p:spPr>
          <a:xfrm>
            <a:off x="830000" y="3500000"/>
            <a:ext cx="1248888"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fct_docentes</a:t>
            </a:r>
          </a:p>
        </p:txBody>
      </p:sp>
      <p:sp>
        <p:nvSpPr>
          <p:cNvPr id="52" name="TextBox 51"/>
          <p:cNvSpPr txBox="1"/>
          <p:nvPr/>
        </p:nvSpPr>
        <p:spPr>
          <a:xfrm>
            <a:off x="2218888" y="3500000"/>
            <a:ext cx="1943333"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año × semestre × universidad</a:t>
            </a:r>
          </a:p>
        </p:txBody>
      </p:sp>
      <p:sp>
        <p:nvSpPr>
          <p:cNvPr id="53" name="TextBox 52"/>
          <p:cNvSpPr txBox="1"/>
          <p:nvPr/>
        </p:nvSpPr>
        <p:spPr>
          <a:xfrm>
            <a:off x="4302221" y="350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54" name="TextBox 53"/>
          <p:cNvSpPr txBox="1"/>
          <p:nvPr/>
        </p:nvSpPr>
        <p:spPr>
          <a:xfrm>
            <a:off x="4718887" y="350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55" name="TextBox 54"/>
          <p:cNvSpPr txBox="1"/>
          <p:nvPr/>
        </p:nvSpPr>
        <p:spPr>
          <a:xfrm>
            <a:off x="5135553" y="350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56" name="TextBox 55"/>
          <p:cNvSpPr txBox="1"/>
          <p:nvPr/>
        </p:nvSpPr>
        <p:spPr>
          <a:xfrm>
            <a:off x="5552219" y="350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57" name="TextBox 56"/>
          <p:cNvSpPr txBox="1"/>
          <p:nvPr/>
        </p:nvSpPr>
        <p:spPr>
          <a:xfrm>
            <a:off x="5968885" y="350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58" name="TextBox 57"/>
          <p:cNvSpPr txBox="1"/>
          <p:nvPr/>
        </p:nvSpPr>
        <p:spPr>
          <a:xfrm>
            <a:off x="6385551" y="3500000"/>
            <a:ext cx="554444" cy="27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1,300</a:t>
            </a:r>
          </a:p>
        </p:txBody>
      </p:sp>
      <p:sp>
        <p:nvSpPr>
          <p:cNvPr id="59" name="TextBox 58"/>
          <p:cNvSpPr txBox="1"/>
          <p:nvPr/>
        </p:nvSpPr>
        <p:spPr>
          <a:xfrm>
            <a:off x="830000" y="3770000"/>
            <a:ext cx="1248888"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fct_titulos</a:t>
            </a:r>
          </a:p>
        </p:txBody>
      </p:sp>
      <p:sp>
        <p:nvSpPr>
          <p:cNvPr id="60" name="TextBox 59"/>
          <p:cNvSpPr txBox="1"/>
          <p:nvPr/>
        </p:nvSpPr>
        <p:spPr>
          <a:xfrm>
            <a:off x="2218888" y="3770000"/>
            <a:ext cx="1943333"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año × universidad</a:t>
            </a:r>
          </a:p>
        </p:txBody>
      </p:sp>
      <p:sp>
        <p:nvSpPr>
          <p:cNvPr id="61" name="TextBox 60"/>
          <p:cNvSpPr txBox="1"/>
          <p:nvPr/>
        </p:nvSpPr>
        <p:spPr>
          <a:xfrm>
            <a:off x="4302221" y="377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62" name="TextBox 61"/>
          <p:cNvSpPr txBox="1"/>
          <p:nvPr/>
        </p:nvSpPr>
        <p:spPr>
          <a:xfrm>
            <a:off x="4718887" y="377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63" name="TextBox 62"/>
          <p:cNvSpPr txBox="1"/>
          <p:nvPr/>
        </p:nvSpPr>
        <p:spPr>
          <a:xfrm>
            <a:off x="5135553" y="377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64" name="TextBox 63"/>
          <p:cNvSpPr txBox="1"/>
          <p:nvPr/>
        </p:nvSpPr>
        <p:spPr>
          <a:xfrm>
            <a:off x="5552219" y="377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65" name="TextBox 64"/>
          <p:cNvSpPr txBox="1"/>
          <p:nvPr/>
        </p:nvSpPr>
        <p:spPr>
          <a:xfrm>
            <a:off x="5968885" y="377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66" name="TextBox 65"/>
          <p:cNvSpPr txBox="1"/>
          <p:nvPr/>
        </p:nvSpPr>
        <p:spPr>
          <a:xfrm>
            <a:off x="6385551" y="3770000"/>
            <a:ext cx="554444" cy="27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915</a:t>
            </a:r>
          </a:p>
        </p:txBody>
      </p:sp>
      <p:sp>
        <p:nvSpPr>
          <p:cNvPr id="67" name="TextBox 66"/>
          <p:cNvSpPr txBox="1"/>
          <p:nvPr/>
        </p:nvSpPr>
        <p:spPr>
          <a:xfrm>
            <a:off x="830000" y="4040000"/>
            <a:ext cx="1248888"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fct_concentracion</a:t>
            </a:r>
          </a:p>
        </p:txBody>
      </p:sp>
      <p:sp>
        <p:nvSpPr>
          <p:cNvPr id="68" name="TextBox 67"/>
          <p:cNvSpPr txBox="1"/>
          <p:nvPr/>
        </p:nvSpPr>
        <p:spPr>
          <a:xfrm>
            <a:off x="2218888" y="4040000"/>
            <a:ext cx="1943333" cy="27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año × universidad</a:t>
            </a:r>
          </a:p>
        </p:txBody>
      </p:sp>
      <p:sp>
        <p:nvSpPr>
          <p:cNvPr id="69" name="TextBox 68"/>
          <p:cNvSpPr txBox="1"/>
          <p:nvPr/>
        </p:nvSpPr>
        <p:spPr>
          <a:xfrm>
            <a:off x="4302221" y="404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70" name="TextBox 69"/>
          <p:cNvSpPr txBox="1"/>
          <p:nvPr/>
        </p:nvSpPr>
        <p:spPr>
          <a:xfrm>
            <a:off x="4718887" y="404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71" name="TextBox 70"/>
          <p:cNvSpPr txBox="1"/>
          <p:nvPr/>
        </p:nvSpPr>
        <p:spPr>
          <a:xfrm>
            <a:off x="5135553" y="404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72" name="TextBox 71"/>
          <p:cNvSpPr txBox="1"/>
          <p:nvPr/>
        </p:nvSpPr>
        <p:spPr>
          <a:xfrm>
            <a:off x="5552219" y="404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73" name="TextBox 72"/>
          <p:cNvSpPr txBox="1"/>
          <p:nvPr/>
        </p:nvSpPr>
        <p:spPr>
          <a:xfrm>
            <a:off x="5968885" y="4040000"/>
            <a:ext cx="276666" cy="270000"/>
          </a:xfrm>
          <a:prstGeom prst="rect">
            <a:avLst/>
          </a:prstGeom>
          <a:noFill/>
        </p:spPr>
        <p:txBody>
          <a:bodyPr wrap="square" lIns="0" rIns="0" tIns="0" bIns="0">
            <a:spAutoFit/>
          </a:bodyPr>
          <a:lstStyle/>
          <a:p>
            <a:pPr algn="ctr">
              <a:lnSpc>
                <a:spcPct val="115000"/>
              </a:lnSpc>
            </a:pPr>
            <a:r>
              <a:rPr sz="850" b="0" i="0">
                <a:solidFill>
                  <a:srgbClr val="3D3A36"/>
                </a:solidFill>
                <a:latin typeface="Segoe UI"/>
              </a:rPr>
              <a:t>—</a:t>
            </a:r>
          </a:p>
        </p:txBody>
      </p:sp>
      <p:sp>
        <p:nvSpPr>
          <p:cNvPr id="74" name="TextBox 73"/>
          <p:cNvSpPr txBox="1"/>
          <p:nvPr/>
        </p:nvSpPr>
        <p:spPr>
          <a:xfrm>
            <a:off x="6385551" y="4040000"/>
            <a:ext cx="554444" cy="27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861</a:t>
            </a:r>
          </a:p>
        </p:txBody>
      </p:sp>
      <p:cxnSp>
        <p:nvCxnSpPr>
          <p:cNvPr id="75" name="Connector 74"/>
          <p:cNvCxnSpPr/>
          <p:nvPr/>
        </p:nvCxnSpPr>
        <p:spPr>
          <a:xfrm>
            <a:off x="760000" y="4300000"/>
            <a:ext cx="6250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60000" y="4800000"/>
            <a:ext cx="6250000" cy="130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Cada guion es una ausencia medida, no un olvido: egresados trae la geografía vacía en el 100 % de las filas, y docentes y títulos no traen código de programa. Imputarlos habría inventado datos que en un visual se ven igual que los reales. Las medidas que cruzan esos granos llevan una guarda que devuelve BLANK.</a:t>
            </a:r>
          </a:p>
        </p:txBody>
      </p:sp>
      <p:sp>
        <p:nvSpPr>
          <p:cNvPr id="77" name="Rectangle 76"/>
          <p:cNvSpPr/>
          <p:nvPr/>
        </p:nvSpPr>
        <p:spPr>
          <a:xfrm>
            <a:off x="7300000" y="1900000"/>
            <a:ext cx="4130000" cy="4300000"/>
          </a:xfrm>
          <a:prstGeom prst="rect">
            <a:avLst/>
          </a:prstGeom>
          <a:noFill/>
          <a:ln w="9525">
            <a:solidFill>
              <a:srgbClr val="D8D2CA"/>
            </a:solidFill>
          </a:ln>
          <a:effectLst/>
        </p:spPr>
        <p:txBody>
          <a:bodyPr rtlCol="0" anchor="ctr"/>
          <a:lstStyle/>
          <a:p>
            <a:pPr algn="ctr"/>
          </a:p>
        </p:txBody>
      </p:sp>
      <p:sp>
        <p:nvSpPr>
          <p:cNvPr id="78" name="TextBox 77"/>
          <p:cNvSpPr txBox="1"/>
          <p:nvPr/>
        </p:nvSpPr>
        <p:spPr>
          <a:xfrm>
            <a:off x="7480000" y="2040000"/>
            <a:ext cx="4130000" cy="250000"/>
          </a:xfrm>
          <a:prstGeom prst="rect">
            <a:avLst/>
          </a:prstGeom>
          <a:noFill/>
        </p:spPr>
        <p:txBody>
          <a:bodyPr wrap="square" lIns="0" rIns="0" tIns="0" bIns="0">
            <a:spAutoFit/>
          </a:bodyPr>
          <a:lstStyle/>
          <a:p>
            <a:pPr algn="l">
              <a:lnSpc>
                <a:spcPct val="130000"/>
              </a:lnSpc>
            </a:pPr>
            <a:r>
              <a:rPr sz="950" b="1" i="0">
                <a:solidFill>
                  <a:srgbClr val="3D6B4A"/>
                </a:solidFill>
                <a:latin typeface="Segoe UI"/>
              </a:rPr>
              <a:t>CÓMO SE CUMPLE EL CRITERIO</a:t>
            </a:r>
          </a:p>
        </p:txBody>
      </p:sp>
      <p:sp>
        <p:nvSpPr>
          <p:cNvPr id="79" name="TextBox 78"/>
          <p:cNvSpPr txBox="1"/>
          <p:nvPr/>
        </p:nvSpPr>
        <p:spPr>
          <a:xfrm>
            <a:off x="7480000" y="2320000"/>
            <a:ext cx="2930000" cy="520000"/>
          </a:xfrm>
          <a:prstGeom prst="rect">
            <a:avLst/>
          </a:prstGeom>
          <a:noFill/>
        </p:spPr>
        <p:txBody>
          <a:bodyPr wrap="square" lIns="0" rIns="0" tIns="0" bIns="0">
            <a:spAutoFit/>
          </a:bodyPr>
          <a:lstStyle/>
          <a:p>
            <a:pPr algn="l">
              <a:lnSpc>
                <a:spcPct val="110000"/>
              </a:lnSpc>
            </a:pPr>
            <a:r>
              <a:rPr sz="1300" b="0" i="0">
                <a:solidFill>
                  <a:srgbClr val="1A1A1A"/>
                </a:solidFill>
                <a:latin typeface="Georgia"/>
              </a:rPr>
              <a:t>Modelo de datos</a:t>
            </a:r>
          </a:p>
        </p:txBody>
      </p:sp>
      <p:sp>
        <p:nvSpPr>
          <p:cNvPr id="80" name="TextBox 79"/>
          <p:cNvSpPr txBox="1"/>
          <p:nvPr/>
        </p:nvSpPr>
        <p:spPr>
          <a:xfrm>
            <a:off x="10430000" y="2280000"/>
            <a:ext cx="830000" cy="420000"/>
          </a:xfrm>
          <a:prstGeom prst="rect">
            <a:avLst/>
          </a:prstGeom>
          <a:noFill/>
        </p:spPr>
        <p:txBody>
          <a:bodyPr wrap="square" lIns="0" rIns="0" tIns="0" bIns="0">
            <a:spAutoFit/>
          </a:bodyPr>
          <a:lstStyle/>
          <a:p>
            <a:pPr algn="r">
              <a:lnSpc>
                <a:spcPct val="130000"/>
              </a:lnSpc>
            </a:pPr>
            <a:r>
              <a:rPr sz="2000" b="0" i="0">
                <a:solidFill>
                  <a:srgbClr val="A8452F"/>
                </a:solidFill>
                <a:latin typeface="Georgia"/>
              </a:rPr>
              <a:t>20 %</a:t>
            </a:r>
          </a:p>
        </p:txBody>
      </p:sp>
      <p:cxnSp>
        <p:nvCxnSpPr>
          <p:cNvPr id="81" name="Connector 80"/>
          <p:cNvCxnSpPr/>
          <p:nvPr/>
        </p:nvCxnSpPr>
        <p:spPr>
          <a:xfrm>
            <a:off x="7480000" y="292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7480000" y="298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83" name="TextBox 82"/>
          <p:cNvSpPr txBox="1"/>
          <p:nvPr/>
        </p:nvSpPr>
        <p:spPr>
          <a:xfrm>
            <a:off x="7720000" y="298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Esquema estrella</a:t>
            </a:r>
          </a:p>
        </p:txBody>
      </p:sp>
      <p:sp>
        <p:nvSpPr>
          <p:cNvPr id="84" name="TextBox 83"/>
          <p:cNvSpPr txBox="1"/>
          <p:nvPr/>
        </p:nvSpPr>
        <p:spPr>
          <a:xfrm>
            <a:off x="7720000" y="324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Hechos con llaves y medidas. Las seis dimensiones no se relacionan entre sí, así que no hay rutas ambiguas.</a:t>
            </a:r>
          </a:p>
        </p:txBody>
      </p:sp>
      <p:cxnSp>
        <p:nvCxnSpPr>
          <p:cNvPr id="85" name="Connector 84"/>
          <p:cNvCxnSpPr/>
          <p:nvPr/>
        </p:nvCxnSpPr>
        <p:spPr>
          <a:xfrm>
            <a:off x="7480000" y="396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7480000" y="402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87" name="TextBox 86"/>
          <p:cNvSpPr txBox="1"/>
          <p:nvPr/>
        </p:nvSpPr>
        <p:spPr>
          <a:xfrm>
            <a:off x="7720000" y="402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Granularidad</a:t>
            </a:r>
          </a:p>
        </p:txBody>
      </p:sp>
      <p:sp>
        <p:nvSpPr>
          <p:cNvPr id="88" name="TextBox 87"/>
          <p:cNvSpPr txBox="1"/>
          <p:nvPr/>
        </p:nvSpPr>
        <p:spPr>
          <a:xfrm>
            <a:off x="7720000" y="428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Declarada por hecho, encima de cada CREATE TABLE. La matrícula conserva el semestre en vez de anclarlo al semestre I.</a:t>
            </a:r>
          </a:p>
        </p:txBody>
      </p:sp>
      <p:cxnSp>
        <p:nvCxnSpPr>
          <p:cNvPr id="89" name="Connector 88"/>
          <p:cNvCxnSpPr/>
          <p:nvPr/>
        </p:nvCxnSpPr>
        <p:spPr>
          <a:xfrm>
            <a:off x="7480000" y="500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7480000" y="506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91" name="TextBox 90"/>
          <p:cNvSpPr txBox="1"/>
          <p:nvPr/>
        </p:nvSpPr>
        <p:spPr>
          <a:xfrm>
            <a:off x="7720000" y="506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Dimensiones compartidas y relaciones</a:t>
            </a:r>
          </a:p>
        </p:txBody>
      </p:sp>
      <p:sp>
        <p:nvSpPr>
          <p:cNvPr id="92" name="TextBox 91"/>
          <p:cNvSpPr txBox="1"/>
          <p:nvPr/>
        </p:nvSpPr>
        <p:spPr>
          <a:xfrm>
            <a:off x="7720000" y="532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25 relaciones verificadas en Power BI: llaves únicas, 0 filas huérfanas, y cada filtro llega solo a los hechos que debe.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430000"/>
            <a:ext cx="10672000" cy="260000"/>
          </a:xfrm>
          <a:prstGeom prst="rect">
            <a:avLst/>
          </a:prstGeom>
          <a:noFill/>
        </p:spPr>
        <p:txBody>
          <a:bodyPr wrap="square" lIns="0" rIns="0" tIns="0" bIns="0">
            <a:spAutoFit/>
          </a:bodyPr>
          <a:lstStyle/>
          <a:p>
            <a:pPr algn="l">
              <a:lnSpc>
                <a:spcPct val="130000"/>
              </a:lnSpc>
            </a:pPr>
            <a:r>
              <a:rPr sz="1000" b="0" i="0">
                <a:solidFill>
                  <a:srgbClr val="A8452F"/>
                </a:solidFill>
                <a:latin typeface="Segoe UI"/>
              </a:rPr>
              <a:t>3.4 · Medidas DAX</a:t>
            </a:r>
          </a:p>
        </p:txBody>
      </p:sp>
      <p:sp>
        <p:nvSpPr>
          <p:cNvPr id="3" name="TextBox 2"/>
          <p:cNvSpPr txBox="1"/>
          <p:nvPr/>
        </p:nvSpPr>
        <p:spPr>
          <a:xfrm>
            <a:off x="760000" y="700000"/>
            <a:ext cx="10600000" cy="520000"/>
          </a:xfrm>
          <a:prstGeom prst="rect">
            <a:avLst/>
          </a:prstGeom>
          <a:noFill/>
        </p:spPr>
        <p:txBody>
          <a:bodyPr wrap="square" lIns="0" rIns="0" tIns="0" bIns="0">
            <a:spAutoFit/>
          </a:bodyPr>
          <a:lstStyle/>
          <a:p>
            <a:pPr algn="l">
              <a:lnSpc>
                <a:spcPct val="130000"/>
              </a:lnSpc>
            </a:pPr>
            <a:r>
              <a:rPr sz="2300" b="0" i="0">
                <a:solidFill>
                  <a:srgbClr val="1A1A1A"/>
                </a:solidFill>
                <a:latin typeface="Georgia"/>
              </a:rPr>
              <a:t>79 medidas explícitas, verificadas contra el pipeline</a:t>
            </a:r>
          </a:p>
        </p:txBody>
      </p:sp>
      <p:sp>
        <p:nvSpPr>
          <p:cNvPr id="4" name="TextBox 3"/>
          <p:cNvSpPr txBox="1"/>
          <p:nvPr/>
        </p:nvSpPr>
        <p:spPr>
          <a:xfrm>
            <a:off x="760000" y="1210000"/>
            <a:ext cx="10400000" cy="560000"/>
          </a:xfrm>
          <a:prstGeom prst="rect">
            <a:avLst/>
          </a:prstGeom>
          <a:noFill/>
        </p:spPr>
        <p:txBody>
          <a:bodyPr wrap="square" lIns="0" rIns="0" tIns="0" bIns="0">
            <a:spAutoFit/>
          </a:bodyPr>
          <a:lstStyle/>
          <a:p>
            <a:pPr algn="l">
              <a:lnSpc>
                <a:spcPct val="130000"/>
              </a:lnSpc>
            </a:pPr>
            <a:r>
              <a:rPr sz="1100" b="0" i="0">
                <a:solidFill>
                  <a:srgbClr val="6B6560"/>
                </a:solidFill>
                <a:latin typeface="Segoe UI"/>
              </a:rPr>
              <a:t>Se piden variación interanual, participación en la universidad, ranking que responda a los filtros y CAGR o crecimiento acumulado, con buenas prácticas.</a:t>
            </a:r>
          </a:p>
        </p:txBody>
      </p:sp>
      <p:cxnSp>
        <p:nvCxnSpPr>
          <p:cNvPr id="5" name="Connector 4"/>
          <p:cNvCxnSpPr/>
          <p:nvPr/>
        </p:nvCxnSpPr>
        <p:spPr>
          <a:xfrm>
            <a:off x="760000" y="181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powerbi/medidas.csx · docs/catalogo_medidas.md · powerbi/modelo_tmdl</a:t>
            </a:r>
          </a:p>
        </p:txBody>
      </p:sp>
      <p:sp>
        <p:nvSpPr>
          <p:cNvPr id="8" name="TextBox 7"/>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5 / 13</a:t>
            </a:r>
          </a:p>
        </p:txBody>
      </p:sp>
      <p:cxnSp>
        <p:nvCxnSpPr>
          <p:cNvPr id="9" name="Connector 8"/>
          <p:cNvCxnSpPr/>
          <p:nvPr/>
        </p:nvCxnSpPr>
        <p:spPr>
          <a:xfrm>
            <a:off x="760000" y="1960000"/>
            <a:ext cx="6250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0000" y="2070000"/>
            <a:ext cx="1671594" cy="33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Requisito</a:t>
            </a:r>
          </a:p>
        </p:txBody>
      </p:sp>
      <p:sp>
        <p:nvSpPr>
          <p:cNvPr id="11" name="TextBox 10"/>
          <p:cNvSpPr txBox="1"/>
          <p:nvPr/>
        </p:nvSpPr>
        <p:spPr>
          <a:xfrm>
            <a:off x="2641594" y="2070000"/>
            <a:ext cx="1943333" cy="33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Medida</a:t>
            </a:r>
          </a:p>
        </p:txBody>
      </p:sp>
      <p:sp>
        <p:nvSpPr>
          <p:cNvPr id="12" name="TextBox 11"/>
          <p:cNvSpPr txBox="1"/>
          <p:nvPr/>
        </p:nvSpPr>
        <p:spPr>
          <a:xfrm>
            <a:off x="4724927" y="2070000"/>
            <a:ext cx="2215072" cy="33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Cómo responde a los filtros</a:t>
            </a:r>
          </a:p>
        </p:txBody>
      </p:sp>
      <p:cxnSp>
        <p:nvCxnSpPr>
          <p:cNvPr id="13" name="Connector 12"/>
          <p:cNvCxnSpPr/>
          <p:nvPr/>
        </p:nvCxnSpPr>
        <p:spPr>
          <a:xfrm>
            <a:off x="760000" y="2380000"/>
            <a:ext cx="625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30000" y="2480000"/>
            <a:ext cx="1671594" cy="33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Variación interanual</a:t>
            </a:r>
          </a:p>
        </p:txBody>
      </p:sp>
      <p:sp>
        <p:nvSpPr>
          <p:cNvPr id="15" name="TextBox 14"/>
          <p:cNvSpPr txBox="1"/>
          <p:nvPr/>
        </p:nvSpPr>
        <p:spPr>
          <a:xfrm>
            <a:off x="2641594" y="2480000"/>
            <a:ext cx="1943333" cy="33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Var. Matricula (abs) y (%)</a:t>
            </a:r>
          </a:p>
        </p:txBody>
      </p:sp>
      <p:sp>
        <p:nvSpPr>
          <p:cNvPr id="16" name="TextBox 15"/>
          <p:cNvSpPr txBox="1"/>
          <p:nvPr/>
        </p:nvSpPr>
        <p:spPr>
          <a:xfrm>
            <a:off x="4724927" y="2480000"/>
            <a:ext cx="2215072" cy="33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Las dos puntas fijadas a un año: el total no compara rangos</a:t>
            </a:r>
          </a:p>
        </p:txBody>
      </p:sp>
      <p:sp>
        <p:nvSpPr>
          <p:cNvPr id="17" name="TextBox 16"/>
          <p:cNvSpPr txBox="1"/>
          <p:nvPr/>
        </p:nvSpPr>
        <p:spPr>
          <a:xfrm>
            <a:off x="830000" y="2810000"/>
            <a:ext cx="1671594" cy="33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Participación en su universidad</a:t>
            </a:r>
          </a:p>
        </p:txBody>
      </p:sp>
      <p:sp>
        <p:nvSpPr>
          <p:cNvPr id="18" name="TextBox 17"/>
          <p:cNvSpPr txBox="1"/>
          <p:nvPr/>
        </p:nvSpPr>
        <p:spPr>
          <a:xfrm>
            <a:off x="2641594" y="2810000"/>
            <a:ext cx="1943333" cy="33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 Participacion en su Universidad</a:t>
            </a:r>
          </a:p>
        </p:txBody>
      </p:sp>
      <p:sp>
        <p:nvSpPr>
          <p:cNvPr id="19" name="TextBox 18"/>
          <p:cNvSpPr txBox="1"/>
          <p:nvPr/>
        </p:nvSpPr>
        <p:spPr>
          <a:xfrm>
            <a:off x="4724927" y="2810000"/>
            <a:ext cx="2215072" cy="33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TREATAS reimpone la universidad del programa</a:t>
            </a:r>
          </a:p>
        </p:txBody>
      </p:sp>
      <p:sp>
        <p:nvSpPr>
          <p:cNvPr id="20" name="TextBox 19"/>
          <p:cNvSpPr txBox="1"/>
          <p:nvPr/>
        </p:nvSpPr>
        <p:spPr>
          <a:xfrm>
            <a:off x="830000" y="3140000"/>
            <a:ext cx="1671594" cy="33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Ranking sensible a filtros</a:t>
            </a:r>
          </a:p>
        </p:txBody>
      </p:sp>
      <p:sp>
        <p:nvSpPr>
          <p:cNvPr id="21" name="TextBox 20"/>
          <p:cNvSpPr txBox="1"/>
          <p:nvPr/>
        </p:nvSpPr>
        <p:spPr>
          <a:xfrm>
            <a:off x="2641594" y="3140000"/>
            <a:ext cx="1943333" cy="33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Ranking Programa (+ inverso)</a:t>
            </a:r>
          </a:p>
        </p:txBody>
      </p:sp>
      <p:sp>
        <p:nvSpPr>
          <p:cNvPr id="22" name="TextBox 21"/>
          <p:cNvSpPr txBox="1"/>
          <p:nvPr/>
        </p:nvSpPr>
        <p:spPr>
          <a:xfrm>
            <a:off x="4724927" y="3140000"/>
            <a:ext cx="2215072" cy="33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ALLSELECTED, no ALL</a:t>
            </a:r>
          </a:p>
        </p:txBody>
      </p:sp>
      <p:sp>
        <p:nvSpPr>
          <p:cNvPr id="23" name="TextBox 22"/>
          <p:cNvSpPr txBox="1"/>
          <p:nvPr/>
        </p:nvSpPr>
        <p:spPr>
          <a:xfrm>
            <a:off x="830000" y="3470000"/>
            <a:ext cx="1671594" cy="33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CAGR o crecimiento acumulado</a:t>
            </a:r>
          </a:p>
        </p:txBody>
      </p:sp>
      <p:sp>
        <p:nvSpPr>
          <p:cNvPr id="24" name="TextBox 23"/>
          <p:cNvSpPr txBox="1"/>
          <p:nvPr/>
        </p:nvSpPr>
        <p:spPr>
          <a:xfrm>
            <a:off x="2641594" y="3470000"/>
            <a:ext cx="1943333" cy="33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CAGR Matricula · Crecimiento Acumulado %</a:t>
            </a:r>
          </a:p>
        </p:txBody>
      </p:sp>
      <p:sp>
        <p:nvSpPr>
          <p:cNvPr id="25" name="TextBox 24"/>
          <p:cNvSpPr txBox="1"/>
          <p:nvPr/>
        </p:nvSpPr>
        <p:spPr>
          <a:xfrm>
            <a:off x="4724927" y="3470000"/>
            <a:ext cx="2215072" cy="33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Primer y último año del rango elegido</a:t>
            </a:r>
          </a:p>
        </p:txBody>
      </p:sp>
      <p:cxnSp>
        <p:nvCxnSpPr>
          <p:cNvPr id="26" name="Connector 25"/>
          <p:cNvCxnSpPr/>
          <p:nvPr/>
        </p:nvCxnSpPr>
        <p:spPr>
          <a:xfrm>
            <a:off x="760000" y="3790000"/>
            <a:ext cx="6250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60000" y="4000000"/>
            <a:ext cx="6250000" cy="250000"/>
          </a:xfrm>
          <a:prstGeom prst="rect">
            <a:avLst/>
          </a:prstGeom>
          <a:noFill/>
        </p:spPr>
        <p:txBody>
          <a:bodyPr wrap="square" lIns="0" rIns="0" tIns="0" bIns="0">
            <a:spAutoFit/>
          </a:bodyPr>
          <a:lstStyle/>
          <a:p>
            <a:pPr algn="l">
              <a:lnSpc>
                <a:spcPct val="130000"/>
              </a:lnSpc>
            </a:pPr>
            <a:r>
              <a:rPr sz="950" b="1" i="0">
                <a:solidFill>
                  <a:srgbClr val="A8452F"/>
                </a:solidFill>
                <a:latin typeface="Segoe UI"/>
              </a:rPr>
              <a:t>CONSISTENCIA DE LOS INDICADORES</a:t>
            </a:r>
          </a:p>
        </p:txBody>
      </p:sp>
      <p:sp>
        <p:nvSpPr>
          <p:cNvPr id="28" name="TextBox 27"/>
          <p:cNvSpPr txBox="1"/>
          <p:nvPr/>
        </p:nvSpPr>
        <p:spPr>
          <a:xfrm>
            <a:off x="760000" y="4280000"/>
            <a:ext cx="150000" cy="240000"/>
          </a:xfrm>
          <a:prstGeom prst="rect">
            <a:avLst/>
          </a:prstGeom>
          <a:noFill/>
        </p:spPr>
        <p:txBody>
          <a:bodyPr wrap="square" lIns="0" rIns="0" tIns="0" bIns="0">
            <a:spAutoFit/>
          </a:bodyPr>
          <a:lstStyle/>
          <a:p>
            <a:pPr algn="l">
              <a:lnSpc>
                <a:spcPct val="130000"/>
              </a:lnSpc>
            </a:pPr>
            <a:r>
              <a:rPr sz="950" b="0" i="0">
                <a:solidFill>
                  <a:srgbClr val="A8452F"/>
                </a:solidFill>
                <a:latin typeface="Segoe UI"/>
              </a:rPr>
              <a:t>—</a:t>
            </a:r>
          </a:p>
        </p:txBody>
      </p:sp>
      <p:sp>
        <p:nvSpPr>
          <p:cNvPr id="29" name="TextBox 28"/>
          <p:cNvSpPr txBox="1"/>
          <p:nvPr/>
        </p:nvSpPr>
        <p:spPr>
          <a:xfrm>
            <a:off x="980000" y="4280000"/>
            <a:ext cx="6030000" cy="56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Stock contra flujo: la matrícula devuelve el último año, no la suma. Sumar 2021–2025 daba 52 864 para la UCSP; el valor es 9 188.</a:t>
            </a:r>
          </a:p>
        </p:txBody>
      </p:sp>
      <p:sp>
        <p:nvSpPr>
          <p:cNvPr id="30" name="TextBox 29"/>
          <p:cNvSpPr txBox="1"/>
          <p:nvPr/>
        </p:nvSpPr>
        <p:spPr>
          <a:xfrm>
            <a:off x="760000" y="4840000"/>
            <a:ext cx="150000" cy="240000"/>
          </a:xfrm>
          <a:prstGeom prst="rect">
            <a:avLst/>
          </a:prstGeom>
          <a:noFill/>
        </p:spPr>
        <p:txBody>
          <a:bodyPr wrap="square" lIns="0" rIns="0" tIns="0" bIns="0">
            <a:spAutoFit/>
          </a:bodyPr>
          <a:lstStyle/>
          <a:p>
            <a:pPr algn="l">
              <a:lnSpc>
                <a:spcPct val="130000"/>
              </a:lnSpc>
            </a:pPr>
            <a:r>
              <a:rPr sz="950" b="0" i="0">
                <a:solidFill>
                  <a:srgbClr val="A8452F"/>
                </a:solidFill>
                <a:latin typeface="Segoe UI"/>
              </a:rPr>
              <a:t>—</a:t>
            </a:r>
          </a:p>
        </p:txBody>
      </p:sp>
      <p:sp>
        <p:nvSpPr>
          <p:cNvPr id="31" name="TextBox 30"/>
          <p:cNvSpPr txBox="1"/>
          <p:nvPr/>
        </p:nvSpPr>
        <p:spPr>
          <a:xfrm>
            <a:off x="980000" y="4840000"/>
            <a:ext cx="6030000" cy="56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Comparadores que respetan la gestión, y cocientes entre fuentes sobre universidades que reportan las dos.</a:t>
            </a:r>
          </a:p>
        </p:txBody>
      </p:sp>
      <p:sp>
        <p:nvSpPr>
          <p:cNvPr id="32" name="TextBox 31"/>
          <p:cNvSpPr txBox="1"/>
          <p:nvPr/>
        </p:nvSpPr>
        <p:spPr>
          <a:xfrm>
            <a:off x="760000" y="5400000"/>
            <a:ext cx="150000" cy="240000"/>
          </a:xfrm>
          <a:prstGeom prst="rect">
            <a:avLst/>
          </a:prstGeom>
          <a:noFill/>
        </p:spPr>
        <p:txBody>
          <a:bodyPr wrap="square" lIns="0" rIns="0" tIns="0" bIns="0">
            <a:spAutoFit/>
          </a:bodyPr>
          <a:lstStyle/>
          <a:p>
            <a:pPr algn="l">
              <a:lnSpc>
                <a:spcPct val="130000"/>
              </a:lnSpc>
            </a:pPr>
            <a:r>
              <a:rPr sz="950" b="0" i="0">
                <a:solidFill>
                  <a:srgbClr val="A8452F"/>
                </a:solidFill>
                <a:latin typeface="Segoe UI"/>
              </a:rPr>
              <a:t>—</a:t>
            </a:r>
          </a:p>
        </p:txBody>
      </p:sp>
      <p:sp>
        <p:nvSpPr>
          <p:cNvPr id="33" name="TextBox 32"/>
          <p:cNvSpPr txBox="1"/>
          <p:nvPr/>
        </p:nvSpPr>
        <p:spPr>
          <a:xfrm>
            <a:off x="980000" y="5400000"/>
            <a:ext cx="6030000" cy="56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Guardas de grano: si un filtro mezclaría granos, la medida devuelve BLANK en vez de un número falso.</a:t>
            </a:r>
          </a:p>
        </p:txBody>
      </p:sp>
      <p:sp>
        <p:nvSpPr>
          <p:cNvPr id="34" name="Rectangle 33"/>
          <p:cNvSpPr/>
          <p:nvPr/>
        </p:nvSpPr>
        <p:spPr>
          <a:xfrm>
            <a:off x="7300000" y="1900000"/>
            <a:ext cx="4130000" cy="4300000"/>
          </a:xfrm>
          <a:prstGeom prst="rect">
            <a:avLst/>
          </a:prstGeom>
          <a:noFill/>
          <a:ln w="9525">
            <a:solidFill>
              <a:srgbClr val="D8D2CA"/>
            </a:solidFill>
          </a:ln>
          <a:effectLst/>
        </p:spPr>
        <p:txBody>
          <a:bodyPr rtlCol="0" anchor="ctr"/>
          <a:lstStyle/>
          <a:p>
            <a:pPr algn="ctr"/>
          </a:p>
        </p:txBody>
      </p:sp>
      <p:sp>
        <p:nvSpPr>
          <p:cNvPr id="35" name="TextBox 34"/>
          <p:cNvSpPr txBox="1"/>
          <p:nvPr/>
        </p:nvSpPr>
        <p:spPr>
          <a:xfrm>
            <a:off x="7480000" y="2040000"/>
            <a:ext cx="4130000" cy="250000"/>
          </a:xfrm>
          <a:prstGeom prst="rect">
            <a:avLst/>
          </a:prstGeom>
          <a:noFill/>
        </p:spPr>
        <p:txBody>
          <a:bodyPr wrap="square" lIns="0" rIns="0" tIns="0" bIns="0">
            <a:spAutoFit/>
          </a:bodyPr>
          <a:lstStyle/>
          <a:p>
            <a:pPr algn="l">
              <a:lnSpc>
                <a:spcPct val="130000"/>
              </a:lnSpc>
            </a:pPr>
            <a:r>
              <a:rPr sz="950" b="1" i="0">
                <a:solidFill>
                  <a:srgbClr val="3D6B4A"/>
                </a:solidFill>
                <a:latin typeface="Segoe UI"/>
              </a:rPr>
              <a:t>CÓMO SE CUMPLE EL CRITERIO</a:t>
            </a:r>
          </a:p>
        </p:txBody>
      </p:sp>
      <p:sp>
        <p:nvSpPr>
          <p:cNvPr id="36" name="TextBox 35"/>
          <p:cNvSpPr txBox="1"/>
          <p:nvPr/>
        </p:nvSpPr>
        <p:spPr>
          <a:xfrm>
            <a:off x="7480000" y="2320000"/>
            <a:ext cx="2930000" cy="520000"/>
          </a:xfrm>
          <a:prstGeom prst="rect">
            <a:avLst/>
          </a:prstGeom>
          <a:noFill/>
        </p:spPr>
        <p:txBody>
          <a:bodyPr wrap="square" lIns="0" rIns="0" tIns="0" bIns="0">
            <a:spAutoFit/>
          </a:bodyPr>
          <a:lstStyle/>
          <a:p>
            <a:pPr algn="l">
              <a:lnSpc>
                <a:spcPct val="110000"/>
              </a:lnSpc>
            </a:pPr>
            <a:r>
              <a:rPr sz="1300" b="0" i="0">
                <a:solidFill>
                  <a:srgbClr val="1A1A1A"/>
                </a:solidFill>
                <a:latin typeface="Georgia"/>
              </a:rPr>
              <a:t>Medidas DAX</a:t>
            </a:r>
          </a:p>
        </p:txBody>
      </p:sp>
      <p:sp>
        <p:nvSpPr>
          <p:cNvPr id="37" name="TextBox 36"/>
          <p:cNvSpPr txBox="1"/>
          <p:nvPr/>
        </p:nvSpPr>
        <p:spPr>
          <a:xfrm>
            <a:off x="10430000" y="2280000"/>
            <a:ext cx="830000" cy="420000"/>
          </a:xfrm>
          <a:prstGeom prst="rect">
            <a:avLst/>
          </a:prstGeom>
          <a:noFill/>
        </p:spPr>
        <p:txBody>
          <a:bodyPr wrap="square" lIns="0" rIns="0" tIns="0" bIns="0">
            <a:spAutoFit/>
          </a:bodyPr>
          <a:lstStyle/>
          <a:p>
            <a:pPr algn="r">
              <a:lnSpc>
                <a:spcPct val="130000"/>
              </a:lnSpc>
            </a:pPr>
            <a:r>
              <a:rPr sz="2000" b="0" i="0">
                <a:solidFill>
                  <a:srgbClr val="A8452F"/>
                </a:solidFill>
                <a:latin typeface="Georgia"/>
              </a:rPr>
              <a:t>15 %</a:t>
            </a:r>
          </a:p>
        </p:txBody>
      </p:sp>
      <p:cxnSp>
        <p:nvCxnSpPr>
          <p:cNvPr id="38" name="Connector 37"/>
          <p:cNvCxnSpPr/>
          <p:nvPr/>
        </p:nvCxnSpPr>
        <p:spPr>
          <a:xfrm>
            <a:off x="7480000" y="292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480000" y="298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40" name="TextBox 39"/>
          <p:cNvSpPr txBox="1"/>
          <p:nvPr/>
        </p:nvSpPr>
        <p:spPr>
          <a:xfrm>
            <a:off x="7720000" y="298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Corrección</a:t>
            </a:r>
          </a:p>
        </p:txBody>
      </p:sp>
      <p:sp>
        <p:nvSpPr>
          <p:cNvPr id="41" name="TextBox 40"/>
          <p:cNvSpPr txBox="1"/>
          <p:nvPr/>
        </p:nvSpPr>
        <p:spPr>
          <a:xfrm>
            <a:off x="7720000" y="324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Cada cifra clave se consultó por DAX en el modelo y se contrastó con el SQL del pipeline.</a:t>
            </a:r>
          </a:p>
        </p:txBody>
      </p:sp>
      <p:cxnSp>
        <p:nvCxnSpPr>
          <p:cNvPr id="42" name="Connector 41"/>
          <p:cNvCxnSpPr/>
          <p:nvPr/>
        </p:nvCxnSpPr>
        <p:spPr>
          <a:xfrm>
            <a:off x="7480000" y="396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480000" y="402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44" name="TextBox 43"/>
          <p:cNvSpPr txBox="1"/>
          <p:nvPr/>
        </p:nvSpPr>
        <p:spPr>
          <a:xfrm>
            <a:off x="7720000" y="402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Consistencia con los filtros</a:t>
            </a:r>
          </a:p>
        </p:txBody>
      </p:sp>
      <p:sp>
        <p:nvSpPr>
          <p:cNvPr id="45" name="TextBox 44"/>
          <p:cNvSpPr txBox="1"/>
          <p:nvPr/>
        </p:nvSpPr>
        <p:spPr>
          <a:xfrm>
            <a:off x="7720000" y="428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Matriz de propagación probada en los 7 hechos. Los titulares de página son medidas que cambian con los filtros.</a:t>
            </a:r>
          </a:p>
        </p:txBody>
      </p:sp>
      <p:cxnSp>
        <p:nvCxnSpPr>
          <p:cNvPr id="46" name="Connector 45"/>
          <p:cNvCxnSpPr/>
          <p:nvPr/>
        </p:nvCxnSpPr>
        <p:spPr>
          <a:xfrm>
            <a:off x="7480000" y="500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480000" y="506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48" name="TextBox 47"/>
          <p:cNvSpPr txBox="1"/>
          <p:nvPr/>
        </p:nvSpPr>
        <p:spPr>
          <a:xfrm>
            <a:off x="7720000" y="506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Buenas prácticas</a:t>
            </a:r>
          </a:p>
        </p:txBody>
      </p:sp>
      <p:sp>
        <p:nvSpPr>
          <p:cNvPr id="49" name="TextBox 48"/>
          <p:cNvSpPr txBox="1"/>
          <p:nvPr/>
        </p:nvSpPr>
        <p:spPr>
          <a:xfrm>
            <a:off x="7720000" y="532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Medidas explícitas en una tabla propia, en 13 carpetas. VAR, DIVIDE, REMOVEFILTERS y formatos. Medidas implícitas desactivadas en el modelo.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430000"/>
            <a:ext cx="10672000" cy="260000"/>
          </a:xfrm>
          <a:prstGeom prst="rect">
            <a:avLst/>
          </a:prstGeom>
          <a:noFill/>
        </p:spPr>
        <p:txBody>
          <a:bodyPr wrap="square" lIns="0" rIns="0" tIns="0" bIns="0">
            <a:spAutoFit/>
          </a:bodyPr>
          <a:lstStyle/>
          <a:p>
            <a:pPr algn="l">
              <a:lnSpc>
                <a:spcPct val="130000"/>
              </a:lnSpc>
            </a:pPr>
            <a:r>
              <a:rPr sz="1000" b="0" i="0">
                <a:solidFill>
                  <a:srgbClr val="A8452F"/>
                </a:solidFill>
                <a:latin typeface="Segoe UI"/>
              </a:rPr>
              <a:t>3.5 · Componente estadístico</a:t>
            </a:r>
          </a:p>
        </p:txBody>
      </p:sp>
      <p:sp>
        <p:nvSpPr>
          <p:cNvPr id="3" name="TextBox 2"/>
          <p:cNvSpPr txBox="1"/>
          <p:nvPr/>
        </p:nvSpPr>
        <p:spPr>
          <a:xfrm>
            <a:off x="760000" y="700000"/>
            <a:ext cx="10600000" cy="520000"/>
          </a:xfrm>
          <a:prstGeom prst="rect">
            <a:avLst/>
          </a:prstGeom>
          <a:noFill/>
        </p:spPr>
        <p:txBody>
          <a:bodyPr wrap="square" lIns="0" rIns="0" tIns="0" bIns="0">
            <a:spAutoFit/>
          </a:bodyPr>
          <a:lstStyle/>
          <a:p>
            <a:pPr algn="l">
              <a:lnSpc>
                <a:spcPct val="130000"/>
              </a:lnSpc>
            </a:pPr>
            <a:r>
              <a:rPr sz="2300" b="0" i="0">
                <a:solidFill>
                  <a:srgbClr val="1A1A1A"/>
                </a:solidFill>
                <a:latin typeface="Georgia"/>
              </a:rPr>
              <a:t>Una regresión sobre ingreso y matrícula, porque la matrícula sola engaña</a:t>
            </a:r>
          </a:p>
        </p:txBody>
      </p:sp>
      <p:sp>
        <p:nvSpPr>
          <p:cNvPr id="4" name="TextBox 3"/>
          <p:cNvSpPr txBox="1"/>
          <p:nvPr/>
        </p:nvSpPr>
        <p:spPr>
          <a:xfrm>
            <a:off x="760000" y="1210000"/>
            <a:ext cx="10400000" cy="560000"/>
          </a:xfrm>
          <a:prstGeom prst="rect">
            <a:avLst/>
          </a:prstGeom>
          <a:noFill/>
        </p:spPr>
        <p:txBody>
          <a:bodyPr wrap="square" lIns="0" rIns="0" tIns="0" bIns="0">
            <a:spAutoFit/>
          </a:bodyPr>
          <a:lstStyle/>
          <a:p>
            <a:pPr algn="l">
              <a:lnSpc>
                <a:spcPct val="130000"/>
              </a:lnSpc>
            </a:pPr>
            <a:r>
              <a:rPr sz="1100" b="0" i="0">
                <a:solidFill>
                  <a:srgbClr val="6B6560"/>
                </a:solidFill>
                <a:latin typeface="Segoe UI"/>
              </a:rPr>
              <a:t>Se pide al menos una técnica que aporte a las preguntas, por qué se eligió y cuáles son sus limitaciones.</a:t>
            </a:r>
          </a:p>
        </p:txBody>
      </p:sp>
      <p:cxnSp>
        <p:nvCxnSpPr>
          <p:cNvPr id="5" name="Connector 4"/>
          <p:cNvCxnSpPr/>
          <p:nvPr/>
        </p:nvCxnSpPr>
        <p:spPr>
          <a:xfrm>
            <a:off x="760000" y="157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04_tendencias.py · docs/componente_estadistico.md · dim_tendencia_programa</a:t>
            </a:r>
          </a:p>
        </p:txBody>
      </p:sp>
      <p:sp>
        <p:nvSpPr>
          <p:cNvPr id="8" name="TextBox 7"/>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6 / 13</a:t>
            </a:r>
          </a:p>
        </p:txBody>
      </p:sp>
      <p:sp>
        <p:nvSpPr>
          <p:cNvPr id="9" name="TextBox 8"/>
          <p:cNvSpPr txBox="1"/>
          <p:nvPr/>
        </p:nvSpPr>
        <p:spPr>
          <a:xfrm>
            <a:off x="760000" y="1960000"/>
            <a:ext cx="6250000" cy="700000"/>
          </a:xfrm>
          <a:prstGeom prst="rect">
            <a:avLst/>
          </a:prstGeom>
          <a:noFill/>
        </p:spPr>
        <p:txBody>
          <a:bodyPr wrap="square" lIns="0" rIns="0" tIns="0" bIns="0">
            <a:spAutoFit/>
          </a:bodyPr>
          <a:lstStyle/>
          <a:p>
            <a:pPr algn="l">
              <a:lnSpc>
                <a:spcPct val="130000"/>
              </a:lnSpc>
            </a:pPr>
            <a:r>
              <a:rPr sz="1000" b="0" i="0">
                <a:solidFill>
                  <a:srgbClr val="3D3A36"/>
                </a:solidFill>
                <a:latin typeface="Segoe UI"/>
              </a:rPr>
              <a:t>Regresión lineal de log(y) contra el año, 2021–2025, por programa, sobre ingresantes y sobre matrícula. La pendiente es el crecimiento anual compuesto. Tendencia sostenida: 4 años o más, p &lt; 0,05 y |CAGR| ≥ 3 %.</a:t>
            </a:r>
          </a:p>
        </p:txBody>
      </p:sp>
      <p:cxnSp>
        <p:nvCxnSpPr>
          <p:cNvPr id="10" name="Connector 9"/>
          <p:cNvCxnSpPr/>
          <p:nvPr/>
        </p:nvCxnSpPr>
        <p:spPr>
          <a:xfrm>
            <a:off x="760000" y="2780000"/>
            <a:ext cx="6250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30000" y="2890000"/>
            <a:ext cx="2661724" cy="270000"/>
          </a:xfrm>
          <a:prstGeom prst="rect">
            <a:avLst/>
          </a:prstGeom>
          <a:noFill/>
        </p:spPr>
        <p:txBody>
          <a:bodyPr wrap="square" lIns="0" rIns="0" tIns="0" bIns="0">
            <a:spAutoFit/>
          </a:bodyPr>
          <a:lstStyle/>
          <a:p>
            <a:pPr algn="l">
              <a:lnSpc>
                <a:spcPct val="115000"/>
              </a:lnSpc>
            </a:pPr>
            <a:r>
              <a:rPr sz="900" b="1" i="0">
                <a:solidFill>
                  <a:srgbClr val="1A1A1A"/>
                </a:solidFill>
                <a:latin typeface="Segoe UI"/>
              </a:rPr>
              <a:t>Arquitectura y Urbanismo (UCSP)</a:t>
            </a:r>
          </a:p>
        </p:txBody>
      </p:sp>
      <p:sp>
        <p:nvSpPr>
          <p:cNvPr id="12" name="TextBox 11"/>
          <p:cNvSpPr txBox="1"/>
          <p:nvPr/>
        </p:nvSpPr>
        <p:spPr>
          <a:xfrm>
            <a:off x="3631724" y="2890000"/>
            <a:ext cx="1584137" cy="270000"/>
          </a:xfrm>
          <a:prstGeom prst="rect">
            <a:avLst/>
          </a:prstGeom>
          <a:noFill/>
        </p:spPr>
        <p:txBody>
          <a:bodyPr wrap="square" lIns="0" rIns="0" tIns="0" bIns="0">
            <a:spAutoFit/>
          </a:bodyPr>
          <a:lstStyle/>
          <a:p>
            <a:pPr algn="r">
              <a:lnSpc>
                <a:spcPct val="115000"/>
              </a:lnSpc>
            </a:pPr>
            <a:r>
              <a:rPr sz="900" b="1" i="0">
                <a:solidFill>
                  <a:srgbClr val="1A1A1A"/>
                </a:solidFill>
                <a:latin typeface="Segoe UI"/>
              </a:rPr>
              <a:t>Matrícula</a:t>
            </a:r>
          </a:p>
        </p:txBody>
      </p:sp>
      <p:sp>
        <p:nvSpPr>
          <p:cNvPr id="13" name="TextBox 12"/>
          <p:cNvSpPr txBox="1"/>
          <p:nvPr/>
        </p:nvSpPr>
        <p:spPr>
          <a:xfrm>
            <a:off x="5355861" y="2890000"/>
            <a:ext cx="1584137" cy="270000"/>
          </a:xfrm>
          <a:prstGeom prst="rect">
            <a:avLst/>
          </a:prstGeom>
          <a:noFill/>
        </p:spPr>
        <p:txBody>
          <a:bodyPr wrap="square" lIns="0" rIns="0" tIns="0" bIns="0">
            <a:spAutoFit/>
          </a:bodyPr>
          <a:lstStyle/>
          <a:p>
            <a:pPr algn="r">
              <a:lnSpc>
                <a:spcPct val="115000"/>
              </a:lnSpc>
            </a:pPr>
            <a:r>
              <a:rPr sz="900" b="1" i="0">
                <a:solidFill>
                  <a:srgbClr val="1A1A1A"/>
                </a:solidFill>
                <a:latin typeface="Segoe UI"/>
              </a:rPr>
              <a:t>Ingresantes</a:t>
            </a:r>
          </a:p>
        </p:txBody>
      </p:sp>
      <p:cxnSp>
        <p:nvCxnSpPr>
          <p:cNvPr id="14" name="Connector 13"/>
          <p:cNvCxnSpPr/>
          <p:nvPr/>
        </p:nvCxnSpPr>
        <p:spPr>
          <a:xfrm>
            <a:off x="760000" y="3140000"/>
            <a:ext cx="625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30000" y="3240000"/>
            <a:ext cx="2661724" cy="27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Crecimiento anual estimado</a:t>
            </a:r>
          </a:p>
        </p:txBody>
      </p:sp>
      <p:sp>
        <p:nvSpPr>
          <p:cNvPr id="16" name="TextBox 15"/>
          <p:cNvSpPr txBox="1"/>
          <p:nvPr/>
        </p:nvSpPr>
        <p:spPr>
          <a:xfrm>
            <a:off x="3631724" y="3240000"/>
            <a:ext cx="1584137" cy="270000"/>
          </a:xfrm>
          <a:prstGeom prst="rect">
            <a:avLst/>
          </a:prstGeom>
          <a:noFill/>
        </p:spPr>
        <p:txBody>
          <a:bodyPr wrap="square" lIns="0" rIns="0" tIns="0" bIns="0">
            <a:spAutoFit/>
          </a:bodyPr>
          <a:lstStyle/>
          <a:p>
            <a:pPr algn="r">
              <a:lnSpc>
                <a:spcPct val="115000"/>
              </a:lnSpc>
            </a:pPr>
            <a:r>
              <a:rPr sz="900" b="0" i="0">
                <a:solidFill>
                  <a:srgbClr val="3D3A36"/>
                </a:solidFill>
                <a:latin typeface="Segoe UI"/>
              </a:rPr>
              <a:t>+29,8 %</a:t>
            </a:r>
          </a:p>
        </p:txBody>
      </p:sp>
      <p:sp>
        <p:nvSpPr>
          <p:cNvPr id="17" name="TextBox 16"/>
          <p:cNvSpPr txBox="1"/>
          <p:nvPr/>
        </p:nvSpPr>
        <p:spPr>
          <a:xfrm>
            <a:off x="5355861" y="3240000"/>
            <a:ext cx="1584137" cy="270000"/>
          </a:xfrm>
          <a:prstGeom prst="rect">
            <a:avLst/>
          </a:prstGeom>
          <a:noFill/>
        </p:spPr>
        <p:txBody>
          <a:bodyPr wrap="square" lIns="0" rIns="0" tIns="0" bIns="0">
            <a:spAutoFit/>
          </a:bodyPr>
          <a:lstStyle/>
          <a:p>
            <a:pPr algn="r">
              <a:lnSpc>
                <a:spcPct val="115000"/>
              </a:lnSpc>
            </a:pPr>
            <a:r>
              <a:rPr sz="900" b="0" i="0">
                <a:solidFill>
                  <a:srgbClr val="3D3A36"/>
                </a:solidFill>
                <a:latin typeface="Segoe UI"/>
              </a:rPr>
              <a:t>−4,1 %</a:t>
            </a:r>
          </a:p>
        </p:txBody>
      </p:sp>
      <p:sp>
        <p:nvSpPr>
          <p:cNvPr id="18" name="TextBox 17"/>
          <p:cNvSpPr txBox="1"/>
          <p:nvPr/>
        </p:nvSpPr>
        <p:spPr>
          <a:xfrm>
            <a:off x="830000" y="3510000"/>
            <a:ext cx="2661724" cy="27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p-valor</a:t>
            </a:r>
          </a:p>
        </p:txBody>
      </p:sp>
      <p:sp>
        <p:nvSpPr>
          <p:cNvPr id="19" name="TextBox 18"/>
          <p:cNvSpPr txBox="1"/>
          <p:nvPr/>
        </p:nvSpPr>
        <p:spPr>
          <a:xfrm>
            <a:off x="3631724" y="3510000"/>
            <a:ext cx="1584137" cy="270000"/>
          </a:xfrm>
          <a:prstGeom prst="rect">
            <a:avLst/>
          </a:prstGeom>
          <a:noFill/>
        </p:spPr>
        <p:txBody>
          <a:bodyPr wrap="square" lIns="0" rIns="0" tIns="0" bIns="0">
            <a:spAutoFit/>
          </a:bodyPr>
          <a:lstStyle/>
          <a:p>
            <a:pPr algn="r">
              <a:lnSpc>
                <a:spcPct val="115000"/>
              </a:lnSpc>
            </a:pPr>
            <a:r>
              <a:rPr sz="900" b="0" i="0">
                <a:solidFill>
                  <a:srgbClr val="3D3A36"/>
                </a:solidFill>
                <a:latin typeface="Segoe UI"/>
              </a:rPr>
              <a:t>0,002</a:t>
            </a:r>
          </a:p>
        </p:txBody>
      </p:sp>
      <p:sp>
        <p:nvSpPr>
          <p:cNvPr id="20" name="TextBox 19"/>
          <p:cNvSpPr txBox="1"/>
          <p:nvPr/>
        </p:nvSpPr>
        <p:spPr>
          <a:xfrm>
            <a:off x="5355861" y="3510000"/>
            <a:ext cx="1584137" cy="270000"/>
          </a:xfrm>
          <a:prstGeom prst="rect">
            <a:avLst/>
          </a:prstGeom>
          <a:noFill/>
        </p:spPr>
        <p:txBody>
          <a:bodyPr wrap="square" lIns="0" rIns="0" tIns="0" bIns="0">
            <a:spAutoFit/>
          </a:bodyPr>
          <a:lstStyle/>
          <a:p>
            <a:pPr algn="r">
              <a:lnSpc>
                <a:spcPct val="115000"/>
              </a:lnSpc>
            </a:pPr>
            <a:r>
              <a:rPr sz="900" b="0" i="0">
                <a:solidFill>
                  <a:srgbClr val="3D3A36"/>
                </a:solidFill>
                <a:latin typeface="Segoe UI"/>
              </a:rPr>
              <a:t>0,012</a:t>
            </a:r>
          </a:p>
        </p:txBody>
      </p:sp>
      <p:sp>
        <p:nvSpPr>
          <p:cNvPr id="21" name="TextBox 20"/>
          <p:cNvSpPr txBox="1"/>
          <p:nvPr/>
        </p:nvSpPr>
        <p:spPr>
          <a:xfrm>
            <a:off x="830000" y="3780000"/>
            <a:ext cx="2661724" cy="27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Con una sola serie diría…</a:t>
            </a:r>
          </a:p>
        </p:txBody>
      </p:sp>
      <p:sp>
        <p:nvSpPr>
          <p:cNvPr id="22" name="TextBox 21"/>
          <p:cNvSpPr txBox="1"/>
          <p:nvPr/>
        </p:nvSpPr>
        <p:spPr>
          <a:xfrm>
            <a:off x="3631724" y="3780000"/>
            <a:ext cx="1584137" cy="270000"/>
          </a:xfrm>
          <a:prstGeom prst="rect">
            <a:avLst/>
          </a:prstGeom>
          <a:noFill/>
        </p:spPr>
        <p:txBody>
          <a:bodyPr wrap="square" lIns="0" rIns="0" tIns="0" bIns="0">
            <a:spAutoFit/>
          </a:bodyPr>
          <a:lstStyle/>
          <a:p>
            <a:pPr algn="r">
              <a:lnSpc>
                <a:spcPct val="115000"/>
              </a:lnSpc>
            </a:pPr>
            <a:r>
              <a:rPr sz="900" b="0" i="0">
                <a:solidFill>
                  <a:srgbClr val="3D3A36"/>
                </a:solidFill>
                <a:latin typeface="Segoe UI"/>
              </a:rPr>
              <a:t>crecimiento sostenido</a:t>
            </a:r>
          </a:p>
        </p:txBody>
      </p:sp>
      <p:sp>
        <p:nvSpPr>
          <p:cNvPr id="23" name="TextBox 22"/>
          <p:cNvSpPr txBox="1"/>
          <p:nvPr/>
        </p:nvSpPr>
        <p:spPr>
          <a:xfrm>
            <a:off x="5355861" y="3780000"/>
            <a:ext cx="1584137" cy="270000"/>
          </a:xfrm>
          <a:prstGeom prst="rect">
            <a:avLst/>
          </a:prstGeom>
          <a:noFill/>
        </p:spPr>
        <p:txBody>
          <a:bodyPr wrap="square" lIns="0" rIns="0" tIns="0" bIns="0">
            <a:spAutoFit/>
          </a:bodyPr>
          <a:lstStyle/>
          <a:p>
            <a:pPr algn="r">
              <a:lnSpc>
                <a:spcPct val="115000"/>
              </a:lnSpc>
            </a:pPr>
            <a:r>
              <a:rPr sz="900" b="0" i="0">
                <a:solidFill>
                  <a:srgbClr val="3D3A36"/>
                </a:solidFill>
                <a:latin typeface="Segoe UI"/>
              </a:rPr>
              <a:t>caída sostenida</a:t>
            </a:r>
          </a:p>
        </p:txBody>
      </p:sp>
      <p:cxnSp>
        <p:nvCxnSpPr>
          <p:cNvPr id="24" name="Connector 23"/>
          <p:cNvCxnSpPr/>
          <p:nvPr/>
        </p:nvCxnSpPr>
        <p:spPr>
          <a:xfrm>
            <a:off x="760000" y="4040000"/>
            <a:ext cx="6250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60000" y="4100000"/>
            <a:ext cx="6250000" cy="60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La matrícula es un stock que acumula cohortes: un programa abierto en 2020 crece aunque su ingreso caiga. Por eso la lectura cruza las dos series y manda el ingreso, que es el indicador adelantado.</a:t>
            </a:r>
          </a:p>
        </p:txBody>
      </p:sp>
      <p:sp>
        <p:nvSpPr>
          <p:cNvPr id="26" name="TextBox 25"/>
          <p:cNvSpPr txBox="1"/>
          <p:nvPr/>
        </p:nvSpPr>
        <p:spPr>
          <a:xfrm>
            <a:off x="760000" y="4800000"/>
            <a:ext cx="6250000" cy="250000"/>
          </a:xfrm>
          <a:prstGeom prst="rect">
            <a:avLst/>
          </a:prstGeom>
          <a:noFill/>
        </p:spPr>
        <p:txBody>
          <a:bodyPr wrap="square" lIns="0" rIns="0" tIns="0" bIns="0">
            <a:spAutoFit/>
          </a:bodyPr>
          <a:lstStyle/>
          <a:p>
            <a:pPr algn="l">
              <a:lnSpc>
                <a:spcPct val="130000"/>
              </a:lnSpc>
            </a:pPr>
            <a:r>
              <a:rPr sz="950" b="1" i="0">
                <a:solidFill>
                  <a:srgbClr val="A8452F"/>
                </a:solidFill>
                <a:latin typeface="Segoe UI"/>
              </a:rPr>
              <a:t>RESULTADO EN LOS PROGRAMAS DE LA UCSP</a:t>
            </a:r>
          </a:p>
        </p:txBody>
      </p:sp>
      <p:sp>
        <p:nvSpPr>
          <p:cNvPr id="27" name="TextBox 26"/>
          <p:cNvSpPr txBox="1"/>
          <p:nvPr/>
        </p:nvSpPr>
        <p:spPr>
          <a:xfrm>
            <a:off x="760000" y="5080000"/>
            <a:ext cx="6250000" cy="90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Crecimiento confirmado: 0 · caída confirmada: 2 · alerta (cae el ingreso): 1 · crece la matrícula, no el ingreso: 4 · cae la matrícula, no el ingreso: 2 · sin tendencia sostenida: 3.</a:t>
            </a:r>
          </a:p>
        </p:txBody>
      </p:sp>
      <p:sp>
        <p:nvSpPr>
          <p:cNvPr id="28" name="Rectangle 27"/>
          <p:cNvSpPr/>
          <p:nvPr/>
        </p:nvSpPr>
        <p:spPr>
          <a:xfrm>
            <a:off x="7300000" y="1900000"/>
            <a:ext cx="4130000" cy="4300000"/>
          </a:xfrm>
          <a:prstGeom prst="rect">
            <a:avLst/>
          </a:prstGeom>
          <a:noFill/>
          <a:ln w="9525">
            <a:solidFill>
              <a:srgbClr val="D8D2CA"/>
            </a:solidFill>
          </a:ln>
          <a:effectLst/>
        </p:spPr>
        <p:txBody>
          <a:bodyPr rtlCol="0" anchor="ctr"/>
          <a:lstStyle/>
          <a:p>
            <a:pPr algn="ctr"/>
          </a:p>
        </p:txBody>
      </p:sp>
      <p:sp>
        <p:nvSpPr>
          <p:cNvPr id="29" name="TextBox 28"/>
          <p:cNvSpPr txBox="1"/>
          <p:nvPr/>
        </p:nvSpPr>
        <p:spPr>
          <a:xfrm>
            <a:off x="7480000" y="2040000"/>
            <a:ext cx="4130000" cy="250000"/>
          </a:xfrm>
          <a:prstGeom prst="rect">
            <a:avLst/>
          </a:prstGeom>
          <a:noFill/>
        </p:spPr>
        <p:txBody>
          <a:bodyPr wrap="square" lIns="0" rIns="0" tIns="0" bIns="0">
            <a:spAutoFit/>
          </a:bodyPr>
          <a:lstStyle/>
          <a:p>
            <a:pPr algn="l">
              <a:lnSpc>
                <a:spcPct val="130000"/>
              </a:lnSpc>
            </a:pPr>
            <a:r>
              <a:rPr sz="950" b="1" i="0">
                <a:solidFill>
                  <a:srgbClr val="3D6B4A"/>
                </a:solidFill>
                <a:latin typeface="Segoe UI"/>
              </a:rPr>
              <a:t>CÓMO SE CUMPLE EL CRITERIO</a:t>
            </a:r>
          </a:p>
        </p:txBody>
      </p:sp>
      <p:sp>
        <p:nvSpPr>
          <p:cNvPr id="30" name="TextBox 29"/>
          <p:cNvSpPr txBox="1"/>
          <p:nvPr/>
        </p:nvSpPr>
        <p:spPr>
          <a:xfrm>
            <a:off x="7480000" y="2320000"/>
            <a:ext cx="2930000" cy="520000"/>
          </a:xfrm>
          <a:prstGeom prst="rect">
            <a:avLst/>
          </a:prstGeom>
          <a:noFill/>
        </p:spPr>
        <p:txBody>
          <a:bodyPr wrap="square" lIns="0" rIns="0" tIns="0" bIns="0">
            <a:spAutoFit/>
          </a:bodyPr>
          <a:lstStyle/>
          <a:p>
            <a:pPr algn="l">
              <a:lnSpc>
                <a:spcPct val="110000"/>
              </a:lnSpc>
            </a:pPr>
            <a:r>
              <a:rPr sz="1300" b="0" i="0">
                <a:solidFill>
                  <a:srgbClr val="1A1A1A"/>
                </a:solidFill>
                <a:latin typeface="Georgia"/>
              </a:rPr>
              <a:t>Análisis · componente estadístico</a:t>
            </a:r>
          </a:p>
        </p:txBody>
      </p:sp>
      <p:sp>
        <p:nvSpPr>
          <p:cNvPr id="31" name="TextBox 30"/>
          <p:cNvSpPr txBox="1"/>
          <p:nvPr/>
        </p:nvSpPr>
        <p:spPr>
          <a:xfrm>
            <a:off x="10430000" y="2280000"/>
            <a:ext cx="830000" cy="420000"/>
          </a:xfrm>
          <a:prstGeom prst="rect">
            <a:avLst/>
          </a:prstGeom>
          <a:noFill/>
        </p:spPr>
        <p:txBody>
          <a:bodyPr wrap="square" lIns="0" rIns="0" tIns="0" bIns="0">
            <a:spAutoFit/>
          </a:bodyPr>
          <a:lstStyle/>
          <a:p>
            <a:pPr algn="r">
              <a:lnSpc>
                <a:spcPct val="130000"/>
              </a:lnSpc>
            </a:pPr>
            <a:r>
              <a:rPr sz="2000" b="0" i="0">
                <a:solidFill>
                  <a:srgbClr val="A8452F"/>
                </a:solidFill>
                <a:latin typeface="Georgia"/>
              </a:rPr>
              <a:t>15 %</a:t>
            </a:r>
          </a:p>
        </p:txBody>
      </p:sp>
      <p:cxnSp>
        <p:nvCxnSpPr>
          <p:cNvPr id="32" name="Connector 31"/>
          <p:cNvCxnSpPr/>
          <p:nvPr/>
        </p:nvCxnSpPr>
        <p:spPr>
          <a:xfrm>
            <a:off x="7480000" y="292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480000" y="298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34" name="TextBox 33"/>
          <p:cNvSpPr txBox="1"/>
          <p:nvPr/>
        </p:nvSpPr>
        <p:spPr>
          <a:xfrm>
            <a:off x="7720000" y="298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Técnica pertinente</a:t>
            </a:r>
          </a:p>
        </p:txBody>
      </p:sp>
      <p:sp>
        <p:nvSpPr>
          <p:cNvPr id="35" name="TextBox 34"/>
          <p:cNvSpPr txBox="1"/>
          <p:nvPr/>
        </p:nvSpPr>
        <p:spPr>
          <a:xfrm>
            <a:off x="7720000" y="324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Responde la 4.3 con un criterio explícito y reproducible, y compara cada programa con su mismo campo CINE en el sur.</a:t>
            </a:r>
          </a:p>
        </p:txBody>
      </p:sp>
      <p:cxnSp>
        <p:nvCxnSpPr>
          <p:cNvPr id="36" name="Connector 35"/>
          <p:cNvCxnSpPr/>
          <p:nvPr/>
        </p:nvCxnSpPr>
        <p:spPr>
          <a:xfrm>
            <a:off x="7480000" y="396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480000" y="402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38" name="TextBox 37"/>
          <p:cNvSpPr txBox="1"/>
          <p:nvPr/>
        </p:nvSpPr>
        <p:spPr>
          <a:xfrm>
            <a:off x="7720000" y="402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Por qué se eligió</a:t>
            </a:r>
          </a:p>
        </p:txBody>
      </p:sp>
      <p:sp>
        <p:nvSpPr>
          <p:cNvPr id="39" name="TextBox 38"/>
          <p:cNvSpPr txBox="1"/>
          <p:nvPr/>
        </p:nvSpPr>
        <p:spPr>
          <a:xfrm>
            <a:off x="7720000" y="428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Es la única opción sugerida que da a la vez magnitud, incertidumbre y comparabilidad. Con 5 puntos, Mann-Kendall solo detecta series perfectamente monótonas.</a:t>
            </a:r>
          </a:p>
        </p:txBody>
      </p:sp>
      <p:cxnSp>
        <p:nvCxnSpPr>
          <p:cNvPr id="40" name="Connector 39"/>
          <p:cNvCxnSpPr/>
          <p:nvPr/>
        </p:nvCxnSpPr>
        <p:spPr>
          <a:xfrm>
            <a:off x="7480000" y="500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480000" y="506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42" name="TextBox 41"/>
          <p:cNvSpPr txBox="1"/>
          <p:nvPr/>
        </p:nvSpPr>
        <p:spPr>
          <a:xfrm>
            <a:off x="7720000" y="506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Limitaciones</a:t>
            </a:r>
          </a:p>
        </p:txBody>
      </p:sp>
      <p:sp>
        <p:nvSpPr>
          <p:cNvPr id="43" name="TextBox 42"/>
          <p:cNvSpPr txBox="1"/>
          <p:nvPr/>
        </p:nvSpPr>
        <p:spPr>
          <a:xfrm>
            <a:off x="7720000" y="532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3 grados de libertad: el intervalo del CAGR mide unos 39 puntos de ancho en ingresantes. La matrícula está autocorrelacionada. Y cabe ~1 falso positivo en 24 pruebas.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430000"/>
            <a:ext cx="10672000" cy="260000"/>
          </a:xfrm>
          <a:prstGeom prst="rect">
            <a:avLst/>
          </a:prstGeom>
          <a:noFill/>
        </p:spPr>
        <p:txBody>
          <a:bodyPr wrap="square" lIns="0" rIns="0" tIns="0" bIns="0">
            <a:spAutoFit/>
          </a:bodyPr>
          <a:lstStyle/>
          <a:p>
            <a:pPr algn="l">
              <a:lnSpc>
                <a:spcPct val="130000"/>
              </a:lnSpc>
            </a:pPr>
            <a:r>
              <a:rPr sz="1000" b="0" i="0">
                <a:solidFill>
                  <a:srgbClr val="A8452F"/>
                </a:solidFill>
                <a:latin typeface="Segoe UI"/>
              </a:rPr>
              <a:t>4 · Análisis y respuesta a las preguntas</a:t>
            </a:r>
          </a:p>
        </p:txBody>
      </p:sp>
      <p:sp>
        <p:nvSpPr>
          <p:cNvPr id="3" name="TextBox 2"/>
          <p:cNvSpPr txBox="1"/>
          <p:nvPr/>
        </p:nvSpPr>
        <p:spPr>
          <a:xfrm>
            <a:off x="760000" y="700000"/>
            <a:ext cx="10600000" cy="520000"/>
          </a:xfrm>
          <a:prstGeom prst="rect">
            <a:avLst/>
          </a:prstGeom>
          <a:noFill/>
        </p:spPr>
        <p:txBody>
          <a:bodyPr wrap="square" lIns="0" rIns="0" tIns="0" bIns="0">
            <a:spAutoFit/>
          </a:bodyPr>
          <a:lstStyle/>
          <a:p>
            <a:pPr algn="l">
              <a:lnSpc>
                <a:spcPct val="130000"/>
              </a:lnSpc>
            </a:pPr>
            <a:r>
              <a:rPr sz="2300" b="0" i="0">
                <a:solidFill>
                  <a:srgbClr val="1A1A1A"/>
                </a:solidFill>
                <a:latin typeface="Georgia"/>
              </a:rPr>
              <a:t>Cada indicador está porque responde una parte de la pregunta</a:t>
            </a:r>
          </a:p>
        </p:txBody>
      </p:sp>
      <p:sp>
        <p:nvSpPr>
          <p:cNvPr id="4" name="TextBox 3"/>
          <p:cNvSpPr txBox="1"/>
          <p:nvPr/>
        </p:nvSpPr>
        <p:spPr>
          <a:xfrm>
            <a:off x="760000" y="1210000"/>
            <a:ext cx="10400000" cy="560000"/>
          </a:xfrm>
          <a:prstGeom prst="rect">
            <a:avLst/>
          </a:prstGeom>
          <a:noFill/>
        </p:spPr>
        <p:txBody>
          <a:bodyPr wrap="square" lIns="0" rIns="0" tIns="0" bIns="0">
            <a:spAutoFit/>
          </a:bodyPr>
          <a:lstStyle/>
          <a:p>
            <a:pPr algn="l">
              <a:lnSpc>
                <a:spcPct val="130000"/>
              </a:lnSpc>
            </a:pPr>
            <a:r>
              <a:rPr sz="1100" b="0" i="0">
                <a:solidFill>
                  <a:srgbClr val="6B6560"/>
                </a:solidFill>
                <a:latin typeface="Segoe UI"/>
              </a:rPr>
              <a:t>El enunciado no pide usar todos los indicadores sugeridos: valora seleccionar los que permiten responder. Esta es la selección, y lo que se descartó.</a:t>
            </a:r>
          </a:p>
        </p:txBody>
      </p:sp>
      <p:cxnSp>
        <p:nvCxnSpPr>
          <p:cNvPr id="5" name="Connector 4"/>
          <p:cNvCxnSpPr/>
          <p:nvPr/>
        </p:nvCxnSpPr>
        <p:spPr>
          <a:xfrm>
            <a:off x="760000" y="181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docs/preguntas_e_indicadores.md</a:t>
            </a:r>
          </a:p>
        </p:txBody>
      </p:sp>
      <p:sp>
        <p:nvSpPr>
          <p:cNvPr id="8" name="TextBox 7"/>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7 / 13</a:t>
            </a:r>
          </a:p>
        </p:txBody>
      </p:sp>
      <p:cxnSp>
        <p:nvCxnSpPr>
          <p:cNvPr id="9" name="Connector 8"/>
          <p:cNvCxnSpPr/>
          <p:nvPr/>
        </p:nvCxnSpPr>
        <p:spPr>
          <a:xfrm>
            <a:off x="760000" y="1960000"/>
            <a:ext cx="6250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0000" y="2070000"/>
            <a:ext cx="1072686" cy="470000"/>
          </a:xfrm>
          <a:prstGeom prst="rect">
            <a:avLst/>
          </a:prstGeom>
          <a:noFill/>
        </p:spPr>
        <p:txBody>
          <a:bodyPr wrap="square" lIns="0" rIns="0" tIns="0" bIns="0">
            <a:spAutoFit/>
          </a:bodyPr>
          <a:lstStyle/>
          <a:p>
            <a:pPr algn="l">
              <a:lnSpc>
                <a:spcPct val="115000"/>
              </a:lnSpc>
            </a:pPr>
            <a:r>
              <a:rPr sz="800" b="1" i="0">
                <a:solidFill>
                  <a:srgbClr val="1A1A1A"/>
                </a:solidFill>
                <a:latin typeface="Segoe UI"/>
              </a:rPr>
              <a:t>Pregunta</a:t>
            </a:r>
          </a:p>
        </p:txBody>
      </p:sp>
      <p:sp>
        <p:nvSpPr>
          <p:cNvPr id="11" name="TextBox 10"/>
          <p:cNvSpPr txBox="1"/>
          <p:nvPr/>
        </p:nvSpPr>
        <p:spPr>
          <a:xfrm>
            <a:off x="2042686" y="2070000"/>
            <a:ext cx="2658507" cy="470000"/>
          </a:xfrm>
          <a:prstGeom prst="rect">
            <a:avLst/>
          </a:prstGeom>
          <a:noFill/>
        </p:spPr>
        <p:txBody>
          <a:bodyPr wrap="square" lIns="0" rIns="0" tIns="0" bIns="0">
            <a:spAutoFit/>
          </a:bodyPr>
          <a:lstStyle/>
          <a:p>
            <a:pPr algn="l">
              <a:lnSpc>
                <a:spcPct val="115000"/>
              </a:lnSpc>
            </a:pPr>
            <a:r>
              <a:rPr sz="800" b="1" i="0">
                <a:solidFill>
                  <a:srgbClr val="1A1A1A"/>
                </a:solidFill>
                <a:latin typeface="Segoe UI"/>
              </a:rPr>
              <a:t>Indicadores elegidos</a:t>
            </a:r>
          </a:p>
        </p:txBody>
      </p:sp>
      <p:sp>
        <p:nvSpPr>
          <p:cNvPr id="12" name="TextBox 11"/>
          <p:cNvSpPr txBox="1"/>
          <p:nvPr/>
        </p:nvSpPr>
        <p:spPr>
          <a:xfrm>
            <a:off x="4841193" y="2070000"/>
            <a:ext cx="2098805" cy="470000"/>
          </a:xfrm>
          <a:prstGeom prst="rect">
            <a:avLst/>
          </a:prstGeom>
          <a:noFill/>
        </p:spPr>
        <p:txBody>
          <a:bodyPr wrap="square" lIns="0" rIns="0" tIns="0" bIns="0">
            <a:spAutoFit/>
          </a:bodyPr>
          <a:lstStyle/>
          <a:p>
            <a:pPr algn="l">
              <a:lnSpc>
                <a:spcPct val="115000"/>
              </a:lnSpc>
            </a:pPr>
            <a:r>
              <a:rPr sz="800" b="1" i="0">
                <a:solidFill>
                  <a:srgbClr val="1A1A1A"/>
                </a:solidFill>
                <a:latin typeface="Segoe UI"/>
              </a:rPr>
              <a:t>Descartado, y por qué</a:t>
            </a:r>
          </a:p>
        </p:txBody>
      </p:sp>
      <p:cxnSp>
        <p:nvCxnSpPr>
          <p:cNvPr id="13" name="Connector 12"/>
          <p:cNvCxnSpPr/>
          <p:nvPr/>
        </p:nvCxnSpPr>
        <p:spPr>
          <a:xfrm>
            <a:off x="760000" y="2520000"/>
            <a:ext cx="625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30000" y="2620000"/>
            <a:ext cx="1072686" cy="470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4.1 Benchmark</a:t>
            </a:r>
          </a:p>
        </p:txBody>
      </p:sp>
      <p:sp>
        <p:nvSpPr>
          <p:cNvPr id="15" name="TextBox 14"/>
          <p:cNvSpPr txBox="1"/>
          <p:nvPr/>
        </p:nvSpPr>
        <p:spPr>
          <a:xfrm>
            <a:off x="2042686" y="2620000"/>
            <a:ext cx="2658507" cy="470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Ingreso y matrícula en base 100; CAGR UCSP, sur y país; cuota del sur; participación; HHI</a:t>
            </a:r>
          </a:p>
        </p:txBody>
      </p:sp>
      <p:sp>
        <p:nvSpPr>
          <p:cNvPr id="16" name="TextBox 15"/>
          <p:cNvSpPr txBox="1"/>
          <p:nvPr/>
        </p:nvSpPr>
        <p:spPr>
          <a:xfrm>
            <a:off x="4841193" y="2620000"/>
            <a:ext cx="2098805" cy="470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Valores absolutos lado a lado: 9 mil contra 1,5 millones es ilegible</a:t>
            </a:r>
          </a:p>
        </p:txBody>
      </p:sp>
      <p:sp>
        <p:nvSpPr>
          <p:cNvPr id="17" name="TextBox 16"/>
          <p:cNvSpPr txBox="1"/>
          <p:nvPr/>
        </p:nvSpPr>
        <p:spPr>
          <a:xfrm>
            <a:off x="830000" y="3090000"/>
            <a:ext cx="1072686" cy="470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4.2 Demanda</a:t>
            </a:r>
          </a:p>
        </p:txBody>
      </p:sp>
      <p:sp>
        <p:nvSpPr>
          <p:cNvPr id="18" name="TextBox 17"/>
          <p:cNvSpPr txBox="1"/>
          <p:nvPr/>
        </p:nvSpPr>
        <p:spPr>
          <a:xfrm>
            <a:off x="2042686" y="3090000"/>
            <a:ext cx="2658507" cy="470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Top y bottom 5 por ingreso y por matrícula, mínimo 10 alumnos</a:t>
            </a:r>
          </a:p>
        </p:txBody>
      </p:sp>
      <p:sp>
        <p:nvSpPr>
          <p:cNvPr id="19" name="TextBox 18"/>
          <p:cNvSpPr txBox="1"/>
          <p:nvPr/>
        </p:nvSpPr>
        <p:spPr>
          <a:xfrm>
            <a:off x="4841193" y="3090000"/>
            <a:ext cx="2098805" cy="470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Bottom sin umbral: lo ocupan programas con 2 alumnos</a:t>
            </a:r>
          </a:p>
        </p:txBody>
      </p:sp>
      <p:sp>
        <p:nvSpPr>
          <p:cNvPr id="20" name="TextBox 19"/>
          <p:cNvSpPr txBox="1"/>
          <p:nvPr/>
        </p:nvSpPr>
        <p:spPr>
          <a:xfrm>
            <a:off x="830000" y="3560000"/>
            <a:ext cx="1072686" cy="470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4.3 Tendencia</a:t>
            </a:r>
          </a:p>
        </p:txBody>
      </p:sp>
      <p:sp>
        <p:nvSpPr>
          <p:cNvPr id="21" name="TextBox 20"/>
          <p:cNvSpPr txBox="1"/>
          <p:nvPr/>
        </p:nvSpPr>
        <p:spPr>
          <a:xfrm>
            <a:off x="2042686" y="3560000"/>
            <a:ext cx="2658507" cy="470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Regresión de las dos series y delta contra su campo en el sur</a:t>
            </a:r>
          </a:p>
        </p:txBody>
      </p:sp>
      <p:sp>
        <p:nvSpPr>
          <p:cNvPr id="22" name="TextBox 21"/>
          <p:cNvSpPr txBox="1"/>
          <p:nvPr/>
        </p:nvSpPr>
        <p:spPr>
          <a:xfrm>
            <a:off x="4841193" y="3560000"/>
            <a:ext cx="2098805" cy="470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CAGR entre dos años: usa 2 de 5 puntos</a:t>
            </a:r>
          </a:p>
        </p:txBody>
      </p:sp>
      <p:sp>
        <p:nvSpPr>
          <p:cNvPr id="23" name="TextBox 22"/>
          <p:cNvSpPr txBox="1"/>
          <p:nvPr/>
        </p:nvSpPr>
        <p:spPr>
          <a:xfrm>
            <a:off x="830000" y="4030000"/>
            <a:ext cx="1072686" cy="470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4.4 Selectividad</a:t>
            </a:r>
          </a:p>
        </p:txBody>
      </p:sp>
      <p:sp>
        <p:nvSpPr>
          <p:cNvPr id="24" name="TextBox 23"/>
          <p:cNvSpPr txBox="1"/>
          <p:nvPr/>
        </p:nvSpPr>
        <p:spPr>
          <a:xfrm>
            <a:off x="2042686" y="4030000"/>
            <a:ext cx="2658507" cy="470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Tasa de admisión contra privadas y públicas del sur, por campo y embudo</a:t>
            </a:r>
          </a:p>
        </p:txBody>
      </p:sp>
      <p:sp>
        <p:nvSpPr>
          <p:cNvPr id="25" name="TextBox 24"/>
          <p:cNvSpPr txBox="1"/>
          <p:nvPr/>
        </p:nvSpPr>
        <p:spPr>
          <a:xfrm>
            <a:off x="4841193" y="4030000"/>
            <a:ext cx="2098805" cy="470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Comparar con el sur completo: las públicas admiten 13–15 %</a:t>
            </a:r>
          </a:p>
        </p:txBody>
      </p:sp>
      <p:cxnSp>
        <p:nvCxnSpPr>
          <p:cNvPr id="26" name="Connector 25"/>
          <p:cNvCxnSpPr/>
          <p:nvPr/>
        </p:nvCxnSpPr>
        <p:spPr>
          <a:xfrm>
            <a:off x="760000" y="4490000"/>
            <a:ext cx="6250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00000" y="1900000"/>
            <a:ext cx="4130000" cy="4300000"/>
          </a:xfrm>
          <a:prstGeom prst="rect">
            <a:avLst/>
          </a:prstGeom>
          <a:noFill/>
          <a:ln w="9525">
            <a:solidFill>
              <a:srgbClr val="D8D2CA"/>
            </a:solidFill>
          </a:ln>
          <a:effectLst/>
        </p:spPr>
        <p:txBody>
          <a:bodyPr rtlCol="0" anchor="ctr"/>
          <a:lstStyle/>
          <a:p>
            <a:pPr algn="ctr"/>
          </a:p>
        </p:txBody>
      </p:sp>
      <p:sp>
        <p:nvSpPr>
          <p:cNvPr id="28" name="TextBox 27"/>
          <p:cNvSpPr txBox="1"/>
          <p:nvPr/>
        </p:nvSpPr>
        <p:spPr>
          <a:xfrm>
            <a:off x="7480000" y="2040000"/>
            <a:ext cx="4130000" cy="250000"/>
          </a:xfrm>
          <a:prstGeom prst="rect">
            <a:avLst/>
          </a:prstGeom>
          <a:noFill/>
        </p:spPr>
        <p:txBody>
          <a:bodyPr wrap="square" lIns="0" rIns="0" tIns="0" bIns="0">
            <a:spAutoFit/>
          </a:bodyPr>
          <a:lstStyle/>
          <a:p>
            <a:pPr algn="l">
              <a:lnSpc>
                <a:spcPct val="130000"/>
              </a:lnSpc>
            </a:pPr>
            <a:r>
              <a:rPr sz="950" b="1" i="0">
                <a:solidFill>
                  <a:srgbClr val="3D6B4A"/>
                </a:solidFill>
                <a:latin typeface="Segoe UI"/>
              </a:rPr>
              <a:t>CÓMO SE CUMPLE EL CRITERIO</a:t>
            </a:r>
          </a:p>
        </p:txBody>
      </p:sp>
      <p:sp>
        <p:nvSpPr>
          <p:cNvPr id="29" name="TextBox 28"/>
          <p:cNvSpPr txBox="1"/>
          <p:nvPr/>
        </p:nvSpPr>
        <p:spPr>
          <a:xfrm>
            <a:off x="7480000" y="2320000"/>
            <a:ext cx="2930000" cy="520000"/>
          </a:xfrm>
          <a:prstGeom prst="rect">
            <a:avLst/>
          </a:prstGeom>
          <a:noFill/>
        </p:spPr>
        <p:txBody>
          <a:bodyPr wrap="square" lIns="0" rIns="0" tIns="0" bIns="0">
            <a:spAutoFit/>
          </a:bodyPr>
          <a:lstStyle/>
          <a:p>
            <a:pPr algn="l">
              <a:lnSpc>
                <a:spcPct val="110000"/>
              </a:lnSpc>
            </a:pPr>
            <a:r>
              <a:rPr sz="1300" b="0" i="0">
                <a:solidFill>
                  <a:srgbClr val="1A1A1A"/>
                </a:solidFill>
                <a:latin typeface="Georgia"/>
              </a:rPr>
              <a:t>Análisis y respuesta</a:t>
            </a:r>
          </a:p>
        </p:txBody>
      </p:sp>
      <p:sp>
        <p:nvSpPr>
          <p:cNvPr id="30" name="TextBox 29"/>
          <p:cNvSpPr txBox="1"/>
          <p:nvPr/>
        </p:nvSpPr>
        <p:spPr>
          <a:xfrm>
            <a:off x="10430000" y="2280000"/>
            <a:ext cx="830000" cy="420000"/>
          </a:xfrm>
          <a:prstGeom prst="rect">
            <a:avLst/>
          </a:prstGeom>
          <a:noFill/>
        </p:spPr>
        <p:txBody>
          <a:bodyPr wrap="square" lIns="0" rIns="0" tIns="0" bIns="0">
            <a:spAutoFit/>
          </a:bodyPr>
          <a:lstStyle/>
          <a:p>
            <a:pPr algn="r">
              <a:lnSpc>
                <a:spcPct val="130000"/>
              </a:lnSpc>
            </a:pPr>
            <a:r>
              <a:rPr sz="2000" b="0" i="0">
                <a:solidFill>
                  <a:srgbClr val="A8452F"/>
                </a:solidFill>
                <a:latin typeface="Georgia"/>
              </a:rPr>
              <a:t>15 %</a:t>
            </a:r>
          </a:p>
        </p:txBody>
      </p:sp>
      <p:cxnSp>
        <p:nvCxnSpPr>
          <p:cNvPr id="31" name="Connector 30"/>
          <p:cNvCxnSpPr/>
          <p:nvPr/>
        </p:nvCxnSpPr>
        <p:spPr>
          <a:xfrm>
            <a:off x="7480000" y="292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480000" y="298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33" name="TextBox 32"/>
          <p:cNvSpPr txBox="1"/>
          <p:nvPr/>
        </p:nvSpPr>
        <p:spPr>
          <a:xfrm>
            <a:off x="7720000" y="298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Pertinencia de los indicadores</a:t>
            </a:r>
          </a:p>
        </p:txBody>
      </p:sp>
      <p:sp>
        <p:nvSpPr>
          <p:cNvPr id="34" name="TextBox 33"/>
          <p:cNvSpPr txBox="1"/>
          <p:nvPr/>
        </p:nvSpPr>
        <p:spPr>
          <a:xfrm>
            <a:off x="7720000" y="324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Un indicador por cada parte de cada pregunta. La UCSP siempre se lee contra un comparador: el sur, el país o su campo.</a:t>
            </a:r>
          </a:p>
        </p:txBody>
      </p:sp>
      <p:cxnSp>
        <p:nvCxnSpPr>
          <p:cNvPr id="35" name="Connector 34"/>
          <p:cNvCxnSpPr/>
          <p:nvPr/>
        </p:nvCxnSpPr>
        <p:spPr>
          <a:xfrm>
            <a:off x="7480000" y="396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480000" y="402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37" name="TextBox 36"/>
          <p:cNvSpPr txBox="1"/>
          <p:nvPr/>
        </p:nvSpPr>
        <p:spPr>
          <a:xfrm>
            <a:off x="7720000" y="402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Pregunta adicional</a:t>
            </a:r>
          </a:p>
        </p:txBody>
      </p:sp>
      <p:sp>
        <p:nvSpPr>
          <p:cNvPr id="38" name="TextBox 37"/>
          <p:cNvSpPr txBox="1"/>
          <p:nvPr/>
        </p:nvSpPr>
        <p:spPr>
          <a:xfrm>
            <a:off x="7720000" y="428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Selectividad, con postulantes como fuente adicional integrada al mismo modelo y las mismas dimensiones.</a:t>
            </a:r>
          </a:p>
        </p:txBody>
      </p:sp>
      <p:cxnSp>
        <p:nvCxnSpPr>
          <p:cNvPr id="39" name="Connector 38"/>
          <p:cNvCxnSpPr/>
          <p:nvPr/>
        </p:nvCxnSpPr>
        <p:spPr>
          <a:xfrm>
            <a:off x="7480000" y="500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480000" y="506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41" name="TextBox 40"/>
          <p:cNvSpPr txBox="1"/>
          <p:nvPr/>
        </p:nvSpPr>
        <p:spPr>
          <a:xfrm>
            <a:off x="7720000" y="506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Hallazgos que salen del modelo</a:t>
            </a:r>
          </a:p>
        </p:txBody>
      </p:sp>
      <p:sp>
        <p:nvSpPr>
          <p:cNvPr id="42" name="TextBox 41"/>
          <p:cNvSpPr txBox="1"/>
          <p:nvPr/>
        </p:nvSpPr>
        <p:spPr>
          <a:xfrm>
            <a:off x="7720000" y="532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El ingreso de la UCSP cae 4,9 % al año mientras el del sur crece 8,2 %. Medicina, nueva en 2025, explica la caída de la tasa de admisión.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430000"/>
            <a:ext cx="10672000" cy="260000"/>
          </a:xfrm>
          <a:prstGeom prst="rect">
            <a:avLst/>
          </a:prstGeom>
          <a:noFill/>
        </p:spPr>
        <p:txBody>
          <a:bodyPr wrap="square" lIns="0" rIns="0" tIns="0" bIns="0">
            <a:spAutoFit/>
          </a:bodyPr>
          <a:lstStyle/>
          <a:p>
            <a:pPr algn="l">
              <a:lnSpc>
                <a:spcPct val="130000"/>
              </a:lnSpc>
            </a:pPr>
            <a:r>
              <a:rPr sz="1000" b="0" i="0">
                <a:solidFill>
                  <a:srgbClr val="A8452F"/>
                </a:solidFill>
                <a:latin typeface="Segoe UI"/>
              </a:rPr>
              <a:t>Dashboard · Power BI</a:t>
            </a:r>
          </a:p>
        </p:txBody>
      </p:sp>
      <p:sp>
        <p:nvSpPr>
          <p:cNvPr id="3" name="TextBox 2"/>
          <p:cNvSpPr txBox="1"/>
          <p:nvPr/>
        </p:nvSpPr>
        <p:spPr>
          <a:xfrm>
            <a:off x="760000" y="700000"/>
            <a:ext cx="10600000" cy="520000"/>
          </a:xfrm>
          <a:prstGeom prst="rect">
            <a:avLst/>
          </a:prstGeom>
          <a:noFill/>
        </p:spPr>
        <p:txBody>
          <a:bodyPr wrap="square" lIns="0" rIns="0" tIns="0" bIns="0">
            <a:spAutoFit/>
          </a:bodyPr>
          <a:lstStyle/>
          <a:p>
            <a:pPr algn="l">
              <a:lnSpc>
                <a:spcPct val="130000"/>
              </a:lnSpc>
            </a:pPr>
            <a:r>
              <a:rPr sz="2300" b="0" i="0">
                <a:solidFill>
                  <a:srgbClr val="1A1A1A"/>
                </a:solidFill>
                <a:latin typeface="Georgia"/>
              </a:rPr>
              <a:t>Tres páginas ejecutivas, una pregunta de gestión cada una</a:t>
            </a:r>
          </a:p>
        </p:txBody>
      </p:sp>
      <p:sp>
        <p:nvSpPr>
          <p:cNvPr id="4" name="TextBox 3"/>
          <p:cNvSpPr txBox="1"/>
          <p:nvPr/>
        </p:nvSpPr>
        <p:spPr>
          <a:xfrm>
            <a:off x="760000" y="1210000"/>
            <a:ext cx="10400000" cy="560000"/>
          </a:xfrm>
          <a:prstGeom prst="rect">
            <a:avLst/>
          </a:prstGeom>
          <a:noFill/>
        </p:spPr>
        <p:txBody>
          <a:bodyPr wrap="square" lIns="0" rIns="0" tIns="0" bIns="0">
            <a:spAutoFit/>
          </a:bodyPr>
          <a:lstStyle/>
          <a:p>
            <a:pPr algn="l">
              <a:lnSpc>
                <a:spcPct val="130000"/>
              </a:lnSpc>
            </a:pPr>
            <a:r>
              <a:rPr sz="1100" b="0" i="0">
                <a:solidFill>
                  <a:srgbClr val="6B6560"/>
                </a:solidFill>
                <a:latin typeface="Segoe UI"/>
              </a:rPr>
              <a:t>Cada página abre con una frase que responde su pregunta y que se reescribe con los filtros. Debajo, los indicadores que la sostienen.</a:t>
            </a:r>
          </a:p>
        </p:txBody>
      </p:sp>
      <p:cxnSp>
        <p:nvCxnSpPr>
          <p:cNvPr id="5" name="Connector 4"/>
          <p:cNvCxnSpPr/>
          <p:nvPr/>
        </p:nvCxnSpPr>
        <p:spPr>
          <a:xfrm>
            <a:off x="760000" y="157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UCSP_Benchmark.pbix · powerbi/GUIA_ARMADO.md · powerbi/tema_ucsp_ejecutivo.json</a:t>
            </a:r>
          </a:p>
        </p:txBody>
      </p:sp>
      <p:sp>
        <p:nvSpPr>
          <p:cNvPr id="8" name="TextBox 7"/>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8 / 13</a:t>
            </a:r>
          </a:p>
        </p:txBody>
      </p:sp>
      <p:pic>
        <p:nvPicPr>
          <p:cNvPr id="9" name="Picture 8" descr="maqueta_p1.png"/>
          <p:cNvPicPr>
            <a:picLocks noChangeAspect="1"/>
          </p:cNvPicPr>
          <p:nvPr/>
        </p:nvPicPr>
        <p:blipFill>
          <a:blip r:embed="rId2"/>
          <a:stretch>
            <a:fillRect/>
          </a:stretch>
        </p:blipFill>
        <p:spPr>
          <a:xfrm>
            <a:off x="760000" y="1960000"/>
            <a:ext cx="3050000" cy="1715625"/>
          </a:xfrm>
          <a:prstGeom prst="rect">
            <a:avLst/>
          </a:prstGeom>
        </p:spPr>
      </p:pic>
      <p:sp>
        <p:nvSpPr>
          <p:cNvPr id="10" name="TextBox 9"/>
          <p:cNvSpPr txBox="1"/>
          <p:nvPr/>
        </p:nvSpPr>
        <p:spPr>
          <a:xfrm>
            <a:off x="760000" y="3700000"/>
            <a:ext cx="3050000" cy="220000"/>
          </a:xfrm>
          <a:prstGeom prst="rect">
            <a:avLst/>
          </a:prstGeom>
          <a:noFill/>
        </p:spPr>
        <p:txBody>
          <a:bodyPr wrap="square" lIns="0" rIns="0" tIns="0" bIns="0">
            <a:spAutoFit/>
          </a:bodyPr>
          <a:lstStyle/>
          <a:p>
            <a:pPr algn="l">
              <a:lnSpc>
                <a:spcPct val="130000"/>
              </a:lnSpc>
            </a:pPr>
            <a:r>
              <a:rPr sz="850" b="0" i="0">
                <a:solidFill>
                  <a:srgbClr val="6B6560"/>
                </a:solidFill>
                <a:latin typeface="Segoe UI"/>
              </a:rPr>
              <a:t>1 · Posición de mercado (4.1)</a:t>
            </a:r>
          </a:p>
        </p:txBody>
      </p:sp>
      <p:pic>
        <p:nvPicPr>
          <p:cNvPr id="11" name="Picture 10" descr="maqueta_p2.png"/>
          <p:cNvPicPr>
            <a:picLocks noChangeAspect="1"/>
          </p:cNvPicPr>
          <p:nvPr/>
        </p:nvPicPr>
        <p:blipFill>
          <a:blip r:embed="rId3"/>
          <a:stretch>
            <a:fillRect/>
          </a:stretch>
        </p:blipFill>
        <p:spPr>
          <a:xfrm>
            <a:off x="3950000" y="1960000"/>
            <a:ext cx="3050000" cy="1715625"/>
          </a:xfrm>
          <a:prstGeom prst="rect">
            <a:avLst/>
          </a:prstGeom>
        </p:spPr>
      </p:pic>
      <p:sp>
        <p:nvSpPr>
          <p:cNvPr id="12" name="TextBox 11"/>
          <p:cNvSpPr txBox="1"/>
          <p:nvPr/>
        </p:nvSpPr>
        <p:spPr>
          <a:xfrm>
            <a:off x="3950000" y="3700000"/>
            <a:ext cx="3050000" cy="220000"/>
          </a:xfrm>
          <a:prstGeom prst="rect">
            <a:avLst/>
          </a:prstGeom>
          <a:noFill/>
        </p:spPr>
        <p:txBody>
          <a:bodyPr wrap="square" lIns="0" rIns="0" tIns="0" bIns="0">
            <a:spAutoFit/>
          </a:bodyPr>
          <a:lstStyle/>
          <a:p>
            <a:pPr algn="l">
              <a:lnSpc>
                <a:spcPct val="130000"/>
              </a:lnSpc>
            </a:pPr>
            <a:r>
              <a:rPr sz="850" b="0" i="0">
                <a:solidFill>
                  <a:srgbClr val="6B6560"/>
                </a:solidFill>
                <a:latin typeface="Segoe UI"/>
              </a:rPr>
              <a:t>2 · Portafolio de programas (4.2 y 4.3)</a:t>
            </a:r>
          </a:p>
        </p:txBody>
      </p:sp>
      <p:pic>
        <p:nvPicPr>
          <p:cNvPr id="13" name="Picture 12" descr="maqueta_p3.png"/>
          <p:cNvPicPr>
            <a:picLocks noChangeAspect="1"/>
          </p:cNvPicPr>
          <p:nvPr/>
        </p:nvPicPr>
        <p:blipFill>
          <a:blip r:embed="rId4"/>
          <a:stretch>
            <a:fillRect/>
          </a:stretch>
        </p:blipFill>
        <p:spPr>
          <a:xfrm>
            <a:off x="760000" y="3900000"/>
            <a:ext cx="3050000" cy="1715625"/>
          </a:xfrm>
          <a:prstGeom prst="rect">
            <a:avLst/>
          </a:prstGeom>
        </p:spPr>
      </p:pic>
      <p:sp>
        <p:nvSpPr>
          <p:cNvPr id="14" name="TextBox 13"/>
          <p:cNvSpPr txBox="1"/>
          <p:nvPr/>
        </p:nvSpPr>
        <p:spPr>
          <a:xfrm>
            <a:off x="760000" y="5640000"/>
            <a:ext cx="3050000" cy="220000"/>
          </a:xfrm>
          <a:prstGeom prst="rect">
            <a:avLst/>
          </a:prstGeom>
          <a:noFill/>
        </p:spPr>
        <p:txBody>
          <a:bodyPr wrap="square" lIns="0" rIns="0" tIns="0" bIns="0">
            <a:spAutoFit/>
          </a:bodyPr>
          <a:lstStyle/>
          <a:p>
            <a:pPr algn="l">
              <a:lnSpc>
                <a:spcPct val="130000"/>
              </a:lnSpc>
            </a:pPr>
            <a:r>
              <a:rPr sz="850" b="0" i="0">
                <a:solidFill>
                  <a:srgbClr val="6B6560"/>
                </a:solidFill>
                <a:latin typeface="Segoe UI"/>
              </a:rPr>
              <a:t>3 · Admisión y selectividad (4.4)</a:t>
            </a:r>
          </a:p>
        </p:txBody>
      </p:sp>
      <p:sp>
        <p:nvSpPr>
          <p:cNvPr id="15" name="Rectangle 14"/>
          <p:cNvSpPr/>
          <p:nvPr/>
        </p:nvSpPr>
        <p:spPr>
          <a:xfrm>
            <a:off x="7300000" y="1900000"/>
            <a:ext cx="4130000" cy="4300000"/>
          </a:xfrm>
          <a:prstGeom prst="rect">
            <a:avLst/>
          </a:prstGeom>
          <a:noFill/>
          <a:ln w="9525">
            <a:solidFill>
              <a:srgbClr val="D8D2CA"/>
            </a:solidFill>
          </a:ln>
          <a:effectLst/>
        </p:spPr>
        <p:txBody>
          <a:bodyPr rtlCol="0" anchor="ctr"/>
          <a:lstStyle/>
          <a:p>
            <a:pPr algn="ctr"/>
          </a:p>
        </p:txBody>
      </p:sp>
      <p:sp>
        <p:nvSpPr>
          <p:cNvPr id="16" name="TextBox 15"/>
          <p:cNvSpPr txBox="1"/>
          <p:nvPr/>
        </p:nvSpPr>
        <p:spPr>
          <a:xfrm>
            <a:off x="7480000" y="2040000"/>
            <a:ext cx="4130000" cy="250000"/>
          </a:xfrm>
          <a:prstGeom prst="rect">
            <a:avLst/>
          </a:prstGeom>
          <a:noFill/>
        </p:spPr>
        <p:txBody>
          <a:bodyPr wrap="square" lIns="0" rIns="0" tIns="0" bIns="0">
            <a:spAutoFit/>
          </a:bodyPr>
          <a:lstStyle/>
          <a:p>
            <a:pPr algn="l">
              <a:lnSpc>
                <a:spcPct val="130000"/>
              </a:lnSpc>
            </a:pPr>
            <a:r>
              <a:rPr sz="950" b="1" i="0">
                <a:solidFill>
                  <a:srgbClr val="3D6B4A"/>
                </a:solidFill>
                <a:latin typeface="Segoe UI"/>
              </a:rPr>
              <a:t>CÓMO SE CUMPLE EL CRITERIO</a:t>
            </a:r>
          </a:p>
        </p:txBody>
      </p:sp>
      <p:sp>
        <p:nvSpPr>
          <p:cNvPr id="17" name="TextBox 16"/>
          <p:cNvSpPr txBox="1"/>
          <p:nvPr/>
        </p:nvSpPr>
        <p:spPr>
          <a:xfrm>
            <a:off x="7480000" y="2320000"/>
            <a:ext cx="2930000" cy="520000"/>
          </a:xfrm>
          <a:prstGeom prst="rect">
            <a:avLst/>
          </a:prstGeom>
          <a:noFill/>
        </p:spPr>
        <p:txBody>
          <a:bodyPr wrap="square" lIns="0" rIns="0" tIns="0" bIns="0">
            <a:spAutoFit/>
          </a:bodyPr>
          <a:lstStyle/>
          <a:p>
            <a:pPr algn="l">
              <a:lnSpc>
                <a:spcPct val="110000"/>
              </a:lnSpc>
            </a:pPr>
            <a:r>
              <a:rPr sz="1300" b="0" i="0">
                <a:solidFill>
                  <a:srgbClr val="1A1A1A"/>
                </a:solidFill>
                <a:latin typeface="Georgia"/>
              </a:rPr>
              <a:t>Dashboard</a:t>
            </a:r>
          </a:p>
        </p:txBody>
      </p:sp>
      <p:sp>
        <p:nvSpPr>
          <p:cNvPr id="18" name="TextBox 17"/>
          <p:cNvSpPr txBox="1"/>
          <p:nvPr/>
        </p:nvSpPr>
        <p:spPr>
          <a:xfrm>
            <a:off x="10430000" y="2280000"/>
            <a:ext cx="830000" cy="420000"/>
          </a:xfrm>
          <a:prstGeom prst="rect">
            <a:avLst/>
          </a:prstGeom>
          <a:noFill/>
        </p:spPr>
        <p:txBody>
          <a:bodyPr wrap="square" lIns="0" rIns="0" tIns="0" bIns="0">
            <a:spAutoFit/>
          </a:bodyPr>
          <a:lstStyle/>
          <a:p>
            <a:pPr algn="r">
              <a:lnSpc>
                <a:spcPct val="130000"/>
              </a:lnSpc>
            </a:pPr>
            <a:r>
              <a:rPr sz="2000" b="0" i="0">
                <a:solidFill>
                  <a:srgbClr val="A8452F"/>
                </a:solidFill>
                <a:latin typeface="Georgia"/>
              </a:rPr>
              <a:t>10 %</a:t>
            </a:r>
          </a:p>
        </p:txBody>
      </p:sp>
      <p:cxnSp>
        <p:nvCxnSpPr>
          <p:cNvPr id="19" name="Connector 18"/>
          <p:cNvCxnSpPr/>
          <p:nvPr/>
        </p:nvCxnSpPr>
        <p:spPr>
          <a:xfrm>
            <a:off x="7480000" y="292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480000" y="298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21" name="TextBox 20"/>
          <p:cNvSpPr txBox="1"/>
          <p:nvPr/>
        </p:nvSpPr>
        <p:spPr>
          <a:xfrm>
            <a:off x="7720000" y="298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Claridad</a:t>
            </a:r>
          </a:p>
        </p:txBody>
      </p:sp>
      <p:sp>
        <p:nvSpPr>
          <p:cNvPr id="22" name="TextBox 21"/>
          <p:cNvSpPr txBox="1"/>
          <p:nvPr/>
        </p:nvSpPr>
        <p:spPr>
          <a:xfrm>
            <a:off x="7720000" y="324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Titular dinámico arriba. La UCSP en azul contra comparadores en gris, un solo eje y estados con ícono y etiqueta.</a:t>
            </a:r>
          </a:p>
        </p:txBody>
      </p:sp>
      <p:cxnSp>
        <p:nvCxnSpPr>
          <p:cNvPr id="23" name="Connector 22"/>
          <p:cNvCxnSpPr/>
          <p:nvPr/>
        </p:nvCxnSpPr>
        <p:spPr>
          <a:xfrm>
            <a:off x="7480000" y="396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80000" y="402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25" name="TextBox 24"/>
          <p:cNvSpPr txBox="1"/>
          <p:nvPr/>
        </p:nvSpPr>
        <p:spPr>
          <a:xfrm>
            <a:off x="7720000" y="402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Navegación</a:t>
            </a:r>
          </a:p>
        </p:txBody>
      </p:sp>
      <p:sp>
        <p:nvSpPr>
          <p:cNvPr id="26" name="TextBox 25"/>
          <p:cNvSpPr txBox="1"/>
          <p:nvPr/>
        </p:nvSpPr>
        <p:spPr>
          <a:xfrm>
            <a:off x="7720000" y="428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Tres páginas con navegador de páginas en la cabecera. La página 2 cruza el ranking del año con la tendencia de cada programa.</a:t>
            </a:r>
          </a:p>
        </p:txBody>
      </p:sp>
      <p:cxnSp>
        <p:nvCxnSpPr>
          <p:cNvPr id="27" name="Connector 26"/>
          <p:cNvCxnSpPr/>
          <p:nvPr/>
        </p:nvCxnSpPr>
        <p:spPr>
          <a:xfrm>
            <a:off x="7480000" y="500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480000" y="506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29" name="TextBox 28"/>
          <p:cNvSpPr txBox="1"/>
          <p:nvPr/>
        </p:nvSpPr>
        <p:spPr>
          <a:xfrm>
            <a:off x="7720000" y="506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Filtros obligatorios</a:t>
            </a:r>
          </a:p>
        </p:txBody>
      </p:sp>
      <p:sp>
        <p:nvSpPr>
          <p:cNvPr id="30" name="TextBox 29"/>
          <p:cNvSpPr txBox="1"/>
          <p:nvPr/>
        </p:nvSpPr>
        <p:spPr>
          <a:xfrm>
            <a:off x="7720000" y="532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Periodo, departamento, macrorregión sur y gestión, sincronizados. Sur: Arequipa, Cusco, Puno, Moquegua, Tacna, Apurímac, Ayacucho y Madre de Dios (agrupación INEI).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430000"/>
            <a:ext cx="10672000" cy="260000"/>
          </a:xfrm>
          <a:prstGeom prst="rect">
            <a:avLst/>
          </a:prstGeom>
          <a:noFill/>
        </p:spPr>
        <p:txBody>
          <a:bodyPr wrap="square" lIns="0" rIns="0" tIns="0" bIns="0">
            <a:spAutoFit/>
          </a:bodyPr>
          <a:lstStyle/>
          <a:p>
            <a:pPr algn="l">
              <a:lnSpc>
                <a:spcPct val="130000"/>
              </a:lnSpc>
            </a:pPr>
            <a:r>
              <a:rPr sz="1000" b="0" i="0">
                <a:solidFill>
                  <a:srgbClr val="A8452F"/>
                </a:solidFill>
                <a:latin typeface="Segoe UI"/>
              </a:rPr>
              <a:t>3.6 · Arquitectura en Microsoft Fabric</a:t>
            </a:r>
          </a:p>
        </p:txBody>
      </p:sp>
      <p:sp>
        <p:nvSpPr>
          <p:cNvPr id="3" name="TextBox 2"/>
          <p:cNvSpPr txBox="1"/>
          <p:nvPr/>
        </p:nvSpPr>
        <p:spPr>
          <a:xfrm>
            <a:off x="760000" y="700000"/>
            <a:ext cx="10600000" cy="520000"/>
          </a:xfrm>
          <a:prstGeom prst="rect">
            <a:avLst/>
          </a:prstGeom>
          <a:noFill/>
        </p:spPr>
        <p:txBody>
          <a:bodyPr wrap="square" lIns="0" rIns="0" tIns="0" bIns="0">
            <a:spAutoFit/>
          </a:bodyPr>
          <a:lstStyle/>
          <a:p>
            <a:pPr algn="l">
              <a:lnSpc>
                <a:spcPct val="130000"/>
              </a:lnSpc>
            </a:pPr>
            <a:r>
              <a:rPr sz="2300" b="0" i="0">
                <a:solidFill>
                  <a:srgbClr val="1A1A1A"/>
                </a:solidFill>
                <a:latin typeface="Georgia"/>
              </a:rPr>
              <a:t>La misma lógica en otro motor: solo cambia la lectura del CSV</a:t>
            </a:r>
          </a:p>
        </p:txBody>
      </p:sp>
      <p:sp>
        <p:nvSpPr>
          <p:cNvPr id="4" name="TextBox 3"/>
          <p:cNvSpPr txBox="1"/>
          <p:nvPr/>
        </p:nvSpPr>
        <p:spPr>
          <a:xfrm>
            <a:off x="760000" y="1210000"/>
            <a:ext cx="10400000" cy="560000"/>
          </a:xfrm>
          <a:prstGeom prst="rect">
            <a:avLst/>
          </a:prstGeom>
          <a:noFill/>
        </p:spPr>
        <p:txBody>
          <a:bodyPr wrap="square" lIns="0" rIns="0" tIns="0" bIns="0">
            <a:spAutoFit/>
          </a:bodyPr>
          <a:lstStyle/>
          <a:p>
            <a:pPr algn="l">
              <a:lnSpc>
                <a:spcPct val="130000"/>
              </a:lnSpc>
            </a:pPr>
            <a:r>
              <a:rPr sz="1100" b="0" i="0">
                <a:solidFill>
                  <a:srgbClr val="6B6560"/>
                </a:solidFill>
                <a:latin typeface="Segoe UI"/>
              </a:rPr>
              <a:t>Se pide implementar o describir cómo se llevaría a Fabric: capas, orquestación y actualización programada.</a:t>
            </a:r>
          </a:p>
        </p:txBody>
      </p:sp>
      <p:cxnSp>
        <p:nvCxnSpPr>
          <p:cNvPr id="5" name="Connector 4"/>
          <p:cNvCxnSpPr/>
          <p:nvPr/>
        </p:nvCxnSpPr>
        <p:spPr>
          <a:xfrm>
            <a:off x="760000" y="157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docs/arquitectura_fabric.md · fabric/nb_01_transformar.py · sql/portabilidad.md</a:t>
            </a:r>
          </a:p>
        </p:txBody>
      </p:sp>
      <p:sp>
        <p:nvSpPr>
          <p:cNvPr id="8" name="TextBox 7"/>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9 / 13</a:t>
            </a:r>
          </a:p>
        </p:txBody>
      </p:sp>
      <p:cxnSp>
        <p:nvCxnSpPr>
          <p:cNvPr id="9" name="Connector 8"/>
          <p:cNvCxnSpPr/>
          <p:nvPr/>
        </p:nvCxnSpPr>
        <p:spPr>
          <a:xfrm>
            <a:off x="760000" y="1960000"/>
            <a:ext cx="6250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0000" y="2070000"/>
            <a:ext cx="1013846" cy="30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Capa</a:t>
            </a:r>
          </a:p>
        </p:txBody>
      </p:sp>
      <p:sp>
        <p:nvSpPr>
          <p:cNvPr id="11" name="TextBox 10"/>
          <p:cNvSpPr txBox="1"/>
          <p:nvPr/>
        </p:nvSpPr>
        <p:spPr>
          <a:xfrm>
            <a:off x="1983846" y="2070000"/>
            <a:ext cx="2263846" cy="30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Local (implementado)</a:t>
            </a:r>
          </a:p>
        </p:txBody>
      </p:sp>
      <p:sp>
        <p:nvSpPr>
          <p:cNvPr id="12" name="TextBox 11"/>
          <p:cNvSpPr txBox="1"/>
          <p:nvPr/>
        </p:nvSpPr>
        <p:spPr>
          <a:xfrm>
            <a:off x="4387692" y="2070000"/>
            <a:ext cx="2552307" cy="30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Fabric (propuesto)</a:t>
            </a:r>
          </a:p>
        </p:txBody>
      </p:sp>
      <p:cxnSp>
        <p:nvCxnSpPr>
          <p:cNvPr id="13" name="Connector 12"/>
          <p:cNvCxnSpPr/>
          <p:nvPr/>
        </p:nvCxnSpPr>
        <p:spPr>
          <a:xfrm>
            <a:off x="760000" y="2350000"/>
            <a:ext cx="625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30000" y="2450000"/>
            <a:ext cx="1013846"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Bronze</a:t>
            </a:r>
          </a:p>
        </p:txBody>
      </p:sp>
      <p:sp>
        <p:nvSpPr>
          <p:cNvPr id="15" name="TextBox 14"/>
          <p:cNvSpPr txBox="1"/>
          <p:nvPr/>
        </p:nvSpPr>
        <p:spPr>
          <a:xfrm>
            <a:off x="1983846" y="2450000"/>
            <a:ext cx="2263846"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data/bronze/*.zip + manifiesto</a:t>
            </a:r>
          </a:p>
        </p:txBody>
      </p:sp>
      <p:sp>
        <p:nvSpPr>
          <p:cNvPr id="16" name="TextBox 15"/>
          <p:cNvSpPr txBox="1"/>
          <p:nvPr/>
        </p:nvSpPr>
        <p:spPr>
          <a:xfrm>
            <a:off x="4387692" y="2450000"/>
            <a:ext cx="2552307"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Lakehouse · Files/bronze</a:t>
            </a:r>
          </a:p>
        </p:txBody>
      </p:sp>
      <p:sp>
        <p:nvSpPr>
          <p:cNvPr id="17" name="TextBox 16"/>
          <p:cNvSpPr txBox="1"/>
          <p:nvPr/>
        </p:nvSpPr>
        <p:spPr>
          <a:xfrm>
            <a:off x="830000" y="2750000"/>
            <a:ext cx="1013846"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Silver</a:t>
            </a:r>
          </a:p>
        </p:txBody>
      </p:sp>
      <p:sp>
        <p:nvSpPr>
          <p:cNvPr id="18" name="TextBox 17"/>
          <p:cNvSpPr txBox="1"/>
          <p:nvPr/>
        </p:nvSpPr>
        <p:spPr>
          <a:xfrm>
            <a:off x="1983846" y="2750000"/>
            <a:ext cx="2263846"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tablas DuckDB (sql/silver)</a:t>
            </a:r>
          </a:p>
        </p:txBody>
      </p:sp>
      <p:sp>
        <p:nvSpPr>
          <p:cNvPr id="19" name="TextBox 18"/>
          <p:cNvSpPr txBox="1"/>
          <p:nvPr/>
        </p:nvSpPr>
        <p:spPr>
          <a:xfrm>
            <a:off x="4387692" y="2750000"/>
            <a:ext cx="2552307"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Tablas Delta, mismo SQL con spark.sql</a:t>
            </a:r>
          </a:p>
        </p:txBody>
      </p:sp>
      <p:sp>
        <p:nvSpPr>
          <p:cNvPr id="20" name="TextBox 19"/>
          <p:cNvSpPr txBox="1"/>
          <p:nvPr/>
        </p:nvSpPr>
        <p:spPr>
          <a:xfrm>
            <a:off x="830000" y="3050000"/>
            <a:ext cx="1013846"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Gold</a:t>
            </a:r>
          </a:p>
        </p:txBody>
      </p:sp>
      <p:sp>
        <p:nvSpPr>
          <p:cNvPr id="21" name="TextBox 20"/>
          <p:cNvSpPr txBox="1"/>
          <p:nvPr/>
        </p:nvSpPr>
        <p:spPr>
          <a:xfrm>
            <a:off x="1983846" y="3050000"/>
            <a:ext cx="2263846"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parquet (sql/gold)</a:t>
            </a:r>
          </a:p>
        </p:txBody>
      </p:sp>
      <p:sp>
        <p:nvSpPr>
          <p:cNvPr id="22" name="TextBox 21"/>
          <p:cNvSpPr txBox="1"/>
          <p:nvPr/>
        </p:nvSpPr>
        <p:spPr>
          <a:xfrm>
            <a:off x="4387692" y="3050000"/>
            <a:ext cx="2552307"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Tables/gold, sin cambios de SQL</a:t>
            </a:r>
          </a:p>
        </p:txBody>
      </p:sp>
      <p:sp>
        <p:nvSpPr>
          <p:cNvPr id="23" name="TextBox 22"/>
          <p:cNvSpPr txBox="1"/>
          <p:nvPr/>
        </p:nvSpPr>
        <p:spPr>
          <a:xfrm>
            <a:off x="830000" y="3350000"/>
            <a:ext cx="1013846"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Calidad</a:t>
            </a:r>
          </a:p>
        </p:txBody>
      </p:sp>
      <p:sp>
        <p:nvSpPr>
          <p:cNvPr id="24" name="TextBox 23"/>
          <p:cNvSpPr txBox="1"/>
          <p:nvPr/>
        </p:nvSpPr>
        <p:spPr>
          <a:xfrm>
            <a:off x="1983846" y="3350000"/>
            <a:ext cx="2263846"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sql/calidad.sql</a:t>
            </a:r>
          </a:p>
        </p:txBody>
      </p:sp>
      <p:sp>
        <p:nvSpPr>
          <p:cNvPr id="25" name="TextBox 24"/>
          <p:cNvSpPr txBox="1"/>
          <p:nvPr/>
        </p:nvSpPr>
        <p:spPr>
          <a:xfrm>
            <a:off x="4387692" y="3350000"/>
            <a:ext cx="2552307"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Notebook como compuerta del pipeline</a:t>
            </a:r>
          </a:p>
        </p:txBody>
      </p:sp>
      <p:sp>
        <p:nvSpPr>
          <p:cNvPr id="26" name="TextBox 25"/>
          <p:cNvSpPr txBox="1"/>
          <p:nvPr/>
        </p:nvSpPr>
        <p:spPr>
          <a:xfrm>
            <a:off x="830000" y="3650000"/>
            <a:ext cx="1013846"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Modelo</a:t>
            </a:r>
          </a:p>
        </p:txBody>
      </p:sp>
      <p:sp>
        <p:nvSpPr>
          <p:cNvPr id="27" name="TextBox 26"/>
          <p:cNvSpPr txBox="1"/>
          <p:nvPr/>
        </p:nvSpPr>
        <p:spPr>
          <a:xfrm>
            <a:off x="1983846" y="3650000"/>
            <a:ext cx="2263846"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Power BI importado</a:t>
            </a:r>
          </a:p>
        </p:txBody>
      </p:sp>
      <p:sp>
        <p:nvSpPr>
          <p:cNvPr id="28" name="TextBox 27"/>
          <p:cNvSpPr txBox="1"/>
          <p:nvPr/>
        </p:nvSpPr>
        <p:spPr>
          <a:xfrm>
            <a:off x="4387692" y="3650000"/>
            <a:ext cx="2552307"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Modelo semántico Direct Lake</a:t>
            </a:r>
          </a:p>
        </p:txBody>
      </p:sp>
      <p:sp>
        <p:nvSpPr>
          <p:cNvPr id="29" name="TextBox 28"/>
          <p:cNvSpPr txBox="1"/>
          <p:nvPr/>
        </p:nvSpPr>
        <p:spPr>
          <a:xfrm>
            <a:off x="830000" y="3950000"/>
            <a:ext cx="1013846"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Orquestación</a:t>
            </a:r>
          </a:p>
        </p:txBody>
      </p:sp>
      <p:sp>
        <p:nvSpPr>
          <p:cNvPr id="30" name="TextBox 29"/>
          <p:cNvSpPr txBox="1"/>
          <p:nvPr/>
        </p:nvSpPr>
        <p:spPr>
          <a:xfrm>
            <a:off x="1983846" y="3950000"/>
            <a:ext cx="2263846"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run_all.py</a:t>
            </a:r>
          </a:p>
        </p:txBody>
      </p:sp>
      <p:sp>
        <p:nvSpPr>
          <p:cNvPr id="31" name="TextBox 30"/>
          <p:cNvSpPr txBox="1"/>
          <p:nvPr/>
        </p:nvSpPr>
        <p:spPr>
          <a:xfrm>
            <a:off x="4387692" y="3950000"/>
            <a:ext cx="2552307" cy="30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Data Pipeline con dependencias</a:t>
            </a:r>
          </a:p>
        </p:txBody>
      </p:sp>
      <p:cxnSp>
        <p:nvCxnSpPr>
          <p:cNvPr id="32" name="Connector 31"/>
          <p:cNvCxnSpPr/>
          <p:nvPr/>
        </p:nvCxnSpPr>
        <p:spPr>
          <a:xfrm>
            <a:off x="760000" y="4240000"/>
            <a:ext cx="6250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60000" y="4520000"/>
            <a:ext cx="6250000" cy="1200000"/>
          </a:xfrm>
          <a:prstGeom prst="rect">
            <a:avLst/>
          </a:prstGeom>
          <a:noFill/>
        </p:spPr>
        <p:txBody>
          <a:bodyPr wrap="square" lIns="0" rIns="0" tIns="0" bIns="0">
            <a:spAutoFit/>
          </a:bodyPr>
          <a:lstStyle/>
          <a:p>
            <a:pPr algn="l">
              <a:lnSpc>
                <a:spcPct val="130000"/>
              </a:lnSpc>
            </a:pPr>
            <a:r>
              <a:rPr sz="950" b="0" i="0">
                <a:solidFill>
                  <a:srgbClr val="3D3A36"/>
                </a:solidFill>
                <a:latin typeface="Segoe UI"/>
              </a:rPr>
              <a:t>Actualización: un pipeline mensual consulta el catálogo de TUNI y solo descarga y refresca cuando aparece un periodo nuevo. Si un control sale en REVISAR, el modelo semántico no se refresca: el tablero nunca muestra un dato que no pasó la calidad.</a:t>
            </a:r>
          </a:p>
        </p:txBody>
      </p:sp>
      <p:sp>
        <p:nvSpPr>
          <p:cNvPr id="34" name="Rectangle 33"/>
          <p:cNvSpPr/>
          <p:nvPr/>
        </p:nvSpPr>
        <p:spPr>
          <a:xfrm>
            <a:off x="7300000" y="1900000"/>
            <a:ext cx="4130000" cy="4300000"/>
          </a:xfrm>
          <a:prstGeom prst="rect">
            <a:avLst/>
          </a:prstGeom>
          <a:noFill/>
          <a:ln w="9525">
            <a:solidFill>
              <a:srgbClr val="D8D2CA"/>
            </a:solidFill>
          </a:ln>
          <a:effectLst/>
        </p:spPr>
        <p:txBody>
          <a:bodyPr rtlCol="0" anchor="ctr"/>
          <a:lstStyle/>
          <a:p>
            <a:pPr algn="ctr"/>
          </a:p>
        </p:txBody>
      </p:sp>
      <p:sp>
        <p:nvSpPr>
          <p:cNvPr id="35" name="TextBox 34"/>
          <p:cNvSpPr txBox="1"/>
          <p:nvPr/>
        </p:nvSpPr>
        <p:spPr>
          <a:xfrm>
            <a:off x="7480000" y="2040000"/>
            <a:ext cx="4130000" cy="250000"/>
          </a:xfrm>
          <a:prstGeom prst="rect">
            <a:avLst/>
          </a:prstGeom>
          <a:noFill/>
        </p:spPr>
        <p:txBody>
          <a:bodyPr wrap="square" lIns="0" rIns="0" tIns="0" bIns="0">
            <a:spAutoFit/>
          </a:bodyPr>
          <a:lstStyle/>
          <a:p>
            <a:pPr algn="l">
              <a:lnSpc>
                <a:spcPct val="130000"/>
              </a:lnSpc>
            </a:pPr>
            <a:r>
              <a:rPr sz="950" b="1" i="0">
                <a:solidFill>
                  <a:srgbClr val="3D6B4A"/>
                </a:solidFill>
                <a:latin typeface="Segoe UI"/>
              </a:rPr>
              <a:t>CÓMO SE CUMPLE EL CRITERIO</a:t>
            </a:r>
          </a:p>
        </p:txBody>
      </p:sp>
      <p:sp>
        <p:nvSpPr>
          <p:cNvPr id="36" name="TextBox 35"/>
          <p:cNvSpPr txBox="1"/>
          <p:nvPr/>
        </p:nvSpPr>
        <p:spPr>
          <a:xfrm>
            <a:off x="7480000" y="2320000"/>
            <a:ext cx="2930000" cy="520000"/>
          </a:xfrm>
          <a:prstGeom prst="rect">
            <a:avLst/>
          </a:prstGeom>
          <a:noFill/>
        </p:spPr>
        <p:txBody>
          <a:bodyPr wrap="square" lIns="0" rIns="0" tIns="0" bIns="0">
            <a:spAutoFit/>
          </a:bodyPr>
          <a:lstStyle/>
          <a:p>
            <a:pPr algn="l">
              <a:lnSpc>
                <a:spcPct val="110000"/>
              </a:lnSpc>
            </a:pPr>
            <a:r>
              <a:rPr sz="1300" b="0" i="0">
                <a:solidFill>
                  <a:srgbClr val="1A1A1A"/>
                </a:solidFill>
                <a:latin typeface="Georgia"/>
              </a:rPr>
              <a:t>Documentación · propuesta Fabric</a:t>
            </a:r>
          </a:p>
        </p:txBody>
      </p:sp>
      <p:sp>
        <p:nvSpPr>
          <p:cNvPr id="37" name="TextBox 36"/>
          <p:cNvSpPr txBox="1"/>
          <p:nvPr/>
        </p:nvSpPr>
        <p:spPr>
          <a:xfrm>
            <a:off x="10430000" y="2280000"/>
            <a:ext cx="830000" cy="420000"/>
          </a:xfrm>
          <a:prstGeom prst="rect">
            <a:avLst/>
          </a:prstGeom>
          <a:noFill/>
        </p:spPr>
        <p:txBody>
          <a:bodyPr wrap="square" lIns="0" rIns="0" tIns="0" bIns="0">
            <a:spAutoFit/>
          </a:bodyPr>
          <a:lstStyle/>
          <a:p>
            <a:pPr algn="r">
              <a:lnSpc>
                <a:spcPct val="130000"/>
              </a:lnSpc>
            </a:pPr>
            <a:r>
              <a:rPr sz="2000" b="0" i="0">
                <a:solidFill>
                  <a:srgbClr val="A8452F"/>
                </a:solidFill>
                <a:latin typeface="Georgia"/>
              </a:rPr>
              <a:t>5 %</a:t>
            </a:r>
          </a:p>
        </p:txBody>
      </p:sp>
      <p:cxnSp>
        <p:nvCxnSpPr>
          <p:cNvPr id="38" name="Connector 37"/>
          <p:cNvCxnSpPr/>
          <p:nvPr/>
        </p:nvCxnSpPr>
        <p:spPr>
          <a:xfrm>
            <a:off x="7480000" y="292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480000" y="298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40" name="TextBox 39"/>
          <p:cNvSpPr txBox="1"/>
          <p:nvPr/>
        </p:nvSpPr>
        <p:spPr>
          <a:xfrm>
            <a:off x="7720000" y="298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Capas de datos</a:t>
            </a:r>
          </a:p>
        </p:txBody>
      </p:sp>
      <p:sp>
        <p:nvSpPr>
          <p:cNvPr id="41" name="TextBox 40"/>
          <p:cNvSpPr txBox="1"/>
          <p:nvPr/>
        </p:nvSpPr>
        <p:spPr>
          <a:xfrm>
            <a:off x="7720000" y="324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Bronze, silver y gold en un Lakehouse, con el mismo SQL. De las líneas de silver y gold, solo 4 necesitan traducción a Spark, y ninguna está en gold.</a:t>
            </a:r>
          </a:p>
        </p:txBody>
      </p:sp>
      <p:cxnSp>
        <p:nvCxnSpPr>
          <p:cNvPr id="42" name="Connector 41"/>
          <p:cNvCxnSpPr/>
          <p:nvPr/>
        </p:nvCxnSpPr>
        <p:spPr>
          <a:xfrm>
            <a:off x="7480000" y="396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480000" y="402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44" name="TextBox 43"/>
          <p:cNvSpPr txBox="1"/>
          <p:nvPr/>
        </p:nvSpPr>
        <p:spPr>
          <a:xfrm>
            <a:off x="7720000" y="402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Orquestación</a:t>
            </a:r>
          </a:p>
        </p:txBody>
      </p:sp>
      <p:sp>
        <p:nvSpPr>
          <p:cNvPr id="45" name="TextBox 44"/>
          <p:cNvSpPr txBox="1"/>
          <p:nvPr/>
        </p:nvSpPr>
        <p:spPr>
          <a:xfrm>
            <a:off x="7720000" y="428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Data Pipeline: ingesta → silver → gold → calidad como compuerta → refresco del modelo.</a:t>
            </a:r>
          </a:p>
        </p:txBody>
      </p:sp>
      <p:cxnSp>
        <p:nvCxnSpPr>
          <p:cNvPr id="46" name="Connector 45"/>
          <p:cNvCxnSpPr/>
          <p:nvPr/>
        </p:nvCxnSpPr>
        <p:spPr>
          <a:xfrm>
            <a:off x="7480000" y="5000000"/>
            <a:ext cx="3770000" cy="0"/>
          </a:xfrm>
          <a:prstGeom prst="line">
            <a:avLst/>
          </a:prstGeom>
          <a:ln w="6350">
            <a:solidFill>
              <a:srgbClr val="D8D2CA"/>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480000" y="5060000"/>
            <a:ext cx="220000" cy="240000"/>
          </a:xfrm>
          <a:prstGeom prst="rect">
            <a:avLst/>
          </a:prstGeom>
          <a:noFill/>
        </p:spPr>
        <p:txBody>
          <a:bodyPr wrap="square" lIns="0" rIns="0" tIns="0" bIns="0">
            <a:spAutoFit/>
          </a:bodyPr>
          <a:lstStyle/>
          <a:p>
            <a:pPr algn="l">
              <a:lnSpc>
                <a:spcPct val="130000"/>
              </a:lnSpc>
            </a:pPr>
            <a:r>
              <a:rPr sz="1100" b="1" i="0">
                <a:solidFill>
                  <a:srgbClr val="3D6B4A"/>
                </a:solidFill>
                <a:latin typeface="Segoe UI"/>
              </a:rPr>
              <a:t>✓</a:t>
            </a:r>
          </a:p>
        </p:txBody>
      </p:sp>
      <p:sp>
        <p:nvSpPr>
          <p:cNvPr id="48" name="TextBox 47"/>
          <p:cNvSpPr txBox="1"/>
          <p:nvPr/>
        </p:nvSpPr>
        <p:spPr>
          <a:xfrm>
            <a:off x="7720000" y="5060000"/>
            <a:ext cx="3530000" cy="260000"/>
          </a:xfrm>
          <a:prstGeom prst="rect">
            <a:avLst/>
          </a:prstGeom>
          <a:noFill/>
        </p:spPr>
        <p:txBody>
          <a:bodyPr wrap="square" lIns="0" rIns="0" tIns="0" bIns="0">
            <a:spAutoFit/>
          </a:bodyPr>
          <a:lstStyle/>
          <a:p>
            <a:pPr algn="l">
              <a:lnSpc>
                <a:spcPct val="130000"/>
              </a:lnSpc>
            </a:pPr>
            <a:r>
              <a:rPr sz="1050" b="1" i="0">
                <a:solidFill>
                  <a:srgbClr val="1A1A1A"/>
                </a:solidFill>
                <a:latin typeface="Segoe UI"/>
              </a:rPr>
              <a:t>Actualización programada</a:t>
            </a:r>
          </a:p>
        </p:txBody>
      </p:sp>
      <p:sp>
        <p:nvSpPr>
          <p:cNvPr id="49" name="TextBox 48"/>
          <p:cNvSpPr txBox="1"/>
          <p:nvPr/>
        </p:nvSpPr>
        <p:spPr>
          <a:xfrm>
            <a:off x="7720000" y="5320000"/>
            <a:ext cx="3530000" cy="740000"/>
          </a:xfrm>
          <a:prstGeom prst="rect">
            <a:avLst/>
          </a:prstGeom>
          <a:noFill/>
        </p:spPr>
        <p:txBody>
          <a:bodyPr wrap="square" lIns="0" rIns="0" tIns="0" bIns="0">
            <a:spAutoFit/>
          </a:bodyPr>
          <a:lstStyle/>
          <a:p>
            <a:pPr algn="l">
              <a:lnSpc>
                <a:spcPct val="125000"/>
              </a:lnSpc>
            </a:pPr>
            <a:r>
              <a:rPr sz="900" b="0" i="0">
                <a:solidFill>
                  <a:srgbClr val="3D3A36"/>
                </a:solidFill>
                <a:latin typeface="Segoe UI"/>
              </a:rPr>
              <a:t>Mensual, condicionada a que aparezca un periodo nuevo. Se entrega el notebook PySpark, declarado como no ejecutado por falta de capacidad.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430000"/>
            <a:ext cx="10672000" cy="260000"/>
          </a:xfrm>
          <a:prstGeom prst="rect">
            <a:avLst/>
          </a:prstGeom>
          <a:noFill/>
        </p:spPr>
        <p:txBody>
          <a:bodyPr wrap="square" lIns="0" rIns="0" tIns="0" bIns="0">
            <a:spAutoFit/>
          </a:bodyPr>
          <a:lstStyle/>
          <a:p>
            <a:pPr algn="l">
              <a:lnSpc>
                <a:spcPct val="130000"/>
              </a:lnSpc>
            </a:pPr>
            <a:r>
              <a:rPr sz="1000" b="0" i="0">
                <a:solidFill>
                  <a:srgbClr val="A8452F"/>
                </a:solidFill>
                <a:latin typeface="Segoe UI"/>
              </a:rPr>
              <a:t>Decisiones técnicas · documentación y siguientes pasos</a:t>
            </a:r>
          </a:p>
        </p:txBody>
      </p:sp>
      <p:sp>
        <p:nvSpPr>
          <p:cNvPr id="3" name="TextBox 2"/>
          <p:cNvSpPr txBox="1"/>
          <p:nvPr/>
        </p:nvSpPr>
        <p:spPr>
          <a:xfrm>
            <a:off x="760000" y="700000"/>
            <a:ext cx="10600000" cy="520000"/>
          </a:xfrm>
          <a:prstGeom prst="rect">
            <a:avLst/>
          </a:prstGeom>
          <a:noFill/>
        </p:spPr>
        <p:txBody>
          <a:bodyPr wrap="square" lIns="0" rIns="0" tIns="0" bIns="0">
            <a:spAutoFit/>
          </a:bodyPr>
          <a:lstStyle/>
          <a:p>
            <a:pPr algn="l">
              <a:lnSpc>
                <a:spcPct val="130000"/>
              </a:lnSpc>
            </a:pPr>
            <a:r>
              <a:rPr sz="2300" b="0" i="0">
                <a:solidFill>
                  <a:srgbClr val="1A1A1A"/>
                </a:solidFill>
                <a:latin typeface="Georgia"/>
              </a:rPr>
              <a:t>Las decisiones de mayor impacto, y lo que queda pendiente</a:t>
            </a:r>
          </a:p>
        </p:txBody>
      </p:sp>
      <p:sp>
        <p:nvSpPr>
          <p:cNvPr id="4" name="TextBox 3"/>
          <p:cNvSpPr txBox="1"/>
          <p:nvPr/>
        </p:nvSpPr>
        <p:spPr>
          <a:xfrm>
            <a:off x="760000" y="1210000"/>
            <a:ext cx="10400000" cy="560000"/>
          </a:xfrm>
          <a:prstGeom prst="rect">
            <a:avLst/>
          </a:prstGeom>
          <a:noFill/>
        </p:spPr>
        <p:txBody>
          <a:bodyPr wrap="square" lIns="0" rIns="0" tIns="0" bIns="0">
            <a:spAutoFit/>
          </a:bodyPr>
          <a:lstStyle/>
          <a:p>
            <a:pPr algn="l">
              <a:lnSpc>
                <a:spcPct val="130000"/>
              </a:lnSpc>
            </a:pPr>
            <a:r>
              <a:rPr sz="1100" b="0" i="0">
                <a:solidFill>
                  <a:srgbClr val="6B6560"/>
                </a:solidFill>
                <a:latin typeface="Segoe UI"/>
              </a:rPr>
              <a:t>Las 49 decisiones están registradas con su sustento, la alternativa descartada y la evidencia.</a:t>
            </a:r>
          </a:p>
        </p:txBody>
      </p:sp>
      <p:cxnSp>
        <p:nvCxnSpPr>
          <p:cNvPr id="5" name="Connector 4"/>
          <p:cNvCxnSpPr/>
          <p:nvPr/>
        </p:nvCxnSpPr>
        <p:spPr>
          <a:xfrm>
            <a:off x="760000" y="157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docs/decisiones_tecnicas.md · README.md · docs/diccionario_datos.md · docs/catalogo_medidas.md</a:t>
            </a:r>
          </a:p>
        </p:txBody>
      </p:sp>
      <p:sp>
        <p:nvSpPr>
          <p:cNvPr id="8" name="TextBox 7"/>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10 / 13</a:t>
            </a:r>
          </a:p>
        </p:txBody>
      </p:sp>
      <p:cxnSp>
        <p:nvCxnSpPr>
          <p:cNvPr id="9" name="Connector 8"/>
          <p:cNvCxnSpPr/>
          <p:nvPr/>
        </p:nvCxnSpPr>
        <p:spPr>
          <a:xfrm>
            <a:off x="760000" y="1960000"/>
            <a:ext cx="6250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0000" y="2070000"/>
            <a:ext cx="2098805" cy="32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Decisión</a:t>
            </a:r>
          </a:p>
        </p:txBody>
      </p:sp>
      <p:sp>
        <p:nvSpPr>
          <p:cNvPr id="11" name="TextBox 10"/>
          <p:cNvSpPr txBox="1"/>
          <p:nvPr/>
        </p:nvSpPr>
        <p:spPr>
          <a:xfrm>
            <a:off x="3068805" y="2070000"/>
            <a:ext cx="3871194" cy="32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Por qué</a:t>
            </a:r>
          </a:p>
        </p:txBody>
      </p:sp>
      <p:cxnSp>
        <p:nvCxnSpPr>
          <p:cNvPr id="12" name="Connector 11"/>
          <p:cNvCxnSpPr/>
          <p:nvPr/>
        </p:nvCxnSpPr>
        <p:spPr>
          <a:xfrm>
            <a:off x="760000" y="2370000"/>
            <a:ext cx="625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30000" y="2470000"/>
            <a:ext cx="2098805" cy="32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Programa = INEI + código SIU</a:t>
            </a:r>
          </a:p>
        </p:txBody>
      </p:sp>
      <p:sp>
        <p:nvSpPr>
          <p:cNvPr id="14" name="TextBox 13"/>
          <p:cNvSpPr txBox="1"/>
          <p:nvPr/>
        </p:nvSpPr>
        <p:spPr>
          <a:xfrm>
            <a:off x="3068805" y="2470000"/>
            <a:ext cx="3871194" cy="32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288 de 471 códigos SIU se repiten entre universidades</a:t>
            </a:r>
          </a:p>
        </p:txBody>
      </p:sp>
      <p:sp>
        <p:nvSpPr>
          <p:cNvPr id="15" name="TextBox 14"/>
          <p:cNvSpPr txBox="1"/>
          <p:nvPr/>
        </p:nvSpPr>
        <p:spPr>
          <a:xfrm>
            <a:off x="830000" y="2790000"/>
            <a:ext cx="2098805" cy="32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Homologar por CINE-UNESCO</a:t>
            </a:r>
          </a:p>
        </p:txBody>
      </p:sp>
      <p:sp>
        <p:nvSpPr>
          <p:cNvPr id="16" name="TextBox 15"/>
          <p:cNvSpPr txBox="1"/>
          <p:nvPr/>
        </p:nvSpPr>
        <p:spPr>
          <a:xfrm>
            <a:off x="3068805" y="2790000"/>
            <a:ext cx="3871194" cy="32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Es el criterio oficial que ya trae SUNEDU; evita emparejar nombres</a:t>
            </a:r>
          </a:p>
        </p:txBody>
      </p:sp>
      <p:sp>
        <p:nvSpPr>
          <p:cNvPr id="17" name="TextBox 16"/>
          <p:cNvSpPr txBox="1"/>
          <p:nvPr/>
        </p:nvSpPr>
        <p:spPr>
          <a:xfrm>
            <a:off x="830000" y="3110000"/>
            <a:ext cx="2098805" cy="32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Semestre como dimensión</a:t>
            </a:r>
          </a:p>
        </p:txBody>
      </p:sp>
      <p:sp>
        <p:nvSpPr>
          <p:cNvPr id="18" name="TextBox 17"/>
          <p:cNvSpPr txBox="1"/>
          <p:nvPr/>
        </p:nvSpPr>
        <p:spPr>
          <a:xfrm>
            <a:off x="3068805" y="3110000"/>
            <a:ext cx="3871194" cy="32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Anclar la matrícula al semestre I ocultaba la retención intra-anual</a:t>
            </a:r>
          </a:p>
        </p:txBody>
      </p:sp>
      <p:sp>
        <p:nvSpPr>
          <p:cNvPr id="19" name="TextBox 18"/>
          <p:cNvSpPr txBox="1"/>
          <p:nvPr/>
        </p:nvSpPr>
        <p:spPr>
          <a:xfrm>
            <a:off x="830000" y="3430000"/>
            <a:ext cx="2098805" cy="32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Matrícula semi-aditiva</a:t>
            </a:r>
          </a:p>
        </p:txBody>
      </p:sp>
      <p:sp>
        <p:nvSpPr>
          <p:cNvPr id="20" name="TextBox 19"/>
          <p:cNvSpPr txBox="1"/>
          <p:nvPr/>
        </p:nvSpPr>
        <p:spPr>
          <a:xfrm>
            <a:off x="3068805" y="3430000"/>
            <a:ext cx="3871194" cy="32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Es un stock: sumar años cuenta a la misma persona hasta cinco veces</a:t>
            </a:r>
          </a:p>
        </p:txBody>
      </p:sp>
      <p:sp>
        <p:nvSpPr>
          <p:cNvPr id="21" name="TextBox 20"/>
          <p:cNvSpPr txBox="1"/>
          <p:nvPr/>
        </p:nvSpPr>
        <p:spPr>
          <a:xfrm>
            <a:off x="830000" y="3750000"/>
            <a:ext cx="2098805" cy="32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Regresión sobre dos series</a:t>
            </a:r>
          </a:p>
        </p:txBody>
      </p:sp>
      <p:sp>
        <p:nvSpPr>
          <p:cNvPr id="22" name="TextBox 21"/>
          <p:cNvSpPr txBox="1"/>
          <p:nvPr/>
        </p:nvSpPr>
        <p:spPr>
          <a:xfrm>
            <a:off x="3068805" y="3750000"/>
            <a:ext cx="3871194" cy="32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La matrícula de un programa nuevo crece aunque su ingreso caiga</a:t>
            </a:r>
          </a:p>
        </p:txBody>
      </p:sp>
      <p:sp>
        <p:nvSpPr>
          <p:cNvPr id="23" name="TextBox 22"/>
          <p:cNvSpPr txBox="1"/>
          <p:nvPr/>
        </p:nvSpPr>
        <p:spPr>
          <a:xfrm>
            <a:off x="830000" y="4070000"/>
            <a:ext cx="2098805" cy="32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Comparadores con la gestión</a:t>
            </a:r>
          </a:p>
        </p:txBody>
      </p:sp>
      <p:sp>
        <p:nvSpPr>
          <p:cNvPr id="24" name="TextBox 23"/>
          <p:cNvSpPr txBox="1"/>
          <p:nvPr/>
        </p:nvSpPr>
        <p:spPr>
          <a:xfrm>
            <a:off x="3068805" y="4070000"/>
            <a:ext cx="3871194" cy="32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Contra las públicas, la conclusión de selectividad se invierte</a:t>
            </a:r>
          </a:p>
        </p:txBody>
      </p:sp>
      <p:cxnSp>
        <p:nvCxnSpPr>
          <p:cNvPr id="25" name="Connector 24"/>
          <p:cNvCxnSpPr/>
          <p:nvPr/>
        </p:nvCxnSpPr>
        <p:spPr>
          <a:xfrm>
            <a:off x="760000" y="4380000"/>
            <a:ext cx="6250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00000" y="1960000"/>
            <a:ext cx="4130000" cy="250000"/>
          </a:xfrm>
          <a:prstGeom prst="rect">
            <a:avLst/>
          </a:prstGeom>
          <a:noFill/>
        </p:spPr>
        <p:txBody>
          <a:bodyPr wrap="square" lIns="0" rIns="0" tIns="0" bIns="0">
            <a:spAutoFit/>
          </a:bodyPr>
          <a:lstStyle/>
          <a:p>
            <a:pPr algn="l">
              <a:lnSpc>
                <a:spcPct val="130000"/>
              </a:lnSpc>
            </a:pPr>
            <a:r>
              <a:rPr sz="950" b="1" i="0">
                <a:solidFill>
                  <a:srgbClr val="A8452F"/>
                </a:solidFill>
                <a:latin typeface="Segoe UI"/>
              </a:rPr>
              <a:t>SIGUIENTES PASOS</a:t>
            </a:r>
          </a:p>
        </p:txBody>
      </p:sp>
      <p:sp>
        <p:nvSpPr>
          <p:cNvPr id="27" name="TextBox 26"/>
          <p:cNvSpPr txBox="1"/>
          <p:nvPr/>
        </p:nvSpPr>
        <p:spPr>
          <a:xfrm>
            <a:off x="7300000" y="2250000"/>
            <a:ext cx="150000" cy="240000"/>
          </a:xfrm>
          <a:prstGeom prst="rect">
            <a:avLst/>
          </a:prstGeom>
          <a:noFill/>
        </p:spPr>
        <p:txBody>
          <a:bodyPr wrap="square" lIns="0" rIns="0" tIns="0" bIns="0">
            <a:spAutoFit/>
          </a:bodyPr>
          <a:lstStyle/>
          <a:p>
            <a:pPr algn="l">
              <a:lnSpc>
                <a:spcPct val="130000"/>
              </a:lnSpc>
            </a:pPr>
            <a:r>
              <a:rPr sz="900" b="0" i="0">
                <a:solidFill>
                  <a:srgbClr val="A8452F"/>
                </a:solidFill>
                <a:latin typeface="Segoe UI"/>
              </a:rPr>
              <a:t>—</a:t>
            </a:r>
          </a:p>
        </p:txBody>
      </p:sp>
      <p:sp>
        <p:nvSpPr>
          <p:cNvPr id="28" name="TextBox 27"/>
          <p:cNvSpPr txBox="1"/>
          <p:nvPr/>
        </p:nvSpPr>
        <p:spPr>
          <a:xfrm>
            <a:off x="7520000" y="2250000"/>
            <a:ext cx="3910000" cy="520000"/>
          </a:xfrm>
          <a:prstGeom prst="rect">
            <a:avLst/>
          </a:prstGeom>
          <a:noFill/>
        </p:spPr>
        <p:txBody>
          <a:bodyPr wrap="square" lIns="0" rIns="0" tIns="0" bIns="0">
            <a:spAutoFit/>
          </a:bodyPr>
          <a:lstStyle/>
          <a:p>
            <a:pPr algn="l">
              <a:lnSpc>
                <a:spcPct val="130000"/>
              </a:lnSpc>
            </a:pPr>
            <a:r>
              <a:rPr sz="900" b="0" i="0">
                <a:solidFill>
                  <a:srgbClr val="3D3A36"/>
                </a:solidFill>
                <a:latin typeface="Segoe UI"/>
              </a:rPr>
              <a:t>Montar el pipeline en una capacidad de Fabric: el notebook y el SQL ya están escritos.</a:t>
            </a:r>
          </a:p>
        </p:txBody>
      </p:sp>
      <p:sp>
        <p:nvSpPr>
          <p:cNvPr id="29" name="TextBox 28"/>
          <p:cNvSpPr txBox="1"/>
          <p:nvPr/>
        </p:nvSpPr>
        <p:spPr>
          <a:xfrm>
            <a:off x="7300000" y="2770000"/>
            <a:ext cx="150000" cy="240000"/>
          </a:xfrm>
          <a:prstGeom prst="rect">
            <a:avLst/>
          </a:prstGeom>
          <a:noFill/>
        </p:spPr>
        <p:txBody>
          <a:bodyPr wrap="square" lIns="0" rIns="0" tIns="0" bIns="0">
            <a:spAutoFit/>
          </a:bodyPr>
          <a:lstStyle/>
          <a:p>
            <a:pPr algn="l">
              <a:lnSpc>
                <a:spcPct val="130000"/>
              </a:lnSpc>
            </a:pPr>
            <a:r>
              <a:rPr sz="900" b="0" i="0">
                <a:solidFill>
                  <a:srgbClr val="A8452F"/>
                </a:solidFill>
                <a:latin typeface="Segoe UI"/>
              </a:rPr>
              <a:t>—</a:t>
            </a:r>
          </a:p>
        </p:txBody>
      </p:sp>
      <p:sp>
        <p:nvSpPr>
          <p:cNvPr id="30" name="TextBox 29"/>
          <p:cNvSpPr txBox="1"/>
          <p:nvPr/>
        </p:nvSpPr>
        <p:spPr>
          <a:xfrm>
            <a:off x="7520000" y="2770000"/>
            <a:ext cx="3910000" cy="520000"/>
          </a:xfrm>
          <a:prstGeom prst="rect">
            <a:avLst/>
          </a:prstGeom>
          <a:noFill/>
        </p:spPr>
        <p:txBody>
          <a:bodyPr wrap="square" lIns="0" rIns="0" tIns="0" bIns="0">
            <a:spAutoFit/>
          </a:bodyPr>
          <a:lstStyle/>
          <a:p>
            <a:pPr algn="l">
              <a:lnSpc>
                <a:spcPct val="130000"/>
              </a:lnSpc>
            </a:pPr>
            <a:r>
              <a:rPr sz="900" b="0" i="0">
                <a:solidFill>
                  <a:srgbClr val="3D3A36"/>
                </a:solidFill>
                <a:latin typeface="Segoe UI"/>
              </a:rPr>
              <a:t>Detalle por local o filial, que exige una tabla puente que la fuente no publica.</a:t>
            </a:r>
          </a:p>
        </p:txBody>
      </p:sp>
      <p:sp>
        <p:nvSpPr>
          <p:cNvPr id="31" name="TextBox 30"/>
          <p:cNvSpPr txBox="1"/>
          <p:nvPr/>
        </p:nvSpPr>
        <p:spPr>
          <a:xfrm>
            <a:off x="7300000" y="3290000"/>
            <a:ext cx="150000" cy="240000"/>
          </a:xfrm>
          <a:prstGeom prst="rect">
            <a:avLst/>
          </a:prstGeom>
          <a:noFill/>
        </p:spPr>
        <p:txBody>
          <a:bodyPr wrap="square" lIns="0" rIns="0" tIns="0" bIns="0">
            <a:spAutoFit/>
          </a:bodyPr>
          <a:lstStyle/>
          <a:p>
            <a:pPr algn="l">
              <a:lnSpc>
                <a:spcPct val="130000"/>
              </a:lnSpc>
            </a:pPr>
            <a:r>
              <a:rPr sz="900" b="0" i="0">
                <a:solidFill>
                  <a:srgbClr val="A8452F"/>
                </a:solidFill>
                <a:latin typeface="Segoe UI"/>
              </a:rPr>
              <a:t>—</a:t>
            </a:r>
          </a:p>
        </p:txBody>
      </p:sp>
      <p:sp>
        <p:nvSpPr>
          <p:cNvPr id="32" name="TextBox 31"/>
          <p:cNvSpPr txBox="1"/>
          <p:nvPr/>
        </p:nvSpPr>
        <p:spPr>
          <a:xfrm>
            <a:off x="7520000" y="3290000"/>
            <a:ext cx="3910000" cy="520000"/>
          </a:xfrm>
          <a:prstGeom prst="rect">
            <a:avLst/>
          </a:prstGeom>
          <a:noFill/>
        </p:spPr>
        <p:txBody>
          <a:bodyPr wrap="square" lIns="0" rIns="0" tIns="0" bIns="0">
            <a:spAutoFit/>
          </a:bodyPr>
          <a:lstStyle/>
          <a:p>
            <a:pPr algn="l">
              <a:lnSpc>
                <a:spcPct val="130000"/>
              </a:lnSpc>
            </a:pPr>
            <a:r>
              <a:rPr sz="900" b="0" i="0">
                <a:solidFill>
                  <a:srgbClr val="3D3A36"/>
                </a:solidFill>
                <a:latin typeface="Segoe UI"/>
              </a:rPr>
              <a:t>Seguimiento de cohortes, si SUNEDU publica un identificador estable entre datasets.</a:t>
            </a:r>
          </a:p>
        </p:txBody>
      </p:sp>
      <p:sp>
        <p:nvSpPr>
          <p:cNvPr id="33" name="TextBox 32"/>
          <p:cNvSpPr txBox="1"/>
          <p:nvPr/>
        </p:nvSpPr>
        <p:spPr>
          <a:xfrm>
            <a:off x="7300000" y="3950000"/>
            <a:ext cx="4130000" cy="250000"/>
          </a:xfrm>
          <a:prstGeom prst="rect">
            <a:avLst/>
          </a:prstGeom>
          <a:noFill/>
        </p:spPr>
        <p:txBody>
          <a:bodyPr wrap="square" lIns="0" rIns="0" tIns="0" bIns="0">
            <a:spAutoFit/>
          </a:bodyPr>
          <a:lstStyle/>
          <a:p>
            <a:pPr algn="l">
              <a:lnSpc>
                <a:spcPct val="130000"/>
              </a:lnSpc>
            </a:pPr>
            <a:r>
              <a:rPr sz="950" b="1" i="0">
                <a:solidFill>
                  <a:srgbClr val="A8452F"/>
                </a:solidFill>
                <a:latin typeface="Segoe UI"/>
              </a:rPr>
              <a:t>DOCUMENTACIÓN ENTREGADA</a:t>
            </a:r>
          </a:p>
        </p:txBody>
      </p:sp>
      <p:sp>
        <p:nvSpPr>
          <p:cNvPr id="34" name="TextBox 33"/>
          <p:cNvSpPr txBox="1"/>
          <p:nvPr/>
        </p:nvSpPr>
        <p:spPr>
          <a:xfrm>
            <a:off x="7300000" y="4230000"/>
            <a:ext cx="4130000" cy="800000"/>
          </a:xfrm>
          <a:prstGeom prst="rect">
            <a:avLst/>
          </a:prstGeom>
          <a:noFill/>
        </p:spPr>
        <p:txBody>
          <a:bodyPr wrap="square" lIns="0" rIns="0" tIns="0" bIns="0">
            <a:spAutoFit/>
          </a:bodyPr>
          <a:lstStyle/>
          <a:p>
            <a:pPr algn="l">
              <a:lnSpc>
                <a:spcPct val="130000"/>
              </a:lnSpc>
            </a:pPr>
            <a:r>
              <a:rPr sz="900" b="0" i="0">
                <a:solidFill>
                  <a:srgbClr val="3D3A36"/>
                </a:solidFill>
                <a:latin typeface="Segoe UI"/>
              </a:rPr>
              <a:t>README con la ejecución, diccionario de datos, catálogo de 79 medidas, guía de implementación en Power BI y modelo semántico como código (TMDL).</a:t>
            </a:r>
          </a:p>
        </p:txBody>
      </p:sp>
      <p:sp>
        <p:nvSpPr>
          <p:cNvPr id="35" name="TextBox 34"/>
          <p:cNvSpPr txBox="1"/>
          <p:nvPr/>
        </p:nvSpPr>
        <p:spPr>
          <a:xfrm>
            <a:off x="7300000" y="5000000"/>
            <a:ext cx="4130000" cy="250000"/>
          </a:xfrm>
          <a:prstGeom prst="rect">
            <a:avLst/>
          </a:prstGeom>
          <a:noFill/>
        </p:spPr>
        <p:txBody>
          <a:bodyPr wrap="square" lIns="0" rIns="0" tIns="0" bIns="0">
            <a:spAutoFit/>
          </a:bodyPr>
          <a:lstStyle/>
          <a:p>
            <a:pPr algn="l">
              <a:lnSpc>
                <a:spcPct val="130000"/>
              </a:lnSpc>
            </a:pPr>
            <a:r>
              <a:rPr sz="950" b="1" i="0">
                <a:solidFill>
                  <a:srgbClr val="A8452F"/>
                </a:solidFill>
                <a:latin typeface="Segoe UI"/>
              </a:rPr>
              <a:t>USO DE INTELIGENCIA ARTIFICIAL</a:t>
            </a:r>
          </a:p>
        </p:txBody>
      </p:sp>
      <p:sp>
        <p:nvSpPr>
          <p:cNvPr id="36" name="TextBox 35"/>
          <p:cNvSpPr txBox="1"/>
          <p:nvPr/>
        </p:nvSpPr>
        <p:spPr>
          <a:xfrm>
            <a:off x="7300000" y="5280000"/>
            <a:ext cx="4130000" cy="950000"/>
          </a:xfrm>
          <a:prstGeom prst="rect">
            <a:avLst/>
          </a:prstGeom>
          <a:noFill/>
        </p:spPr>
        <p:txBody>
          <a:bodyPr wrap="square" lIns="0" rIns="0" tIns="0" bIns="0">
            <a:spAutoFit/>
          </a:bodyPr>
          <a:lstStyle/>
          <a:p>
            <a:pPr algn="l">
              <a:lnSpc>
                <a:spcPct val="130000"/>
              </a:lnSpc>
            </a:pPr>
            <a:r>
              <a:rPr sz="900" b="0" i="0">
                <a:solidFill>
                  <a:srgbClr val="3D3A36"/>
                </a:solidFill>
                <a:latin typeface="Segoe UI"/>
              </a:rPr>
              <a:t>Claude (Anthropic) asistió en la ingeniería inversa de la API, la redacción del código y la documentación. Las decisiones se justificaron explícitamente y todas las cifras salen del pipeline.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430000"/>
            <a:ext cx="10672000" cy="260000"/>
          </a:xfrm>
          <a:prstGeom prst="rect">
            <a:avLst/>
          </a:prstGeom>
          <a:noFill/>
        </p:spPr>
        <p:txBody>
          <a:bodyPr wrap="square" lIns="0" rIns="0" tIns="0" bIns="0">
            <a:spAutoFit/>
          </a:bodyPr>
          <a:lstStyle/>
          <a:p>
            <a:pPr algn="l">
              <a:lnSpc>
                <a:spcPct val="130000"/>
              </a:lnSpc>
            </a:pPr>
            <a:r>
              <a:rPr sz="1000" b="0" i="0">
                <a:solidFill>
                  <a:srgbClr val="A8452F"/>
                </a:solidFill>
                <a:latin typeface="Segoe UI"/>
              </a:rPr>
              <a:t>Anexo A · evidencias de calidad</a:t>
            </a:r>
          </a:p>
        </p:txBody>
      </p:sp>
      <p:sp>
        <p:nvSpPr>
          <p:cNvPr id="3" name="TextBox 2"/>
          <p:cNvSpPr txBox="1"/>
          <p:nvPr/>
        </p:nvSpPr>
        <p:spPr>
          <a:xfrm>
            <a:off x="760000" y="700000"/>
            <a:ext cx="10600000" cy="520000"/>
          </a:xfrm>
          <a:prstGeom prst="rect">
            <a:avLst/>
          </a:prstGeom>
          <a:noFill/>
        </p:spPr>
        <p:txBody>
          <a:bodyPr wrap="square" lIns="0" rIns="0" tIns="0" bIns="0">
            <a:spAutoFit/>
          </a:bodyPr>
          <a:lstStyle/>
          <a:p>
            <a:pPr algn="l">
              <a:lnSpc>
                <a:spcPct val="130000"/>
              </a:lnSpc>
            </a:pPr>
            <a:r>
              <a:rPr sz="2300" b="0" i="0">
                <a:solidFill>
                  <a:srgbClr val="1A1A1A"/>
                </a:solidFill>
                <a:latin typeface="Georgia"/>
              </a:rPr>
              <a:t>Resultados de los controles</a:t>
            </a:r>
          </a:p>
        </p:txBody>
      </p:sp>
      <p:sp>
        <p:nvSpPr>
          <p:cNvPr id="4" name="TextBox 3"/>
          <p:cNvSpPr txBox="1"/>
          <p:nvPr/>
        </p:nvSpPr>
        <p:spPr>
          <a:xfrm>
            <a:off x="760000" y="1210000"/>
            <a:ext cx="10400000" cy="560000"/>
          </a:xfrm>
          <a:prstGeom prst="rect">
            <a:avLst/>
          </a:prstGeom>
          <a:noFill/>
        </p:spPr>
        <p:txBody>
          <a:bodyPr wrap="square" lIns="0" rIns="0" tIns="0" bIns="0">
            <a:spAutoFit/>
          </a:bodyPr>
          <a:lstStyle/>
          <a:p>
            <a:pPr algn="l">
              <a:lnSpc>
                <a:spcPct val="130000"/>
              </a:lnSpc>
            </a:pPr>
            <a:r>
              <a:rPr sz="1100" b="0" i="0">
                <a:solidFill>
                  <a:srgbClr val="6B6560"/>
                </a:solidFill>
                <a:latin typeface="Segoe UI"/>
              </a:rPr>
              <a:t>Una fila por control: la de mayor valor, que es la más informativa. El CSV completo acompaña la entrega.</a:t>
            </a:r>
          </a:p>
        </p:txBody>
      </p:sp>
      <p:cxnSp>
        <p:nvCxnSpPr>
          <p:cNvPr id="5" name="Connector 4"/>
          <p:cNvCxnSpPr/>
          <p:nvPr/>
        </p:nvCxnSpPr>
        <p:spPr>
          <a:xfrm>
            <a:off x="760000" y="157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salidas/calidad/qc_resultados.csv</a:t>
            </a:r>
          </a:p>
        </p:txBody>
      </p:sp>
      <p:sp>
        <p:nvSpPr>
          <p:cNvPr id="8" name="TextBox 7"/>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11 / 13</a:t>
            </a:r>
          </a:p>
        </p:txBody>
      </p:sp>
      <p:cxnSp>
        <p:nvCxnSpPr>
          <p:cNvPr id="9" name="Connector 8"/>
          <p:cNvCxnSpPr/>
          <p:nvPr/>
        </p:nvCxnSpPr>
        <p:spPr>
          <a:xfrm>
            <a:off x="760000" y="196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0000" y="2070000"/>
            <a:ext cx="3171999" cy="232000"/>
          </a:xfrm>
          <a:prstGeom prst="rect">
            <a:avLst/>
          </a:prstGeom>
          <a:noFill/>
        </p:spPr>
        <p:txBody>
          <a:bodyPr wrap="square" lIns="0" rIns="0" tIns="0" bIns="0">
            <a:spAutoFit/>
          </a:bodyPr>
          <a:lstStyle/>
          <a:p>
            <a:pPr algn="l">
              <a:lnSpc>
                <a:spcPct val="115000"/>
              </a:lnSpc>
            </a:pPr>
            <a:r>
              <a:rPr sz="800" b="1" i="0">
                <a:solidFill>
                  <a:srgbClr val="1A1A1A"/>
                </a:solidFill>
                <a:latin typeface="Segoe UI"/>
              </a:rPr>
              <a:t>Control</a:t>
            </a:r>
          </a:p>
        </p:txBody>
      </p:sp>
      <p:sp>
        <p:nvSpPr>
          <p:cNvPr id="11" name="TextBox 10"/>
          <p:cNvSpPr txBox="1"/>
          <p:nvPr/>
        </p:nvSpPr>
        <p:spPr>
          <a:xfrm>
            <a:off x="4141999" y="2070000"/>
            <a:ext cx="3171999" cy="232000"/>
          </a:xfrm>
          <a:prstGeom prst="rect">
            <a:avLst/>
          </a:prstGeom>
          <a:noFill/>
        </p:spPr>
        <p:txBody>
          <a:bodyPr wrap="square" lIns="0" rIns="0" tIns="0" bIns="0">
            <a:spAutoFit/>
          </a:bodyPr>
          <a:lstStyle/>
          <a:p>
            <a:pPr algn="l">
              <a:lnSpc>
                <a:spcPct val="115000"/>
              </a:lnSpc>
            </a:pPr>
            <a:r>
              <a:rPr sz="800" b="1" i="0">
                <a:solidFill>
                  <a:srgbClr val="1A1A1A"/>
                </a:solidFill>
                <a:latin typeface="Segoe UI"/>
              </a:rPr>
              <a:t>Detalle</a:t>
            </a:r>
          </a:p>
        </p:txBody>
      </p:sp>
      <p:sp>
        <p:nvSpPr>
          <p:cNvPr id="12" name="TextBox 11"/>
          <p:cNvSpPr txBox="1"/>
          <p:nvPr/>
        </p:nvSpPr>
        <p:spPr>
          <a:xfrm>
            <a:off x="7453998" y="2070000"/>
            <a:ext cx="963999" cy="232000"/>
          </a:xfrm>
          <a:prstGeom prst="rect">
            <a:avLst/>
          </a:prstGeom>
          <a:noFill/>
        </p:spPr>
        <p:txBody>
          <a:bodyPr wrap="square" lIns="0" rIns="0" tIns="0" bIns="0">
            <a:spAutoFit/>
          </a:bodyPr>
          <a:lstStyle/>
          <a:p>
            <a:pPr algn="r">
              <a:lnSpc>
                <a:spcPct val="115000"/>
              </a:lnSpc>
            </a:pPr>
            <a:r>
              <a:rPr sz="800" b="1" i="0">
                <a:solidFill>
                  <a:srgbClr val="1A1A1A"/>
                </a:solidFill>
                <a:latin typeface="Segoe UI"/>
              </a:rPr>
              <a:t>Valor</a:t>
            </a:r>
          </a:p>
        </p:txBody>
      </p:sp>
      <p:sp>
        <p:nvSpPr>
          <p:cNvPr id="13" name="TextBox 12"/>
          <p:cNvSpPr txBox="1"/>
          <p:nvPr/>
        </p:nvSpPr>
        <p:spPr>
          <a:xfrm>
            <a:off x="8557997" y="2070000"/>
            <a:ext cx="1884000" cy="232000"/>
          </a:xfrm>
          <a:prstGeom prst="rect">
            <a:avLst/>
          </a:prstGeom>
          <a:noFill/>
        </p:spPr>
        <p:txBody>
          <a:bodyPr wrap="square" lIns="0" rIns="0" tIns="0" bIns="0">
            <a:spAutoFit/>
          </a:bodyPr>
          <a:lstStyle/>
          <a:p>
            <a:pPr algn="l">
              <a:lnSpc>
                <a:spcPct val="115000"/>
              </a:lnSpc>
            </a:pPr>
            <a:r>
              <a:rPr sz="800" b="1" i="0">
                <a:solidFill>
                  <a:srgbClr val="1A1A1A"/>
                </a:solidFill>
                <a:latin typeface="Segoe UI"/>
              </a:rPr>
              <a:t>Umbral</a:t>
            </a:r>
          </a:p>
        </p:txBody>
      </p:sp>
      <p:sp>
        <p:nvSpPr>
          <p:cNvPr id="14" name="TextBox 13"/>
          <p:cNvSpPr txBox="1"/>
          <p:nvPr/>
        </p:nvSpPr>
        <p:spPr>
          <a:xfrm>
            <a:off x="10581997" y="2070000"/>
            <a:ext cx="779999" cy="232000"/>
          </a:xfrm>
          <a:prstGeom prst="rect">
            <a:avLst/>
          </a:prstGeom>
          <a:noFill/>
        </p:spPr>
        <p:txBody>
          <a:bodyPr wrap="square" lIns="0" rIns="0" tIns="0" bIns="0">
            <a:spAutoFit/>
          </a:bodyPr>
          <a:lstStyle/>
          <a:p>
            <a:pPr algn="r">
              <a:lnSpc>
                <a:spcPct val="115000"/>
              </a:lnSpc>
            </a:pPr>
            <a:r>
              <a:rPr sz="800" b="1" i="0">
                <a:solidFill>
                  <a:srgbClr val="1A1A1A"/>
                </a:solidFill>
                <a:latin typeface="Segoe UI"/>
              </a:rPr>
              <a:t>Estado</a:t>
            </a:r>
          </a:p>
        </p:txBody>
      </p:sp>
      <p:cxnSp>
        <p:nvCxnSpPr>
          <p:cNvPr id="15" name="Connector 14"/>
          <p:cNvCxnSpPr/>
          <p:nvPr/>
        </p:nvCxnSpPr>
        <p:spPr>
          <a:xfrm>
            <a:off x="760000" y="2282000"/>
            <a:ext cx="10672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0000" y="2382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Filtro de pregrado</a:t>
            </a:r>
          </a:p>
        </p:txBody>
      </p:sp>
      <p:sp>
        <p:nvSpPr>
          <p:cNvPr id="17" name="TextBox 16"/>
          <p:cNvSpPr txBox="1"/>
          <p:nvPr/>
        </p:nvSpPr>
        <p:spPr>
          <a:xfrm>
            <a:off x="4141999" y="2382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carne 2024</a:t>
            </a:r>
          </a:p>
        </p:txBody>
      </p:sp>
      <p:sp>
        <p:nvSpPr>
          <p:cNvPr id="18" name="TextBox 17"/>
          <p:cNvSpPr txBox="1"/>
          <p:nvPr/>
        </p:nvSpPr>
        <p:spPr>
          <a:xfrm>
            <a:off x="7453998" y="2382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95.30</a:t>
            </a:r>
          </a:p>
        </p:txBody>
      </p:sp>
      <p:sp>
        <p:nvSpPr>
          <p:cNvPr id="19" name="TextBox 18"/>
          <p:cNvSpPr txBox="1"/>
          <p:nvPr/>
        </p:nvSpPr>
        <p:spPr>
          <a:xfrm>
            <a:off x="8557997" y="2382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 retenido (informativo)</a:t>
            </a:r>
          </a:p>
        </p:txBody>
      </p:sp>
      <p:sp>
        <p:nvSpPr>
          <p:cNvPr id="20" name="TextBox 19"/>
          <p:cNvSpPr txBox="1"/>
          <p:nvPr/>
        </p:nvSpPr>
        <p:spPr>
          <a:xfrm>
            <a:off x="10581997" y="2382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info</a:t>
            </a:r>
          </a:p>
        </p:txBody>
      </p:sp>
      <p:sp>
        <p:nvSpPr>
          <p:cNvPr id="21" name="TextBox 20"/>
          <p:cNvSpPr txBox="1"/>
          <p:nvPr/>
        </p:nvSpPr>
        <p:spPr>
          <a:xfrm>
            <a:off x="830000" y="2614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Conciliacion crudo -&gt; silver</a:t>
            </a:r>
          </a:p>
        </p:txBody>
      </p:sp>
      <p:sp>
        <p:nvSpPr>
          <p:cNvPr id="22" name="TextBox 21"/>
          <p:cNvSpPr txBox="1"/>
          <p:nvPr/>
        </p:nvSpPr>
        <p:spPr>
          <a:xfrm>
            <a:off x="4141999" y="2614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carne 2021</a:t>
            </a:r>
          </a:p>
        </p:txBody>
      </p:sp>
      <p:sp>
        <p:nvSpPr>
          <p:cNvPr id="23" name="TextBox 22"/>
          <p:cNvSpPr txBox="1"/>
          <p:nvPr/>
        </p:nvSpPr>
        <p:spPr>
          <a:xfrm>
            <a:off x="7453998" y="2614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0.00</a:t>
            </a:r>
          </a:p>
        </p:txBody>
      </p:sp>
      <p:sp>
        <p:nvSpPr>
          <p:cNvPr id="24" name="TextBox 23"/>
          <p:cNvSpPr txBox="1"/>
          <p:nvPr/>
        </p:nvSpPr>
        <p:spPr>
          <a:xfrm>
            <a:off x="8557997" y="2614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 0</a:t>
            </a:r>
          </a:p>
        </p:txBody>
      </p:sp>
      <p:sp>
        <p:nvSpPr>
          <p:cNvPr id="25" name="TextBox 24"/>
          <p:cNvSpPr txBox="1"/>
          <p:nvPr/>
        </p:nvSpPr>
        <p:spPr>
          <a:xfrm>
            <a:off x="10581997" y="2614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ok</a:t>
            </a:r>
          </a:p>
        </p:txBody>
      </p:sp>
      <p:sp>
        <p:nvSpPr>
          <p:cNvPr id="26" name="TextBox 25"/>
          <p:cNvSpPr txBox="1"/>
          <p:nvPr/>
        </p:nvSpPr>
        <p:spPr>
          <a:xfrm>
            <a:off x="830000" y="2846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Duplicados absorbidos por el DISTINCT</a:t>
            </a:r>
          </a:p>
        </p:txBody>
      </p:sp>
      <p:sp>
        <p:nvSpPr>
          <p:cNvPr id="27" name="TextBox 26"/>
          <p:cNvSpPr txBox="1"/>
          <p:nvPr/>
        </p:nvSpPr>
        <p:spPr>
          <a:xfrm>
            <a:off x="4141999" y="2846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ingresantes</a:t>
            </a:r>
          </a:p>
        </p:txBody>
      </p:sp>
      <p:sp>
        <p:nvSpPr>
          <p:cNvPr id="28" name="TextBox 27"/>
          <p:cNvSpPr txBox="1"/>
          <p:nvPr/>
        </p:nvSpPr>
        <p:spPr>
          <a:xfrm>
            <a:off x="7453998" y="2846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12.00</a:t>
            </a:r>
          </a:p>
        </p:txBody>
      </p:sp>
      <p:sp>
        <p:nvSpPr>
          <p:cNvPr id="29" name="TextBox 28"/>
          <p:cNvSpPr txBox="1"/>
          <p:nvPr/>
        </p:nvSpPr>
        <p:spPr>
          <a:xfrm>
            <a:off x="8557997" y="2846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informativo</a:t>
            </a:r>
          </a:p>
        </p:txBody>
      </p:sp>
      <p:sp>
        <p:nvSpPr>
          <p:cNvPr id="30" name="TextBox 29"/>
          <p:cNvSpPr txBox="1"/>
          <p:nvPr/>
        </p:nvSpPr>
        <p:spPr>
          <a:xfrm>
            <a:off x="10581997" y="2846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info</a:t>
            </a:r>
          </a:p>
        </p:txBody>
      </p:sp>
      <p:sp>
        <p:nvSpPr>
          <p:cNvPr id="31" name="TextBox 30"/>
          <p:cNvSpPr txBox="1"/>
          <p:nvPr/>
        </p:nvSpPr>
        <p:spPr>
          <a:xfrm>
            <a:off x="830000" y="3078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Nulos en campos clave</a:t>
            </a:r>
          </a:p>
        </p:txBody>
      </p:sp>
      <p:sp>
        <p:nvSpPr>
          <p:cNvPr id="32" name="TextBox 31"/>
          <p:cNvSpPr txBox="1"/>
          <p:nvPr/>
        </p:nvSpPr>
        <p:spPr>
          <a:xfrm>
            <a:off x="4141999" y="3078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matriculado.nombre_grupo_3</a:t>
            </a:r>
          </a:p>
        </p:txBody>
      </p:sp>
      <p:sp>
        <p:nvSpPr>
          <p:cNvPr id="33" name="TextBox 32"/>
          <p:cNvSpPr txBox="1"/>
          <p:nvPr/>
        </p:nvSpPr>
        <p:spPr>
          <a:xfrm>
            <a:off x="7453998" y="3078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3,201,519.00</a:t>
            </a:r>
          </a:p>
        </p:txBody>
      </p:sp>
      <p:sp>
        <p:nvSpPr>
          <p:cNvPr id="34" name="TextBox 33"/>
          <p:cNvSpPr txBox="1"/>
          <p:nvPr/>
        </p:nvSpPr>
        <p:spPr>
          <a:xfrm>
            <a:off x="8557997" y="3078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limitacion declarada de la</a:t>
            </a:r>
          </a:p>
        </p:txBody>
      </p:sp>
      <p:sp>
        <p:nvSpPr>
          <p:cNvPr id="35" name="TextBox 34"/>
          <p:cNvSpPr txBox="1"/>
          <p:nvPr/>
        </p:nvSpPr>
        <p:spPr>
          <a:xfrm>
            <a:off x="10581997" y="3078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info</a:t>
            </a:r>
          </a:p>
        </p:txBody>
      </p:sp>
      <p:sp>
        <p:nvSpPr>
          <p:cNvPr id="36" name="TextBox 35"/>
          <p:cNvSpPr txBox="1"/>
          <p:nvPr/>
        </p:nvSpPr>
        <p:spPr>
          <a:xfrm>
            <a:off x="830000" y="3310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Integridad referencial</a:t>
            </a:r>
          </a:p>
        </p:txBody>
      </p:sp>
      <p:sp>
        <p:nvSpPr>
          <p:cNvPr id="37" name="TextBox 36"/>
          <p:cNvSpPr txBox="1"/>
          <p:nvPr/>
        </p:nvSpPr>
        <p:spPr>
          <a:xfrm>
            <a:off x="4141999" y="3310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dim_ubicacion sin macrorregion asignada</a:t>
            </a:r>
          </a:p>
        </p:txBody>
      </p:sp>
      <p:sp>
        <p:nvSpPr>
          <p:cNvPr id="38" name="TextBox 37"/>
          <p:cNvSpPr txBox="1"/>
          <p:nvPr/>
        </p:nvSpPr>
        <p:spPr>
          <a:xfrm>
            <a:off x="7453998" y="3310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0.00</a:t>
            </a:r>
          </a:p>
        </p:txBody>
      </p:sp>
      <p:sp>
        <p:nvSpPr>
          <p:cNvPr id="39" name="TextBox 38"/>
          <p:cNvSpPr txBox="1"/>
          <p:nvPr/>
        </p:nvSpPr>
        <p:spPr>
          <a:xfrm>
            <a:off x="8557997" y="3310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 0</a:t>
            </a:r>
          </a:p>
        </p:txBody>
      </p:sp>
      <p:sp>
        <p:nvSpPr>
          <p:cNvPr id="40" name="TextBox 39"/>
          <p:cNvSpPr txBox="1"/>
          <p:nvPr/>
        </p:nvSpPr>
        <p:spPr>
          <a:xfrm>
            <a:off x="10581997" y="3310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ok</a:t>
            </a:r>
          </a:p>
        </p:txBody>
      </p:sp>
      <p:sp>
        <p:nvSpPr>
          <p:cNvPr id="41" name="TextBox 40"/>
          <p:cNvSpPr txBox="1"/>
          <p:nvPr/>
        </p:nvSpPr>
        <p:spPr>
          <a:xfrm>
            <a:off x="830000" y="3542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Matricula sin ingresantes</a:t>
            </a:r>
          </a:p>
        </p:txBody>
      </p:sp>
      <p:sp>
        <p:nvSpPr>
          <p:cNvPr id="42" name="TextBox 41"/>
          <p:cNvSpPr txBox="1"/>
          <p:nvPr/>
        </p:nvSpPr>
        <p:spPr>
          <a:xfrm>
            <a:off x="4141999" y="3542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anio 2021</a:t>
            </a:r>
          </a:p>
        </p:txBody>
      </p:sp>
      <p:sp>
        <p:nvSpPr>
          <p:cNvPr id="43" name="TextBox 42"/>
          <p:cNvSpPr txBox="1"/>
          <p:nvPr/>
        </p:nvSpPr>
        <p:spPr>
          <a:xfrm>
            <a:off x="7453998" y="3542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1,859.00</a:t>
            </a:r>
          </a:p>
        </p:txBody>
      </p:sp>
      <p:sp>
        <p:nvSpPr>
          <p:cNvPr id="44" name="TextBox 43"/>
          <p:cNvSpPr txBox="1"/>
          <p:nvPr/>
        </p:nvSpPr>
        <p:spPr>
          <a:xfrm>
            <a:off x="8557997" y="3542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informativo</a:t>
            </a:r>
          </a:p>
        </p:txBody>
      </p:sp>
      <p:sp>
        <p:nvSpPr>
          <p:cNvPr id="45" name="TextBox 44"/>
          <p:cNvSpPr txBox="1"/>
          <p:nvPr/>
        </p:nvSpPr>
        <p:spPr>
          <a:xfrm>
            <a:off x="10581997" y="3542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info</a:t>
            </a:r>
          </a:p>
        </p:txBody>
      </p:sp>
      <p:sp>
        <p:nvSpPr>
          <p:cNvPr id="46" name="TextBox 45"/>
          <p:cNvSpPr txBox="1"/>
          <p:nvPr/>
        </p:nvSpPr>
        <p:spPr>
          <a:xfrm>
            <a:off x="830000" y="3774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Cobertura de periodos</a:t>
            </a:r>
          </a:p>
        </p:txBody>
      </p:sp>
      <p:sp>
        <p:nvSpPr>
          <p:cNvPr id="47" name="TextBox 46"/>
          <p:cNvSpPr txBox="1"/>
          <p:nvPr/>
        </p:nvSpPr>
        <p:spPr>
          <a:xfrm>
            <a:off x="4141999" y="3774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TOTAL sin los 6 anios</a:t>
            </a:r>
          </a:p>
        </p:txBody>
      </p:sp>
      <p:sp>
        <p:nvSpPr>
          <p:cNvPr id="48" name="TextBox 47"/>
          <p:cNvSpPr txBox="1"/>
          <p:nvPr/>
        </p:nvSpPr>
        <p:spPr>
          <a:xfrm>
            <a:off x="7453998" y="3774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39.00</a:t>
            </a:r>
          </a:p>
        </p:txBody>
      </p:sp>
      <p:sp>
        <p:nvSpPr>
          <p:cNvPr id="49" name="TextBox 48"/>
          <p:cNvSpPr txBox="1"/>
          <p:nvPr/>
        </p:nvSpPr>
        <p:spPr>
          <a:xfrm>
            <a:off x="8557997" y="3774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informativo</a:t>
            </a:r>
          </a:p>
        </p:txBody>
      </p:sp>
      <p:sp>
        <p:nvSpPr>
          <p:cNvPr id="50" name="TextBox 49"/>
          <p:cNvSpPr txBox="1"/>
          <p:nvPr/>
        </p:nvSpPr>
        <p:spPr>
          <a:xfrm>
            <a:off x="10581997" y="3774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info</a:t>
            </a:r>
          </a:p>
        </p:txBody>
      </p:sp>
      <p:sp>
        <p:nvSpPr>
          <p:cNvPr id="51" name="TextBox 50"/>
          <p:cNvSpPr txBox="1"/>
          <p:nvPr/>
        </p:nvSpPr>
        <p:spPr>
          <a:xfrm>
            <a:off x="830000" y="4006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Variacion intra-anual (II vs I)</a:t>
            </a:r>
          </a:p>
        </p:txBody>
      </p:sp>
      <p:sp>
        <p:nvSpPr>
          <p:cNvPr id="52" name="TextBox 51"/>
          <p:cNvSpPr txBox="1"/>
          <p:nvPr/>
        </p:nvSpPr>
        <p:spPr>
          <a:xfrm>
            <a:off x="4141999" y="4006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anio 2023</a:t>
            </a:r>
          </a:p>
        </p:txBody>
      </p:sp>
      <p:sp>
        <p:nvSpPr>
          <p:cNvPr id="53" name="TextBox 52"/>
          <p:cNvSpPr txBox="1"/>
          <p:nvPr/>
        </p:nvSpPr>
        <p:spPr>
          <a:xfrm>
            <a:off x="7453998" y="4006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-5.26</a:t>
            </a:r>
          </a:p>
        </p:txBody>
      </p:sp>
      <p:sp>
        <p:nvSpPr>
          <p:cNvPr id="54" name="TextBox 53"/>
          <p:cNvSpPr txBox="1"/>
          <p:nvPr/>
        </p:nvSpPr>
        <p:spPr>
          <a:xfrm>
            <a:off x="8557997" y="4006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abs &lt; 10%</a:t>
            </a:r>
          </a:p>
        </p:txBody>
      </p:sp>
      <p:sp>
        <p:nvSpPr>
          <p:cNvPr id="55" name="TextBox 54"/>
          <p:cNvSpPr txBox="1"/>
          <p:nvPr/>
        </p:nvSpPr>
        <p:spPr>
          <a:xfrm>
            <a:off x="10581997" y="4006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ok</a:t>
            </a:r>
          </a:p>
        </p:txBody>
      </p:sp>
      <p:sp>
        <p:nvSpPr>
          <p:cNvPr id="56" name="TextBox 55"/>
          <p:cNvSpPr txBox="1"/>
          <p:nvPr/>
        </p:nvSpPr>
        <p:spPr>
          <a:xfrm>
            <a:off x="830000" y="4238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Conciliacion cruzada admitidos vs ingresant</a:t>
            </a:r>
          </a:p>
        </p:txBody>
      </p:sp>
      <p:sp>
        <p:nvSpPr>
          <p:cNvPr id="57" name="TextBox 56"/>
          <p:cNvSpPr txBox="1"/>
          <p:nvPr/>
        </p:nvSpPr>
        <p:spPr>
          <a:xfrm>
            <a:off x="4141999" y="4238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anio 2022</a:t>
            </a:r>
          </a:p>
        </p:txBody>
      </p:sp>
      <p:sp>
        <p:nvSpPr>
          <p:cNvPr id="58" name="TextBox 57"/>
          <p:cNvSpPr txBox="1"/>
          <p:nvPr/>
        </p:nvSpPr>
        <p:spPr>
          <a:xfrm>
            <a:off x="7453998" y="4238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2.98</a:t>
            </a:r>
          </a:p>
        </p:txBody>
      </p:sp>
      <p:sp>
        <p:nvSpPr>
          <p:cNvPr id="59" name="TextBox 58"/>
          <p:cNvSpPr txBox="1"/>
          <p:nvPr/>
        </p:nvSpPr>
        <p:spPr>
          <a:xfrm>
            <a:off x="8557997" y="4238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desvio abs &lt; 10%</a:t>
            </a:r>
          </a:p>
        </p:txBody>
      </p:sp>
      <p:sp>
        <p:nvSpPr>
          <p:cNvPr id="60" name="TextBox 59"/>
          <p:cNvSpPr txBox="1"/>
          <p:nvPr/>
        </p:nvSpPr>
        <p:spPr>
          <a:xfrm>
            <a:off x="10581997" y="4238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ok</a:t>
            </a:r>
          </a:p>
        </p:txBody>
      </p:sp>
      <p:sp>
        <p:nvSpPr>
          <p:cNvPr id="61" name="TextBox 60"/>
          <p:cNvSpPr txBox="1"/>
          <p:nvPr/>
        </p:nvSpPr>
        <p:spPr>
          <a:xfrm>
            <a:off x="830000" y="4470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Universidades con nombre divergente</a:t>
            </a:r>
          </a:p>
        </p:txBody>
      </p:sp>
      <p:sp>
        <p:nvSpPr>
          <p:cNvPr id="62" name="TextBox 61"/>
          <p:cNvSpPr txBox="1"/>
          <p:nvPr/>
        </p:nvSpPr>
        <p:spPr>
          <a:xfrm>
            <a:off x="4141999" y="4470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resueltas con el nombre mas reciente</a:t>
            </a:r>
          </a:p>
        </p:txBody>
      </p:sp>
      <p:sp>
        <p:nvSpPr>
          <p:cNvPr id="63" name="TextBox 62"/>
          <p:cNvSpPr txBox="1"/>
          <p:nvPr/>
        </p:nvSpPr>
        <p:spPr>
          <a:xfrm>
            <a:off x="7453998" y="4470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0.00</a:t>
            </a:r>
          </a:p>
        </p:txBody>
      </p:sp>
      <p:sp>
        <p:nvSpPr>
          <p:cNvPr id="64" name="TextBox 63"/>
          <p:cNvSpPr txBox="1"/>
          <p:nvPr/>
        </p:nvSpPr>
        <p:spPr>
          <a:xfrm>
            <a:off x="8557997" y="4470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informativo</a:t>
            </a:r>
          </a:p>
        </p:txBody>
      </p:sp>
      <p:sp>
        <p:nvSpPr>
          <p:cNvPr id="65" name="TextBox 64"/>
          <p:cNvSpPr txBox="1"/>
          <p:nvPr/>
        </p:nvSpPr>
        <p:spPr>
          <a:xfrm>
            <a:off x="10581997" y="4470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info</a:t>
            </a:r>
          </a:p>
        </p:txBody>
      </p:sp>
      <p:sp>
        <p:nvSpPr>
          <p:cNvPr id="66" name="TextBox 65"/>
          <p:cNvSpPr txBox="1"/>
          <p:nvPr/>
        </p:nvSpPr>
        <p:spPr>
          <a:xfrm>
            <a:off x="830000" y="4702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Titulos resueltos a universidad por nombre</a:t>
            </a:r>
          </a:p>
        </p:txBody>
      </p:sp>
      <p:sp>
        <p:nvSpPr>
          <p:cNvPr id="67" name="TextBox 66"/>
          <p:cNvSpPr txBox="1"/>
          <p:nvPr/>
        </p:nvSpPr>
        <p:spPr>
          <a:xfrm>
            <a:off x="4141999" y="4702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anio 2024</a:t>
            </a:r>
          </a:p>
        </p:txBody>
      </p:sp>
      <p:sp>
        <p:nvSpPr>
          <p:cNvPr id="68" name="TextBox 67"/>
          <p:cNvSpPr txBox="1"/>
          <p:nvPr/>
        </p:nvSpPr>
        <p:spPr>
          <a:xfrm>
            <a:off x="7453998" y="4702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98.61</a:t>
            </a:r>
          </a:p>
        </p:txBody>
      </p:sp>
      <p:sp>
        <p:nvSpPr>
          <p:cNvPr id="69" name="TextBox 68"/>
          <p:cNvSpPr txBox="1"/>
          <p:nvPr/>
        </p:nvSpPr>
        <p:spPr>
          <a:xfrm>
            <a:off x="8557997" y="4702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&gt;= 90% resuelto</a:t>
            </a:r>
          </a:p>
        </p:txBody>
      </p:sp>
      <p:sp>
        <p:nvSpPr>
          <p:cNvPr id="70" name="TextBox 69"/>
          <p:cNvSpPr txBox="1"/>
          <p:nvPr/>
        </p:nvSpPr>
        <p:spPr>
          <a:xfrm>
            <a:off x="10581997" y="4702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ok</a:t>
            </a:r>
          </a:p>
        </p:txBody>
      </p:sp>
      <p:sp>
        <p:nvSpPr>
          <p:cNvPr id="71" name="TextBox 70"/>
          <p:cNvSpPr txBox="1"/>
          <p:nvPr/>
        </p:nvSpPr>
        <p:spPr>
          <a:xfrm>
            <a:off x="830000" y="4934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Carnes emitidos sobre matriculados</a:t>
            </a:r>
          </a:p>
        </p:txBody>
      </p:sp>
      <p:sp>
        <p:nvSpPr>
          <p:cNvPr id="72" name="TextBox 71"/>
          <p:cNvSpPr txBox="1"/>
          <p:nvPr/>
        </p:nvSpPr>
        <p:spPr>
          <a:xfrm>
            <a:off x="4141999" y="4934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anio 2024</a:t>
            </a:r>
          </a:p>
        </p:txBody>
      </p:sp>
      <p:sp>
        <p:nvSpPr>
          <p:cNvPr id="73" name="TextBox 72"/>
          <p:cNvSpPr txBox="1"/>
          <p:nvPr/>
        </p:nvSpPr>
        <p:spPr>
          <a:xfrm>
            <a:off x="7453998" y="4934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48.10</a:t>
            </a:r>
          </a:p>
        </p:txBody>
      </p:sp>
      <p:sp>
        <p:nvSpPr>
          <p:cNvPr id="74" name="TextBox 73"/>
          <p:cNvSpPr txBox="1"/>
          <p:nvPr/>
        </p:nvSpPr>
        <p:spPr>
          <a:xfrm>
            <a:off x="8557997" y="4934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informativo</a:t>
            </a:r>
          </a:p>
        </p:txBody>
      </p:sp>
      <p:sp>
        <p:nvSpPr>
          <p:cNvPr id="75" name="TextBox 74"/>
          <p:cNvSpPr txBox="1"/>
          <p:nvPr/>
        </p:nvSpPr>
        <p:spPr>
          <a:xfrm>
            <a:off x="10581997" y="4934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info</a:t>
            </a:r>
          </a:p>
        </p:txBody>
      </p:sp>
      <p:sp>
        <p:nvSpPr>
          <p:cNvPr id="76" name="TextBox 75"/>
          <p:cNvSpPr txBox="1"/>
          <p:nvPr/>
        </p:nvSpPr>
        <p:spPr>
          <a:xfrm>
            <a:off x="830000" y="5166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Triaje de datasets (declarado vs real)</a:t>
            </a:r>
          </a:p>
        </p:txBody>
      </p:sp>
      <p:sp>
        <p:nvSpPr>
          <p:cNvPr id="77" name="TextBox 76"/>
          <p:cNvSpPr txBox="1"/>
          <p:nvPr/>
        </p:nvSpPr>
        <p:spPr>
          <a:xfrm>
            <a:off x="4141999" y="5166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hecho: Matriculado</a:t>
            </a:r>
          </a:p>
        </p:txBody>
      </p:sp>
      <p:sp>
        <p:nvSpPr>
          <p:cNvPr id="78" name="TextBox 77"/>
          <p:cNvSpPr txBox="1"/>
          <p:nvPr/>
        </p:nvSpPr>
        <p:spPr>
          <a:xfrm>
            <a:off x="7453998" y="5166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16,043,351.00</a:t>
            </a:r>
          </a:p>
        </p:txBody>
      </p:sp>
      <p:sp>
        <p:nvSpPr>
          <p:cNvPr id="79" name="TextBox 78"/>
          <p:cNvSpPr txBox="1"/>
          <p:nvPr/>
        </p:nvSpPr>
        <p:spPr>
          <a:xfrm>
            <a:off x="8557997" y="5166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coherente con capa_maxima </a:t>
            </a:r>
          </a:p>
        </p:txBody>
      </p:sp>
      <p:sp>
        <p:nvSpPr>
          <p:cNvPr id="80" name="TextBox 79"/>
          <p:cNvSpPr txBox="1"/>
          <p:nvPr/>
        </p:nvSpPr>
        <p:spPr>
          <a:xfrm>
            <a:off x="10581997" y="5166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ok</a:t>
            </a:r>
          </a:p>
        </p:txBody>
      </p:sp>
      <p:sp>
        <p:nvSpPr>
          <p:cNvPr id="81" name="TextBox 80"/>
          <p:cNvSpPr txBox="1"/>
          <p:nvPr/>
        </p:nvSpPr>
        <p:spPr>
          <a:xfrm>
            <a:off x="830000" y="5398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Variacion interanual de la matricula</a:t>
            </a:r>
          </a:p>
        </p:txBody>
      </p:sp>
      <p:sp>
        <p:nvSpPr>
          <p:cNvPr id="82" name="TextBox 81"/>
          <p:cNvSpPr txBox="1"/>
          <p:nvPr/>
        </p:nvSpPr>
        <p:spPr>
          <a:xfrm>
            <a:off x="4141999" y="5398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de 2020 a 2021 (anio excluido de la regr</a:t>
            </a:r>
          </a:p>
        </p:txBody>
      </p:sp>
      <p:sp>
        <p:nvSpPr>
          <p:cNvPr id="83" name="TextBox 82"/>
          <p:cNvSpPr txBox="1"/>
          <p:nvPr/>
        </p:nvSpPr>
        <p:spPr>
          <a:xfrm>
            <a:off x="7453998" y="5398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10.68</a:t>
            </a:r>
          </a:p>
        </p:txBody>
      </p:sp>
      <p:sp>
        <p:nvSpPr>
          <p:cNvPr id="84" name="TextBox 83"/>
          <p:cNvSpPr txBox="1"/>
          <p:nvPr/>
        </p:nvSpPr>
        <p:spPr>
          <a:xfrm>
            <a:off x="8557997" y="5398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informativo</a:t>
            </a:r>
          </a:p>
        </p:txBody>
      </p:sp>
      <p:sp>
        <p:nvSpPr>
          <p:cNvPr id="85" name="TextBox 84"/>
          <p:cNvSpPr txBox="1"/>
          <p:nvPr/>
        </p:nvSpPr>
        <p:spPr>
          <a:xfrm>
            <a:off x="10581997" y="5398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info</a:t>
            </a:r>
          </a:p>
        </p:txBody>
      </p:sp>
      <p:sp>
        <p:nvSpPr>
          <p:cNvPr id="86" name="TextBox 85"/>
          <p:cNvSpPr txBox="1"/>
          <p:nvPr/>
        </p:nvSpPr>
        <p:spPr>
          <a:xfrm>
            <a:off x="830000" y="5630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El GUID de carnes identifica personas</a:t>
            </a:r>
          </a:p>
        </p:txBody>
      </p:sp>
      <p:sp>
        <p:nvSpPr>
          <p:cNvPr id="87" name="TextBox 86"/>
          <p:cNvSpPr txBox="1"/>
          <p:nvPr/>
        </p:nvSpPr>
        <p:spPr>
          <a:xfrm>
            <a:off x="4141999" y="5630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filas por valor distinto de GUID (anio 2</a:t>
            </a:r>
          </a:p>
        </p:txBody>
      </p:sp>
      <p:sp>
        <p:nvSpPr>
          <p:cNvPr id="88" name="TextBox 87"/>
          <p:cNvSpPr txBox="1"/>
          <p:nvPr/>
        </p:nvSpPr>
        <p:spPr>
          <a:xfrm>
            <a:off x="7453998" y="5630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1,263.20</a:t>
            </a:r>
          </a:p>
        </p:txBody>
      </p:sp>
      <p:sp>
        <p:nvSpPr>
          <p:cNvPr id="89" name="TextBox 88"/>
          <p:cNvSpPr txBox="1"/>
          <p:nvPr/>
        </p:nvSpPr>
        <p:spPr>
          <a:xfrm>
            <a:off x="8557997" y="5630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 1.0 si fuera una persona</a:t>
            </a:r>
          </a:p>
        </p:txBody>
      </p:sp>
      <p:sp>
        <p:nvSpPr>
          <p:cNvPr id="90" name="TextBox 89"/>
          <p:cNvSpPr txBox="1"/>
          <p:nvPr/>
        </p:nvSpPr>
        <p:spPr>
          <a:xfrm>
            <a:off x="10581997" y="5630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info</a:t>
            </a:r>
          </a:p>
        </p:txBody>
      </p:sp>
      <p:sp>
        <p:nvSpPr>
          <p:cNvPr id="91" name="TextBox 90"/>
          <p:cNvSpPr txBox="1"/>
          <p:nvPr/>
        </p:nvSpPr>
        <p:spPr>
          <a:xfrm>
            <a:off x="830000" y="5862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Volumen del periodo sobre la mediana de su </a:t>
            </a:r>
          </a:p>
        </p:txBody>
      </p:sp>
      <p:sp>
        <p:nvSpPr>
          <p:cNvPr id="92" name="TextBox 91"/>
          <p:cNvSpPr txBox="1"/>
          <p:nvPr/>
        </p:nvSpPr>
        <p:spPr>
          <a:xfrm>
            <a:off x="4141999" y="5862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egresado 2023-2</a:t>
            </a:r>
          </a:p>
        </p:txBody>
      </p:sp>
      <p:sp>
        <p:nvSpPr>
          <p:cNvPr id="93" name="TextBox 92"/>
          <p:cNvSpPr txBox="1"/>
          <p:nvPr/>
        </p:nvSpPr>
        <p:spPr>
          <a:xfrm>
            <a:off x="7453998" y="5862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164.50</a:t>
            </a:r>
          </a:p>
        </p:txBody>
      </p:sp>
      <p:sp>
        <p:nvSpPr>
          <p:cNvPr id="94" name="TextBox 93"/>
          <p:cNvSpPr txBox="1"/>
          <p:nvPr/>
        </p:nvSpPr>
        <p:spPr>
          <a:xfrm>
            <a:off x="8557997" y="5862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informativo</a:t>
            </a:r>
          </a:p>
        </p:txBody>
      </p:sp>
      <p:sp>
        <p:nvSpPr>
          <p:cNvPr id="95" name="TextBox 94"/>
          <p:cNvSpPr txBox="1"/>
          <p:nvPr/>
        </p:nvSpPr>
        <p:spPr>
          <a:xfrm>
            <a:off x="10581997" y="5862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info</a:t>
            </a:r>
          </a:p>
        </p:txBody>
      </p:sp>
      <p:sp>
        <p:nvSpPr>
          <p:cNvPr id="96" name="TextBox 95"/>
          <p:cNvSpPr txBox="1"/>
          <p:nvPr/>
        </p:nvSpPr>
        <p:spPr>
          <a:xfrm>
            <a:off x="830000" y="6094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Universidades que reportan matricula pero n</a:t>
            </a:r>
          </a:p>
        </p:txBody>
      </p:sp>
      <p:sp>
        <p:nvSpPr>
          <p:cNvPr id="97" name="TextBox 96"/>
          <p:cNvSpPr txBox="1"/>
          <p:nvPr/>
        </p:nvSpPr>
        <p:spPr>
          <a:xfrm>
            <a:off x="4141999" y="6094000"/>
            <a:ext cx="3171999"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anio 2025</a:t>
            </a:r>
          </a:p>
        </p:txBody>
      </p:sp>
      <p:sp>
        <p:nvSpPr>
          <p:cNvPr id="98" name="TextBox 97"/>
          <p:cNvSpPr txBox="1"/>
          <p:nvPr/>
        </p:nvSpPr>
        <p:spPr>
          <a:xfrm>
            <a:off x="7453998" y="6094000"/>
            <a:ext cx="963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43.00</a:t>
            </a:r>
          </a:p>
        </p:txBody>
      </p:sp>
      <p:sp>
        <p:nvSpPr>
          <p:cNvPr id="99" name="TextBox 98"/>
          <p:cNvSpPr txBox="1"/>
          <p:nvPr/>
        </p:nvSpPr>
        <p:spPr>
          <a:xfrm>
            <a:off x="8557997" y="6094000"/>
            <a:ext cx="1884000"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informativo</a:t>
            </a:r>
          </a:p>
        </p:txBody>
      </p:sp>
      <p:sp>
        <p:nvSpPr>
          <p:cNvPr id="100" name="TextBox 99"/>
          <p:cNvSpPr txBox="1"/>
          <p:nvPr/>
        </p:nvSpPr>
        <p:spPr>
          <a:xfrm>
            <a:off x="10581997" y="6094000"/>
            <a:ext cx="779999"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info</a:t>
            </a:r>
          </a:p>
        </p:txBody>
      </p:sp>
      <p:cxnSp>
        <p:nvCxnSpPr>
          <p:cNvPr id="101" name="Connector 100"/>
          <p:cNvCxnSpPr/>
          <p:nvPr/>
        </p:nvCxnSpPr>
        <p:spPr>
          <a:xfrm>
            <a:off x="760000" y="6316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430000"/>
            <a:ext cx="10672000" cy="260000"/>
          </a:xfrm>
          <a:prstGeom prst="rect">
            <a:avLst/>
          </a:prstGeom>
          <a:noFill/>
        </p:spPr>
        <p:txBody>
          <a:bodyPr wrap="square" lIns="0" rIns="0" tIns="0" bIns="0">
            <a:spAutoFit/>
          </a:bodyPr>
          <a:lstStyle/>
          <a:p>
            <a:pPr algn="l">
              <a:lnSpc>
                <a:spcPct val="130000"/>
              </a:lnSpc>
            </a:pPr>
            <a:r>
              <a:rPr sz="1000" b="0" i="0">
                <a:solidFill>
                  <a:srgbClr val="A8452F"/>
                </a:solidFill>
                <a:latin typeface="Segoe UI"/>
              </a:rPr>
              <a:t>Anexo B · diccionario y catálogo</a:t>
            </a:r>
          </a:p>
        </p:txBody>
      </p:sp>
      <p:sp>
        <p:nvSpPr>
          <p:cNvPr id="3" name="TextBox 2"/>
          <p:cNvSpPr txBox="1"/>
          <p:nvPr/>
        </p:nvSpPr>
        <p:spPr>
          <a:xfrm>
            <a:off x="760000" y="700000"/>
            <a:ext cx="10600000" cy="520000"/>
          </a:xfrm>
          <a:prstGeom prst="rect">
            <a:avLst/>
          </a:prstGeom>
          <a:noFill/>
        </p:spPr>
        <p:txBody>
          <a:bodyPr wrap="square" lIns="0" rIns="0" tIns="0" bIns="0">
            <a:spAutoFit/>
          </a:bodyPr>
          <a:lstStyle/>
          <a:p>
            <a:pPr algn="l">
              <a:lnSpc>
                <a:spcPct val="130000"/>
              </a:lnSpc>
            </a:pPr>
            <a:r>
              <a:rPr sz="2300" b="0" i="0">
                <a:solidFill>
                  <a:srgbClr val="1A1A1A"/>
                </a:solidFill>
                <a:latin typeface="Georgia"/>
              </a:rPr>
              <a:t>Tablas del modelo y carpetas de medidas</a:t>
            </a:r>
          </a:p>
        </p:txBody>
      </p:sp>
      <p:sp>
        <p:nvSpPr>
          <p:cNvPr id="4" name="TextBox 3"/>
          <p:cNvSpPr txBox="1"/>
          <p:nvPr/>
        </p:nvSpPr>
        <p:spPr>
          <a:xfrm>
            <a:off x="760000" y="1210000"/>
            <a:ext cx="10400000" cy="560000"/>
          </a:xfrm>
          <a:prstGeom prst="rect">
            <a:avLst/>
          </a:prstGeom>
          <a:noFill/>
        </p:spPr>
        <p:txBody>
          <a:bodyPr wrap="square" lIns="0" rIns="0" tIns="0" bIns="0">
            <a:spAutoFit/>
          </a:bodyPr>
          <a:lstStyle/>
          <a:p>
            <a:pPr algn="l">
              <a:lnSpc>
                <a:spcPct val="130000"/>
              </a:lnSpc>
            </a:pPr>
            <a:r>
              <a:rPr sz="1100" b="0" i="0">
                <a:solidFill>
                  <a:srgbClr val="6B6560"/>
                </a:solidFill>
                <a:latin typeface="Segoe UI"/>
              </a:rPr>
              <a:t>El diccionario completo se genera desde la base; el catálogo, desde la misma lista que crea las medidas.</a:t>
            </a:r>
          </a:p>
        </p:txBody>
      </p:sp>
      <p:cxnSp>
        <p:nvCxnSpPr>
          <p:cNvPr id="5" name="Connector 4"/>
          <p:cNvCxnSpPr/>
          <p:nvPr/>
        </p:nvCxnSpPr>
        <p:spPr>
          <a:xfrm>
            <a:off x="760000" y="157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docs/diccionario_datos.md · docs/catalogo_medidas.md</a:t>
            </a:r>
          </a:p>
        </p:txBody>
      </p:sp>
      <p:sp>
        <p:nvSpPr>
          <p:cNvPr id="8" name="TextBox 7"/>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12 / 13</a:t>
            </a:r>
          </a:p>
        </p:txBody>
      </p:sp>
      <p:cxnSp>
        <p:nvCxnSpPr>
          <p:cNvPr id="9" name="Connector 8"/>
          <p:cNvCxnSpPr/>
          <p:nvPr/>
        </p:nvCxnSpPr>
        <p:spPr>
          <a:xfrm>
            <a:off x="760000" y="1960000"/>
            <a:ext cx="5600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0000" y="2070000"/>
            <a:ext cx="2027741" cy="28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Dimensión</a:t>
            </a:r>
          </a:p>
        </p:txBody>
      </p:sp>
      <p:sp>
        <p:nvSpPr>
          <p:cNvPr id="11" name="TextBox 10"/>
          <p:cNvSpPr txBox="1"/>
          <p:nvPr/>
        </p:nvSpPr>
        <p:spPr>
          <a:xfrm>
            <a:off x="2997741" y="2070000"/>
            <a:ext cx="2389032" cy="280000"/>
          </a:xfrm>
          <a:prstGeom prst="rect">
            <a:avLst/>
          </a:prstGeom>
          <a:noFill/>
        </p:spPr>
        <p:txBody>
          <a:bodyPr wrap="square" lIns="0" rIns="0" tIns="0" bIns="0">
            <a:spAutoFit/>
          </a:bodyPr>
          <a:lstStyle/>
          <a:p>
            <a:pPr algn="l">
              <a:lnSpc>
                <a:spcPct val="115000"/>
              </a:lnSpc>
            </a:pPr>
            <a:r>
              <a:rPr sz="850" b="1" i="0">
                <a:solidFill>
                  <a:srgbClr val="1A1A1A"/>
                </a:solidFill>
                <a:latin typeface="Segoe UI"/>
              </a:rPr>
              <a:t>Llave</a:t>
            </a:r>
          </a:p>
        </p:txBody>
      </p:sp>
      <p:sp>
        <p:nvSpPr>
          <p:cNvPr id="12" name="TextBox 11"/>
          <p:cNvSpPr txBox="1"/>
          <p:nvPr/>
        </p:nvSpPr>
        <p:spPr>
          <a:xfrm>
            <a:off x="5526773" y="2070000"/>
            <a:ext cx="763225" cy="280000"/>
          </a:xfrm>
          <a:prstGeom prst="rect">
            <a:avLst/>
          </a:prstGeom>
          <a:noFill/>
        </p:spPr>
        <p:txBody>
          <a:bodyPr wrap="square" lIns="0" rIns="0" tIns="0" bIns="0">
            <a:spAutoFit/>
          </a:bodyPr>
          <a:lstStyle/>
          <a:p>
            <a:pPr algn="r">
              <a:lnSpc>
                <a:spcPct val="115000"/>
              </a:lnSpc>
            </a:pPr>
            <a:r>
              <a:rPr sz="850" b="1" i="0">
                <a:solidFill>
                  <a:srgbClr val="1A1A1A"/>
                </a:solidFill>
                <a:latin typeface="Segoe UI"/>
              </a:rPr>
              <a:t>Filas</a:t>
            </a:r>
          </a:p>
        </p:txBody>
      </p:sp>
      <p:cxnSp>
        <p:nvCxnSpPr>
          <p:cNvPr id="13" name="Connector 12"/>
          <p:cNvCxnSpPr/>
          <p:nvPr/>
        </p:nvCxnSpPr>
        <p:spPr>
          <a:xfrm>
            <a:off x="760000" y="2330000"/>
            <a:ext cx="560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30000" y="2430000"/>
            <a:ext cx="2027741" cy="28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dim_periodo</a:t>
            </a:r>
          </a:p>
        </p:txBody>
      </p:sp>
      <p:sp>
        <p:nvSpPr>
          <p:cNvPr id="15" name="TextBox 14"/>
          <p:cNvSpPr txBox="1"/>
          <p:nvPr/>
        </p:nvSpPr>
        <p:spPr>
          <a:xfrm>
            <a:off x="2997741" y="2430000"/>
            <a:ext cx="2389032" cy="28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anio</a:t>
            </a:r>
          </a:p>
        </p:txBody>
      </p:sp>
      <p:sp>
        <p:nvSpPr>
          <p:cNvPr id="16" name="TextBox 15"/>
          <p:cNvSpPr txBox="1"/>
          <p:nvPr/>
        </p:nvSpPr>
        <p:spPr>
          <a:xfrm>
            <a:off x="5526773" y="2430000"/>
            <a:ext cx="763225" cy="28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6</a:t>
            </a:r>
          </a:p>
        </p:txBody>
      </p:sp>
      <p:sp>
        <p:nvSpPr>
          <p:cNvPr id="17" name="TextBox 16"/>
          <p:cNvSpPr txBox="1"/>
          <p:nvPr/>
        </p:nvSpPr>
        <p:spPr>
          <a:xfrm>
            <a:off x="830000" y="2710000"/>
            <a:ext cx="2027741" cy="28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dim_semestre</a:t>
            </a:r>
          </a:p>
        </p:txBody>
      </p:sp>
      <p:sp>
        <p:nvSpPr>
          <p:cNvPr id="18" name="TextBox 17"/>
          <p:cNvSpPr txBox="1"/>
          <p:nvPr/>
        </p:nvSpPr>
        <p:spPr>
          <a:xfrm>
            <a:off x="2997741" y="2710000"/>
            <a:ext cx="2389032" cy="28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semestre (I, II, Otro)</a:t>
            </a:r>
          </a:p>
        </p:txBody>
      </p:sp>
      <p:sp>
        <p:nvSpPr>
          <p:cNvPr id="19" name="TextBox 18"/>
          <p:cNvSpPr txBox="1"/>
          <p:nvPr/>
        </p:nvSpPr>
        <p:spPr>
          <a:xfrm>
            <a:off x="5526773" y="2710000"/>
            <a:ext cx="763225" cy="28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3</a:t>
            </a:r>
          </a:p>
        </p:txBody>
      </p:sp>
      <p:sp>
        <p:nvSpPr>
          <p:cNvPr id="20" name="TextBox 19"/>
          <p:cNvSpPr txBox="1"/>
          <p:nvPr/>
        </p:nvSpPr>
        <p:spPr>
          <a:xfrm>
            <a:off x="830000" y="2990000"/>
            <a:ext cx="2027741" cy="28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dim_universidad</a:t>
            </a:r>
          </a:p>
        </p:txBody>
      </p:sp>
      <p:sp>
        <p:nvSpPr>
          <p:cNvPr id="21" name="TextBox 20"/>
          <p:cNvSpPr txBox="1"/>
          <p:nvPr/>
        </p:nvSpPr>
        <p:spPr>
          <a:xfrm>
            <a:off x="2997741" y="2990000"/>
            <a:ext cx="2389032" cy="28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codigo_inei</a:t>
            </a:r>
          </a:p>
        </p:txBody>
      </p:sp>
      <p:sp>
        <p:nvSpPr>
          <p:cNvPr id="22" name="TextBox 21"/>
          <p:cNvSpPr txBox="1"/>
          <p:nvPr/>
        </p:nvSpPr>
        <p:spPr>
          <a:xfrm>
            <a:off x="5526773" y="2990000"/>
            <a:ext cx="763225" cy="28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168</a:t>
            </a:r>
          </a:p>
        </p:txBody>
      </p:sp>
      <p:sp>
        <p:nvSpPr>
          <p:cNvPr id="23" name="TextBox 22"/>
          <p:cNvSpPr txBox="1"/>
          <p:nvPr/>
        </p:nvSpPr>
        <p:spPr>
          <a:xfrm>
            <a:off x="830000" y="3270000"/>
            <a:ext cx="2027741" cy="28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dim_programa</a:t>
            </a:r>
          </a:p>
        </p:txBody>
      </p:sp>
      <p:sp>
        <p:nvSpPr>
          <p:cNvPr id="24" name="TextBox 23"/>
          <p:cNvSpPr txBox="1"/>
          <p:nvPr/>
        </p:nvSpPr>
        <p:spPr>
          <a:xfrm>
            <a:off x="2997741" y="3270000"/>
            <a:ext cx="2389032" cy="28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programa_sk = md5(INEI ‖ SIU)</a:t>
            </a:r>
          </a:p>
        </p:txBody>
      </p:sp>
      <p:sp>
        <p:nvSpPr>
          <p:cNvPr id="25" name="TextBox 24"/>
          <p:cNvSpPr txBox="1"/>
          <p:nvPr/>
        </p:nvSpPr>
        <p:spPr>
          <a:xfrm>
            <a:off x="5526773" y="3270000"/>
            <a:ext cx="763225" cy="28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2,812</a:t>
            </a:r>
          </a:p>
        </p:txBody>
      </p:sp>
      <p:sp>
        <p:nvSpPr>
          <p:cNvPr id="26" name="TextBox 25"/>
          <p:cNvSpPr txBox="1"/>
          <p:nvPr/>
        </p:nvSpPr>
        <p:spPr>
          <a:xfrm>
            <a:off x="830000" y="3550000"/>
            <a:ext cx="2027741" cy="28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dim_ubicacion</a:t>
            </a:r>
          </a:p>
        </p:txBody>
      </p:sp>
      <p:sp>
        <p:nvSpPr>
          <p:cNvPr id="27" name="TextBox 26"/>
          <p:cNvSpPr txBox="1"/>
          <p:nvPr/>
        </p:nvSpPr>
        <p:spPr>
          <a:xfrm>
            <a:off x="2997741" y="3550000"/>
            <a:ext cx="2389032" cy="28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ubicacion_sk</a:t>
            </a:r>
          </a:p>
        </p:txBody>
      </p:sp>
      <p:sp>
        <p:nvSpPr>
          <p:cNvPr id="28" name="TextBox 27"/>
          <p:cNvSpPr txBox="1"/>
          <p:nvPr/>
        </p:nvSpPr>
        <p:spPr>
          <a:xfrm>
            <a:off x="5526773" y="3550000"/>
            <a:ext cx="763225" cy="28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98</a:t>
            </a:r>
          </a:p>
        </p:txBody>
      </p:sp>
      <p:sp>
        <p:nvSpPr>
          <p:cNvPr id="29" name="TextBox 28"/>
          <p:cNvSpPr txBox="1"/>
          <p:nvPr/>
        </p:nvSpPr>
        <p:spPr>
          <a:xfrm>
            <a:off x="830000" y="3830000"/>
            <a:ext cx="2027741" cy="28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dim_tendencia_programa</a:t>
            </a:r>
          </a:p>
        </p:txBody>
      </p:sp>
      <p:sp>
        <p:nvSpPr>
          <p:cNvPr id="30" name="TextBox 29"/>
          <p:cNvSpPr txBox="1"/>
          <p:nvPr/>
        </p:nvSpPr>
        <p:spPr>
          <a:xfrm>
            <a:off x="2997741" y="3830000"/>
            <a:ext cx="2389032" cy="280000"/>
          </a:xfrm>
          <a:prstGeom prst="rect">
            <a:avLst/>
          </a:prstGeom>
          <a:noFill/>
        </p:spPr>
        <p:txBody>
          <a:bodyPr wrap="square" lIns="0" rIns="0" tIns="0" bIns="0">
            <a:spAutoFit/>
          </a:bodyPr>
          <a:lstStyle/>
          <a:p>
            <a:pPr algn="l">
              <a:lnSpc>
                <a:spcPct val="115000"/>
              </a:lnSpc>
            </a:pPr>
            <a:r>
              <a:rPr sz="850" b="0" i="0">
                <a:solidFill>
                  <a:srgbClr val="3D3A36"/>
                </a:solidFill>
                <a:latin typeface="Segoe UI"/>
              </a:rPr>
              <a:t>programa_sk (1:1)</a:t>
            </a:r>
          </a:p>
        </p:txBody>
      </p:sp>
      <p:sp>
        <p:nvSpPr>
          <p:cNvPr id="31" name="TextBox 30"/>
          <p:cNvSpPr txBox="1"/>
          <p:nvPr/>
        </p:nvSpPr>
        <p:spPr>
          <a:xfrm>
            <a:off x="5526773" y="3830000"/>
            <a:ext cx="763225" cy="280000"/>
          </a:xfrm>
          <a:prstGeom prst="rect">
            <a:avLst/>
          </a:prstGeom>
          <a:noFill/>
        </p:spPr>
        <p:txBody>
          <a:bodyPr wrap="square" lIns="0" rIns="0" tIns="0" bIns="0">
            <a:spAutoFit/>
          </a:bodyPr>
          <a:lstStyle/>
          <a:p>
            <a:pPr algn="r">
              <a:lnSpc>
                <a:spcPct val="115000"/>
              </a:lnSpc>
            </a:pPr>
            <a:r>
              <a:rPr sz="850" b="0" i="0">
                <a:solidFill>
                  <a:srgbClr val="3D3A36"/>
                </a:solidFill>
                <a:latin typeface="Segoe UI"/>
              </a:rPr>
              <a:t>2,812</a:t>
            </a:r>
          </a:p>
        </p:txBody>
      </p:sp>
      <p:cxnSp>
        <p:nvCxnSpPr>
          <p:cNvPr id="32" name="Connector 31"/>
          <p:cNvCxnSpPr/>
          <p:nvPr/>
        </p:nvCxnSpPr>
        <p:spPr>
          <a:xfrm>
            <a:off x="760000" y="4100000"/>
            <a:ext cx="5600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600000" y="1960000"/>
            <a:ext cx="4830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670000" y="2070000"/>
            <a:ext cx="1648888" cy="232000"/>
          </a:xfrm>
          <a:prstGeom prst="rect">
            <a:avLst/>
          </a:prstGeom>
          <a:noFill/>
        </p:spPr>
        <p:txBody>
          <a:bodyPr wrap="square" lIns="0" rIns="0" tIns="0" bIns="0">
            <a:spAutoFit/>
          </a:bodyPr>
          <a:lstStyle/>
          <a:p>
            <a:pPr algn="l">
              <a:lnSpc>
                <a:spcPct val="115000"/>
              </a:lnSpc>
            </a:pPr>
            <a:r>
              <a:rPr sz="800" b="1" i="0">
                <a:solidFill>
                  <a:srgbClr val="1A1A1A"/>
                </a:solidFill>
                <a:latin typeface="Segoe UI"/>
              </a:rPr>
              <a:t>Carpeta</a:t>
            </a:r>
          </a:p>
        </p:txBody>
      </p:sp>
      <p:sp>
        <p:nvSpPr>
          <p:cNvPr id="35" name="TextBox 34"/>
          <p:cNvSpPr txBox="1"/>
          <p:nvPr/>
        </p:nvSpPr>
        <p:spPr>
          <a:xfrm>
            <a:off x="8458888" y="2070000"/>
            <a:ext cx="575555" cy="232000"/>
          </a:xfrm>
          <a:prstGeom prst="rect">
            <a:avLst/>
          </a:prstGeom>
          <a:noFill/>
        </p:spPr>
        <p:txBody>
          <a:bodyPr wrap="square" lIns="0" rIns="0" tIns="0" bIns="0">
            <a:spAutoFit/>
          </a:bodyPr>
          <a:lstStyle/>
          <a:p>
            <a:pPr algn="r">
              <a:lnSpc>
                <a:spcPct val="115000"/>
              </a:lnSpc>
            </a:pPr>
            <a:r>
              <a:rPr sz="800" b="1" i="0">
                <a:solidFill>
                  <a:srgbClr val="1A1A1A"/>
                </a:solidFill>
                <a:latin typeface="Segoe UI"/>
              </a:rPr>
              <a:t>Medidas</a:t>
            </a:r>
          </a:p>
        </p:txBody>
      </p:sp>
      <p:sp>
        <p:nvSpPr>
          <p:cNvPr id="36" name="TextBox 35"/>
          <p:cNvSpPr txBox="1"/>
          <p:nvPr/>
        </p:nvSpPr>
        <p:spPr>
          <a:xfrm>
            <a:off x="9174443" y="2070000"/>
            <a:ext cx="2185555" cy="232000"/>
          </a:xfrm>
          <a:prstGeom prst="rect">
            <a:avLst/>
          </a:prstGeom>
          <a:noFill/>
        </p:spPr>
        <p:txBody>
          <a:bodyPr wrap="square" lIns="0" rIns="0" tIns="0" bIns="0">
            <a:spAutoFit/>
          </a:bodyPr>
          <a:lstStyle/>
          <a:p>
            <a:pPr algn="l">
              <a:lnSpc>
                <a:spcPct val="115000"/>
              </a:lnSpc>
            </a:pPr>
            <a:r>
              <a:rPr sz="800" b="1" i="0">
                <a:solidFill>
                  <a:srgbClr val="1A1A1A"/>
                </a:solidFill>
                <a:latin typeface="Segoe UI"/>
              </a:rPr>
              <a:t>Ejemplo</a:t>
            </a:r>
          </a:p>
        </p:txBody>
      </p:sp>
      <p:cxnSp>
        <p:nvCxnSpPr>
          <p:cNvPr id="37" name="Connector 36"/>
          <p:cNvCxnSpPr/>
          <p:nvPr/>
        </p:nvCxnSpPr>
        <p:spPr>
          <a:xfrm>
            <a:off x="6600000" y="2282000"/>
            <a:ext cx="4830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670000" y="2382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01 Base</a:t>
            </a:r>
          </a:p>
        </p:txBody>
      </p:sp>
      <p:sp>
        <p:nvSpPr>
          <p:cNvPr id="39" name="TextBox 38"/>
          <p:cNvSpPr txBox="1"/>
          <p:nvPr/>
        </p:nvSpPr>
        <p:spPr>
          <a:xfrm>
            <a:off x="8458888" y="2382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7</a:t>
            </a:r>
          </a:p>
        </p:txBody>
      </p:sp>
      <p:sp>
        <p:nvSpPr>
          <p:cNvPr id="40" name="TextBox 39"/>
          <p:cNvSpPr txBox="1"/>
          <p:nvPr/>
        </p:nvSpPr>
        <p:spPr>
          <a:xfrm>
            <a:off x="9174443" y="2382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Ingresantes</a:t>
            </a:r>
          </a:p>
        </p:txBody>
      </p:sp>
      <p:sp>
        <p:nvSpPr>
          <p:cNvPr id="41" name="TextBox 40"/>
          <p:cNvSpPr txBox="1"/>
          <p:nvPr/>
        </p:nvSpPr>
        <p:spPr>
          <a:xfrm>
            <a:off x="6670000" y="2614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02 Variacion interanual</a:t>
            </a:r>
          </a:p>
        </p:txBody>
      </p:sp>
      <p:sp>
        <p:nvSpPr>
          <p:cNvPr id="42" name="TextBox 41"/>
          <p:cNvSpPr txBox="1"/>
          <p:nvPr/>
        </p:nvSpPr>
        <p:spPr>
          <a:xfrm>
            <a:off x="8458888" y="2614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11</a:t>
            </a:r>
          </a:p>
        </p:txBody>
      </p:sp>
      <p:sp>
        <p:nvSpPr>
          <p:cNvPr id="43" name="TextBox 42"/>
          <p:cNvSpPr txBox="1"/>
          <p:nvPr/>
        </p:nvSpPr>
        <p:spPr>
          <a:xfrm>
            <a:off x="9174443" y="2614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Matriculados AA</a:t>
            </a:r>
          </a:p>
        </p:txBody>
      </p:sp>
      <p:sp>
        <p:nvSpPr>
          <p:cNvPr id="44" name="TextBox 43"/>
          <p:cNvSpPr txBox="1"/>
          <p:nvPr/>
        </p:nvSpPr>
        <p:spPr>
          <a:xfrm>
            <a:off x="6670000" y="2846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03 Participacion</a:t>
            </a:r>
          </a:p>
        </p:txBody>
      </p:sp>
      <p:sp>
        <p:nvSpPr>
          <p:cNvPr id="45" name="TextBox 44"/>
          <p:cNvSpPr txBox="1"/>
          <p:nvPr/>
        </p:nvSpPr>
        <p:spPr>
          <a:xfrm>
            <a:off x="8458888" y="2846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1</a:t>
            </a:r>
          </a:p>
        </p:txBody>
      </p:sp>
      <p:sp>
        <p:nvSpPr>
          <p:cNvPr id="46" name="TextBox 45"/>
          <p:cNvSpPr txBox="1"/>
          <p:nvPr/>
        </p:nvSpPr>
        <p:spPr>
          <a:xfrm>
            <a:off x="9174443" y="2846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 Participacion en su Universidad</a:t>
            </a:r>
          </a:p>
        </p:txBody>
      </p:sp>
      <p:sp>
        <p:nvSpPr>
          <p:cNvPr id="47" name="TextBox 46"/>
          <p:cNvSpPr txBox="1"/>
          <p:nvPr/>
        </p:nvSpPr>
        <p:spPr>
          <a:xfrm>
            <a:off x="6670000" y="3078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04 Ranking</a:t>
            </a:r>
          </a:p>
        </p:txBody>
      </p:sp>
      <p:sp>
        <p:nvSpPr>
          <p:cNvPr id="48" name="TextBox 47"/>
          <p:cNvSpPr txBox="1"/>
          <p:nvPr/>
        </p:nvSpPr>
        <p:spPr>
          <a:xfrm>
            <a:off x="8458888" y="3078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4</a:t>
            </a:r>
          </a:p>
        </p:txBody>
      </p:sp>
      <p:sp>
        <p:nvSpPr>
          <p:cNvPr id="49" name="TextBox 48"/>
          <p:cNvSpPr txBox="1"/>
          <p:nvPr/>
        </p:nvSpPr>
        <p:spPr>
          <a:xfrm>
            <a:off x="9174443" y="3078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Ranking Programa</a:t>
            </a:r>
          </a:p>
        </p:txBody>
      </p:sp>
      <p:sp>
        <p:nvSpPr>
          <p:cNvPr id="50" name="TextBox 49"/>
          <p:cNvSpPr txBox="1"/>
          <p:nvPr/>
        </p:nvSpPr>
        <p:spPr>
          <a:xfrm>
            <a:off x="6670000" y="3310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05 Crecimiento</a:t>
            </a:r>
          </a:p>
        </p:txBody>
      </p:sp>
      <p:sp>
        <p:nvSpPr>
          <p:cNvPr id="51" name="TextBox 50"/>
          <p:cNvSpPr txBox="1"/>
          <p:nvPr/>
        </p:nvSpPr>
        <p:spPr>
          <a:xfrm>
            <a:off x="8458888" y="3310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3</a:t>
            </a:r>
          </a:p>
        </p:txBody>
      </p:sp>
      <p:sp>
        <p:nvSpPr>
          <p:cNvPr id="52" name="TextBox 51"/>
          <p:cNvSpPr txBox="1"/>
          <p:nvPr/>
        </p:nvSpPr>
        <p:spPr>
          <a:xfrm>
            <a:off x="9174443" y="3310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CAGR Matricula</a:t>
            </a:r>
          </a:p>
        </p:txBody>
      </p:sp>
      <p:sp>
        <p:nvSpPr>
          <p:cNvPr id="53" name="TextBox 52"/>
          <p:cNvSpPr txBox="1"/>
          <p:nvPr/>
        </p:nvSpPr>
        <p:spPr>
          <a:xfrm>
            <a:off x="6670000" y="3542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06 Benchmark</a:t>
            </a:r>
          </a:p>
        </p:txBody>
      </p:sp>
      <p:sp>
        <p:nvSpPr>
          <p:cNvPr id="54" name="TextBox 53"/>
          <p:cNvSpPr txBox="1"/>
          <p:nvPr/>
        </p:nvSpPr>
        <p:spPr>
          <a:xfrm>
            <a:off x="8458888" y="3542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19</a:t>
            </a:r>
          </a:p>
        </p:txBody>
      </p:sp>
      <p:sp>
        <p:nvSpPr>
          <p:cNvPr id="55" name="TextBox 54"/>
          <p:cNvSpPr txBox="1"/>
          <p:nvPr/>
        </p:nvSpPr>
        <p:spPr>
          <a:xfrm>
            <a:off x="9174443" y="3542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Matricula UCSP</a:t>
            </a:r>
          </a:p>
        </p:txBody>
      </p:sp>
      <p:sp>
        <p:nvSpPr>
          <p:cNvPr id="56" name="TextBox 55"/>
          <p:cNvSpPr txBox="1"/>
          <p:nvPr/>
        </p:nvSpPr>
        <p:spPr>
          <a:xfrm>
            <a:off x="6670000" y="3774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07 Selectividad</a:t>
            </a:r>
          </a:p>
        </p:txBody>
      </p:sp>
      <p:sp>
        <p:nvSpPr>
          <p:cNvPr id="57" name="TextBox 56"/>
          <p:cNvSpPr txBox="1"/>
          <p:nvPr/>
        </p:nvSpPr>
        <p:spPr>
          <a:xfrm>
            <a:off x="8458888" y="3774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5</a:t>
            </a:r>
          </a:p>
        </p:txBody>
      </p:sp>
      <p:sp>
        <p:nvSpPr>
          <p:cNvPr id="58" name="TextBox 57"/>
          <p:cNvSpPr txBox="1"/>
          <p:nvPr/>
        </p:nvSpPr>
        <p:spPr>
          <a:xfrm>
            <a:off x="9174443" y="3774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Tasa de Admision</a:t>
            </a:r>
          </a:p>
        </p:txBody>
      </p:sp>
      <p:sp>
        <p:nvSpPr>
          <p:cNvPr id="59" name="TextBox 58"/>
          <p:cNvSpPr txBox="1"/>
          <p:nvPr/>
        </p:nvSpPr>
        <p:spPr>
          <a:xfrm>
            <a:off x="6670000" y="4006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08 Concentracion</a:t>
            </a:r>
          </a:p>
        </p:txBody>
      </p:sp>
      <p:sp>
        <p:nvSpPr>
          <p:cNvPr id="60" name="TextBox 59"/>
          <p:cNvSpPr txBox="1"/>
          <p:nvPr/>
        </p:nvSpPr>
        <p:spPr>
          <a:xfrm>
            <a:off x="8458888" y="4006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2</a:t>
            </a:r>
          </a:p>
        </p:txBody>
      </p:sp>
      <p:sp>
        <p:nvSpPr>
          <p:cNvPr id="61" name="TextBox 60"/>
          <p:cNvSpPr txBox="1"/>
          <p:nvPr/>
        </p:nvSpPr>
        <p:spPr>
          <a:xfrm>
            <a:off x="9174443" y="4006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HHI Universidad</a:t>
            </a:r>
          </a:p>
        </p:txBody>
      </p:sp>
      <p:sp>
        <p:nvSpPr>
          <p:cNvPr id="62" name="TextBox 61"/>
          <p:cNvSpPr txBox="1"/>
          <p:nvPr/>
        </p:nvSpPr>
        <p:spPr>
          <a:xfrm>
            <a:off x="6670000" y="4238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09 Tendencia</a:t>
            </a:r>
          </a:p>
        </p:txBody>
      </p:sp>
      <p:sp>
        <p:nvSpPr>
          <p:cNvPr id="63" name="TextBox 62"/>
          <p:cNvSpPr txBox="1"/>
          <p:nvPr/>
        </p:nvSpPr>
        <p:spPr>
          <a:xfrm>
            <a:off x="8458888" y="4238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10</a:t>
            </a:r>
          </a:p>
        </p:txBody>
      </p:sp>
      <p:sp>
        <p:nvSpPr>
          <p:cNvPr id="64" name="TextBox 63"/>
          <p:cNvSpPr txBox="1"/>
          <p:nvPr/>
        </p:nvSpPr>
        <p:spPr>
          <a:xfrm>
            <a:off x="9174443" y="4238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CAGR OLS Ingresantes</a:t>
            </a:r>
          </a:p>
        </p:txBody>
      </p:sp>
      <p:sp>
        <p:nvSpPr>
          <p:cNvPr id="65" name="TextBox 64"/>
          <p:cNvSpPr txBox="1"/>
          <p:nvPr/>
        </p:nvSpPr>
        <p:spPr>
          <a:xfrm>
            <a:off x="6670000" y="4470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10 Semestral</a:t>
            </a:r>
          </a:p>
        </p:txBody>
      </p:sp>
      <p:sp>
        <p:nvSpPr>
          <p:cNvPr id="66" name="TextBox 65"/>
          <p:cNvSpPr txBox="1"/>
          <p:nvPr/>
        </p:nvSpPr>
        <p:spPr>
          <a:xfrm>
            <a:off x="8458888" y="4470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2</a:t>
            </a:r>
          </a:p>
        </p:txBody>
      </p:sp>
      <p:sp>
        <p:nvSpPr>
          <p:cNvPr id="67" name="TextBox 66"/>
          <p:cNvSpPr txBox="1"/>
          <p:nvPr/>
        </p:nvSpPr>
        <p:spPr>
          <a:xfrm>
            <a:off x="9174443" y="4470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Matriculados Semestre</a:t>
            </a:r>
          </a:p>
        </p:txBody>
      </p:sp>
      <p:sp>
        <p:nvSpPr>
          <p:cNvPr id="68" name="TextBox 67"/>
          <p:cNvSpPr txBox="1"/>
          <p:nvPr/>
        </p:nvSpPr>
        <p:spPr>
          <a:xfrm>
            <a:off x="6670000" y="4702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11 Egresados</a:t>
            </a:r>
          </a:p>
        </p:txBody>
      </p:sp>
      <p:sp>
        <p:nvSpPr>
          <p:cNvPr id="69" name="TextBox 68"/>
          <p:cNvSpPr txBox="1"/>
          <p:nvPr/>
        </p:nvSpPr>
        <p:spPr>
          <a:xfrm>
            <a:off x="8458888" y="4702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5</a:t>
            </a:r>
          </a:p>
        </p:txBody>
      </p:sp>
      <p:sp>
        <p:nvSpPr>
          <p:cNvPr id="70" name="TextBox 69"/>
          <p:cNvSpPr txBox="1"/>
          <p:nvPr/>
        </p:nvSpPr>
        <p:spPr>
          <a:xfrm>
            <a:off x="9174443" y="4702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Egresados</a:t>
            </a:r>
          </a:p>
        </p:txBody>
      </p:sp>
      <p:sp>
        <p:nvSpPr>
          <p:cNvPr id="71" name="TextBox 70"/>
          <p:cNvSpPr txBox="1"/>
          <p:nvPr/>
        </p:nvSpPr>
        <p:spPr>
          <a:xfrm>
            <a:off x="6670000" y="4934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12 Docentes</a:t>
            </a:r>
          </a:p>
        </p:txBody>
      </p:sp>
      <p:sp>
        <p:nvSpPr>
          <p:cNvPr id="72" name="TextBox 71"/>
          <p:cNvSpPr txBox="1"/>
          <p:nvPr/>
        </p:nvSpPr>
        <p:spPr>
          <a:xfrm>
            <a:off x="8458888" y="4934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5</a:t>
            </a:r>
          </a:p>
        </p:txBody>
      </p:sp>
      <p:sp>
        <p:nvSpPr>
          <p:cNvPr id="73" name="TextBox 72"/>
          <p:cNvSpPr txBox="1"/>
          <p:nvPr/>
        </p:nvSpPr>
        <p:spPr>
          <a:xfrm>
            <a:off x="9174443" y="4934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Docentes</a:t>
            </a:r>
          </a:p>
        </p:txBody>
      </p:sp>
      <p:sp>
        <p:nvSpPr>
          <p:cNvPr id="74" name="TextBox 73"/>
          <p:cNvSpPr txBox="1"/>
          <p:nvPr/>
        </p:nvSpPr>
        <p:spPr>
          <a:xfrm>
            <a:off x="6670000" y="5166000"/>
            <a:ext cx="1648888"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13 Narrativa</a:t>
            </a:r>
          </a:p>
        </p:txBody>
      </p:sp>
      <p:sp>
        <p:nvSpPr>
          <p:cNvPr id="75" name="TextBox 74"/>
          <p:cNvSpPr txBox="1"/>
          <p:nvPr/>
        </p:nvSpPr>
        <p:spPr>
          <a:xfrm>
            <a:off x="8458888" y="5166000"/>
            <a:ext cx="575555" cy="232000"/>
          </a:xfrm>
          <a:prstGeom prst="rect">
            <a:avLst/>
          </a:prstGeom>
          <a:noFill/>
        </p:spPr>
        <p:txBody>
          <a:bodyPr wrap="square" lIns="0" rIns="0" tIns="0" bIns="0">
            <a:spAutoFit/>
          </a:bodyPr>
          <a:lstStyle/>
          <a:p>
            <a:pPr algn="r">
              <a:lnSpc>
                <a:spcPct val="115000"/>
              </a:lnSpc>
            </a:pPr>
            <a:r>
              <a:rPr sz="800" b="0" i="0">
                <a:solidFill>
                  <a:srgbClr val="3D3A36"/>
                </a:solidFill>
                <a:latin typeface="Segoe UI"/>
              </a:rPr>
              <a:t>5</a:t>
            </a:r>
          </a:p>
        </p:txBody>
      </p:sp>
      <p:sp>
        <p:nvSpPr>
          <p:cNvPr id="76" name="TextBox 75"/>
          <p:cNvSpPr txBox="1"/>
          <p:nvPr/>
        </p:nvSpPr>
        <p:spPr>
          <a:xfrm>
            <a:off x="9174443" y="5166000"/>
            <a:ext cx="2185555" cy="232000"/>
          </a:xfrm>
          <a:prstGeom prst="rect">
            <a:avLst/>
          </a:prstGeom>
          <a:noFill/>
        </p:spPr>
        <p:txBody>
          <a:bodyPr wrap="square" lIns="0" rIns="0" tIns="0" bIns="0">
            <a:spAutoFit/>
          </a:bodyPr>
          <a:lstStyle/>
          <a:p>
            <a:pPr algn="l">
              <a:lnSpc>
                <a:spcPct val="115000"/>
              </a:lnSpc>
            </a:pPr>
            <a:r>
              <a:rPr sz="800" b="0" i="0">
                <a:solidFill>
                  <a:srgbClr val="3D3A36"/>
                </a:solidFill>
                <a:latin typeface="Segoe UI"/>
              </a:rPr>
              <a:t>Rango de Anios</a:t>
            </a:r>
          </a:p>
        </p:txBody>
      </p:sp>
      <p:cxnSp>
        <p:nvCxnSpPr>
          <p:cNvPr id="77" name="Connector 76"/>
          <p:cNvCxnSpPr/>
          <p:nvPr/>
        </p:nvCxnSpPr>
        <p:spPr>
          <a:xfrm>
            <a:off x="6600000" y="5388000"/>
            <a:ext cx="4830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extBox 1"/>
          <p:cNvSpPr txBox="1"/>
          <p:nvPr/>
        </p:nvSpPr>
        <p:spPr>
          <a:xfrm>
            <a:off x="760000" y="430000"/>
            <a:ext cx="10672000" cy="260000"/>
          </a:xfrm>
          <a:prstGeom prst="rect">
            <a:avLst/>
          </a:prstGeom>
          <a:noFill/>
        </p:spPr>
        <p:txBody>
          <a:bodyPr wrap="square" lIns="0" rIns="0" tIns="0" bIns="0">
            <a:spAutoFit/>
          </a:bodyPr>
          <a:lstStyle/>
          <a:p>
            <a:pPr algn="l">
              <a:lnSpc>
                <a:spcPct val="130000"/>
              </a:lnSpc>
            </a:pPr>
            <a:r>
              <a:rPr sz="1000" b="0" i="0">
                <a:solidFill>
                  <a:srgbClr val="A8452F"/>
                </a:solidFill>
                <a:latin typeface="Segoe UI"/>
              </a:rPr>
              <a:t>Anexo C · entregables</a:t>
            </a:r>
          </a:p>
        </p:txBody>
      </p:sp>
      <p:sp>
        <p:nvSpPr>
          <p:cNvPr id="3" name="TextBox 2"/>
          <p:cNvSpPr txBox="1"/>
          <p:nvPr/>
        </p:nvSpPr>
        <p:spPr>
          <a:xfrm>
            <a:off x="760000" y="700000"/>
            <a:ext cx="10600000" cy="520000"/>
          </a:xfrm>
          <a:prstGeom prst="rect">
            <a:avLst/>
          </a:prstGeom>
          <a:noFill/>
        </p:spPr>
        <p:txBody>
          <a:bodyPr wrap="square" lIns="0" rIns="0" tIns="0" bIns="0">
            <a:spAutoFit/>
          </a:bodyPr>
          <a:lstStyle/>
          <a:p>
            <a:pPr algn="l">
              <a:lnSpc>
                <a:spcPct val="130000"/>
              </a:lnSpc>
            </a:pPr>
            <a:r>
              <a:rPr sz="2300" b="0" i="0">
                <a:solidFill>
                  <a:srgbClr val="1A1A1A"/>
                </a:solidFill>
                <a:latin typeface="Georgia"/>
              </a:rPr>
              <a:t>Dónde está cada cosa</a:t>
            </a:r>
          </a:p>
        </p:txBody>
      </p:sp>
      <p:sp>
        <p:nvSpPr>
          <p:cNvPr id="4" name="TextBox 3"/>
          <p:cNvSpPr txBox="1"/>
          <p:nvPr/>
        </p:nvSpPr>
        <p:spPr>
          <a:xfrm>
            <a:off x="760000" y="1210000"/>
            <a:ext cx="10400000" cy="560000"/>
          </a:xfrm>
          <a:prstGeom prst="rect">
            <a:avLst/>
          </a:prstGeom>
          <a:noFill/>
        </p:spPr>
        <p:txBody>
          <a:bodyPr wrap="square" lIns="0" rIns="0" tIns="0" bIns="0">
            <a:spAutoFit/>
          </a:bodyPr>
          <a:lstStyle/>
          <a:p>
            <a:pPr algn="l">
              <a:lnSpc>
                <a:spcPct val="130000"/>
              </a:lnSpc>
            </a:pPr>
            <a:r>
              <a:rPr sz="1100" b="0" i="0">
                <a:solidFill>
                  <a:srgbClr val="6B6560"/>
                </a:solidFill>
                <a:latin typeface="Segoe UI"/>
              </a:rPr>
              <a:t>El repositorio contiene el código, la documentación y el modelo semántico como código.</a:t>
            </a:r>
          </a:p>
        </p:txBody>
      </p:sp>
      <p:cxnSp>
        <p:nvCxnSpPr>
          <p:cNvPr id="5" name="Connector 4"/>
          <p:cNvCxnSpPr/>
          <p:nvPr/>
        </p:nvCxnSpPr>
        <p:spPr>
          <a:xfrm>
            <a:off x="760000" y="157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60000" y="633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60000" y="6400000"/>
            <a:ext cx="9200000" cy="240000"/>
          </a:xfrm>
          <a:prstGeom prst="rect">
            <a:avLst/>
          </a:prstGeom>
          <a:noFill/>
        </p:spPr>
        <p:txBody>
          <a:bodyPr wrap="square" lIns="0" rIns="0" tIns="0" bIns="0">
            <a:spAutoFit/>
          </a:bodyPr>
          <a:lstStyle/>
          <a:p>
            <a:pPr algn="l">
              <a:lnSpc>
                <a:spcPct val="130000"/>
              </a:lnSpc>
            </a:pPr>
            <a:r>
              <a:rPr sz="850" b="0" i="1">
                <a:solidFill>
                  <a:srgbClr val="6B6560"/>
                </a:solidFill>
                <a:latin typeface="Segoe UI"/>
              </a:rPr>
              <a:t>README.md</a:t>
            </a:r>
          </a:p>
        </p:txBody>
      </p:sp>
      <p:sp>
        <p:nvSpPr>
          <p:cNvPr id="8" name="TextBox 7"/>
          <p:cNvSpPr txBox="1"/>
          <p:nvPr/>
        </p:nvSpPr>
        <p:spPr>
          <a:xfrm>
            <a:off x="10432000" y="6400000"/>
            <a:ext cx="1000000" cy="240000"/>
          </a:xfrm>
          <a:prstGeom prst="rect">
            <a:avLst/>
          </a:prstGeom>
          <a:noFill/>
        </p:spPr>
        <p:txBody>
          <a:bodyPr wrap="square" lIns="0" rIns="0" tIns="0" bIns="0">
            <a:spAutoFit/>
          </a:bodyPr>
          <a:lstStyle/>
          <a:p>
            <a:pPr algn="r">
              <a:lnSpc>
                <a:spcPct val="130000"/>
              </a:lnSpc>
            </a:pPr>
            <a:r>
              <a:rPr sz="850" b="0" i="0">
                <a:solidFill>
                  <a:srgbClr val="6B6560"/>
                </a:solidFill>
                <a:latin typeface="Segoe UI"/>
              </a:rPr>
              <a:t>13 / 13</a:t>
            </a:r>
          </a:p>
        </p:txBody>
      </p:sp>
      <p:cxnSp>
        <p:nvCxnSpPr>
          <p:cNvPr id="9" name="Connector 8"/>
          <p:cNvCxnSpPr/>
          <p:nvPr/>
        </p:nvCxnSpPr>
        <p:spPr>
          <a:xfrm>
            <a:off x="760000" y="1960000"/>
            <a:ext cx="10672000" cy="0"/>
          </a:xfrm>
          <a:prstGeom prst="line">
            <a:avLst/>
          </a:prstGeom>
          <a:ln w="12700">
            <a:solidFill>
              <a:srgbClr val="1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0000" y="2070000"/>
            <a:ext cx="2382472" cy="330000"/>
          </a:xfrm>
          <a:prstGeom prst="rect">
            <a:avLst/>
          </a:prstGeom>
          <a:noFill/>
        </p:spPr>
        <p:txBody>
          <a:bodyPr wrap="square" lIns="0" rIns="0" tIns="0" bIns="0">
            <a:spAutoFit/>
          </a:bodyPr>
          <a:lstStyle/>
          <a:p>
            <a:pPr algn="l">
              <a:lnSpc>
                <a:spcPct val="115000"/>
              </a:lnSpc>
            </a:pPr>
            <a:r>
              <a:rPr sz="900" b="1" i="0">
                <a:solidFill>
                  <a:srgbClr val="1A1A1A"/>
                </a:solidFill>
                <a:latin typeface="Segoe UI"/>
              </a:rPr>
              <a:t>Entregable</a:t>
            </a:r>
          </a:p>
        </p:txBody>
      </p:sp>
      <p:sp>
        <p:nvSpPr>
          <p:cNvPr id="11" name="TextBox 10"/>
          <p:cNvSpPr txBox="1"/>
          <p:nvPr/>
        </p:nvSpPr>
        <p:spPr>
          <a:xfrm>
            <a:off x="3352472" y="2070000"/>
            <a:ext cx="8009527" cy="330000"/>
          </a:xfrm>
          <a:prstGeom prst="rect">
            <a:avLst/>
          </a:prstGeom>
          <a:noFill/>
        </p:spPr>
        <p:txBody>
          <a:bodyPr wrap="square" lIns="0" rIns="0" tIns="0" bIns="0">
            <a:spAutoFit/>
          </a:bodyPr>
          <a:lstStyle/>
          <a:p>
            <a:pPr algn="l">
              <a:lnSpc>
                <a:spcPct val="115000"/>
              </a:lnSpc>
            </a:pPr>
            <a:r>
              <a:rPr sz="900" b="1" i="0">
                <a:solidFill>
                  <a:srgbClr val="1A1A1A"/>
                </a:solidFill>
                <a:latin typeface="Segoe UI"/>
              </a:rPr>
              <a:t>Archivo</a:t>
            </a:r>
          </a:p>
        </p:txBody>
      </p:sp>
      <p:cxnSp>
        <p:nvCxnSpPr>
          <p:cNvPr id="12" name="Connector 11"/>
          <p:cNvCxnSpPr/>
          <p:nvPr/>
        </p:nvCxnSpPr>
        <p:spPr>
          <a:xfrm>
            <a:off x="760000" y="2380000"/>
            <a:ext cx="10672000" cy="0"/>
          </a:xfrm>
          <a:prstGeom prst="line">
            <a:avLst/>
          </a:prstGeom>
          <a:ln w="9525">
            <a:solidFill>
              <a:srgbClr val="1A1A1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30000" y="2480000"/>
            <a:ext cx="2382472"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5.1 Dashboard</a:t>
            </a:r>
          </a:p>
        </p:txBody>
      </p:sp>
      <p:sp>
        <p:nvSpPr>
          <p:cNvPr id="14" name="TextBox 13"/>
          <p:cNvSpPr txBox="1"/>
          <p:nvPr/>
        </p:nvSpPr>
        <p:spPr>
          <a:xfrm>
            <a:off x="3352472" y="2480000"/>
            <a:ext cx="8009527"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UCSP_Benchmark.pbix · guía: powerbi/GUIA_ARMADO.md · tema: powerbi/tema_ucsp_ejecutivo.json</a:t>
            </a:r>
          </a:p>
        </p:txBody>
      </p:sp>
      <p:sp>
        <p:nvSpPr>
          <p:cNvPr id="15" name="TextBox 14"/>
          <p:cNvSpPr txBox="1"/>
          <p:nvPr/>
        </p:nvSpPr>
        <p:spPr>
          <a:xfrm>
            <a:off x="830000" y="2810000"/>
            <a:ext cx="2382472"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5.2 Código y README</a:t>
            </a:r>
          </a:p>
        </p:txBody>
      </p:sp>
      <p:sp>
        <p:nvSpPr>
          <p:cNvPr id="16" name="TextBox 15"/>
          <p:cNvSpPr txBox="1"/>
          <p:nvPr/>
        </p:nvSpPr>
        <p:spPr>
          <a:xfrm>
            <a:off x="3352472" y="2810000"/>
            <a:ext cx="8009527"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README.md · run_all.py · 01–06_*.py · sql/ · validar_sql.py</a:t>
            </a:r>
          </a:p>
        </p:txBody>
      </p:sp>
      <p:sp>
        <p:nvSpPr>
          <p:cNvPr id="17" name="TextBox 16"/>
          <p:cNvSpPr txBox="1"/>
          <p:nvPr/>
        </p:nvSpPr>
        <p:spPr>
          <a:xfrm>
            <a:off x="830000" y="3140000"/>
            <a:ext cx="2382472"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5.3 Diccionario y catálogo</a:t>
            </a:r>
          </a:p>
        </p:txBody>
      </p:sp>
      <p:sp>
        <p:nvSpPr>
          <p:cNvPr id="18" name="TextBox 17"/>
          <p:cNvSpPr txBox="1"/>
          <p:nvPr/>
        </p:nvSpPr>
        <p:spPr>
          <a:xfrm>
            <a:off x="3352472" y="3140000"/>
            <a:ext cx="8009527"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docs/diccionario_datos.md · docs/catalogo_medidas.md · powerbi/medidas.csx</a:t>
            </a:r>
          </a:p>
        </p:txBody>
      </p:sp>
      <p:sp>
        <p:nvSpPr>
          <p:cNvPr id="19" name="TextBox 18"/>
          <p:cNvSpPr txBox="1"/>
          <p:nvPr/>
        </p:nvSpPr>
        <p:spPr>
          <a:xfrm>
            <a:off x="830000" y="3470000"/>
            <a:ext cx="2382472"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Modelo semántico como código</a:t>
            </a:r>
          </a:p>
        </p:txBody>
      </p:sp>
      <p:sp>
        <p:nvSpPr>
          <p:cNvPr id="20" name="TextBox 19"/>
          <p:cNvSpPr txBox="1"/>
          <p:nvPr/>
        </p:nvSpPr>
        <p:spPr>
          <a:xfrm>
            <a:off x="3352472" y="3470000"/>
            <a:ext cx="8009527"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powerbi/modelo_tmdl/ (13 tablas, 25 relaciones, medidas)</a:t>
            </a:r>
          </a:p>
        </p:txBody>
      </p:sp>
      <p:sp>
        <p:nvSpPr>
          <p:cNvPr id="21" name="TextBox 20"/>
          <p:cNvSpPr txBox="1"/>
          <p:nvPr/>
        </p:nvSpPr>
        <p:spPr>
          <a:xfrm>
            <a:off x="830000" y="3800000"/>
            <a:ext cx="2382472"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Calidad</a:t>
            </a:r>
          </a:p>
        </p:txBody>
      </p:sp>
      <p:sp>
        <p:nvSpPr>
          <p:cNvPr id="22" name="TextBox 21"/>
          <p:cNvSpPr txBox="1"/>
          <p:nvPr/>
        </p:nvSpPr>
        <p:spPr>
          <a:xfrm>
            <a:off x="3352472" y="3800000"/>
            <a:ext cx="8009527"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sql/calidad.sql · salidas/calidad/qc_resultados.csv · docs/controles_calidad.md</a:t>
            </a:r>
          </a:p>
        </p:txBody>
      </p:sp>
      <p:sp>
        <p:nvSpPr>
          <p:cNvPr id="23" name="TextBox 22"/>
          <p:cNvSpPr txBox="1"/>
          <p:nvPr/>
        </p:nvSpPr>
        <p:spPr>
          <a:xfrm>
            <a:off x="830000" y="4130000"/>
            <a:ext cx="2382472"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Estadística</a:t>
            </a:r>
          </a:p>
        </p:txBody>
      </p:sp>
      <p:sp>
        <p:nvSpPr>
          <p:cNvPr id="24" name="TextBox 23"/>
          <p:cNvSpPr txBox="1"/>
          <p:nvPr/>
        </p:nvSpPr>
        <p:spPr>
          <a:xfrm>
            <a:off x="3352472" y="4130000"/>
            <a:ext cx="8009527"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04_tendencias.py · docs/componente_estadistico.md</a:t>
            </a:r>
          </a:p>
        </p:txBody>
      </p:sp>
      <p:sp>
        <p:nvSpPr>
          <p:cNvPr id="25" name="TextBox 24"/>
          <p:cNvSpPr txBox="1"/>
          <p:nvPr/>
        </p:nvSpPr>
        <p:spPr>
          <a:xfrm>
            <a:off x="830000" y="4460000"/>
            <a:ext cx="2382472"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Indicadores por pregunta</a:t>
            </a:r>
          </a:p>
        </p:txBody>
      </p:sp>
      <p:sp>
        <p:nvSpPr>
          <p:cNvPr id="26" name="TextBox 25"/>
          <p:cNvSpPr txBox="1"/>
          <p:nvPr/>
        </p:nvSpPr>
        <p:spPr>
          <a:xfrm>
            <a:off x="3352472" y="4460000"/>
            <a:ext cx="8009527"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docs/preguntas_e_indicadores.md</a:t>
            </a:r>
          </a:p>
        </p:txBody>
      </p:sp>
      <p:sp>
        <p:nvSpPr>
          <p:cNvPr id="27" name="TextBox 26"/>
          <p:cNvSpPr txBox="1"/>
          <p:nvPr/>
        </p:nvSpPr>
        <p:spPr>
          <a:xfrm>
            <a:off x="830000" y="4790000"/>
            <a:ext cx="2382472"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Decisiones</a:t>
            </a:r>
          </a:p>
        </p:txBody>
      </p:sp>
      <p:sp>
        <p:nvSpPr>
          <p:cNvPr id="28" name="TextBox 27"/>
          <p:cNvSpPr txBox="1"/>
          <p:nvPr/>
        </p:nvSpPr>
        <p:spPr>
          <a:xfrm>
            <a:off x="3352472" y="4790000"/>
            <a:ext cx="8009527"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docs/decisiones_tecnicas.md (49 decisiones)</a:t>
            </a:r>
          </a:p>
        </p:txBody>
      </p:sp>
      <p:sp>
        <p:nvSpPr>
          <p:cNvPr id="29" name="TextBox 28"/>
          <p:cNvSpPr txBox="1"/>
          <p:nvPr/>
        </p:nvSpPr>
        <p:spPr>
          <a:xfrm>
            <a:off x="830000" y="5120000"/>
            <a:ext cx="2382472"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Fabric y portabilidad</a:t>
            </a:r>
          </a:p>
        </p:txBody>
      </p:sp>
      <p:sp>
        <p:nvSpPr>
          <p:cNvPr id="30" name="TextBox 29"/>
          <p:cNvSpPr txBox="1"/>
          <p:nvPr/>
        </p:nvSpPr>
        <p:spPr>
          <a:xfrm>
            <a:off x="3352472" y="5120000"/>
            <a:ext cx="8009527" cy="330000"/>
          </a:xfrm>
          <a:prstGeom prst="rect">
            <a:avLst/>
          </a:prstGeom>
          <a:noFill/>
        </p:spPr>
        <p:txBody>
          <a:bodyPr wrap="square" lIns="0" rIns="0" tIns="0" bIns="0">
            <a:spAutoFit/>
          </a:bodyPr>
          <a:lstStyle/>
          <a:p>
            <a:pPr algn="l">
              <a:lnSpc>
                <a:spcPct val="115000"/>
              </a:lnSpc>
            </a:pPr>
            <a:r>
              <a:rPr sz="900" b="0" i="0">
                <a:solidFill>
                  <a:srgbClr val="3D3A36"/>
                </a:solidFill>
                <a:latin typeface="Segoe UI"/>
              </a:rPr>
              <a:t>docs/arquitectura_fabric.md · fabric/ · sql/portabilidad.md · sql/ddl_*.sql</a:t>
            </a:r>
          </a:p>
        </p:txBody>
      </p:sp>
      <p:cxnSp>
        <p:nvCxnSpPr>
          <p:cNvPr id="31" name="Connector 30"/>
          <p:cNvCxnSpPr/>
          <p:nvPr/>
        </p:nvCxnSpPr>
        <p:spPr>
          <a:xfrm>
            <a:off x="760000" y="5440000"/>
            <a:ext cx="10672000" cy="0"/>
          </a:xfrm>
          <a:prstGeom prst="line">
            <a:avLst/>
          </a:prstGeom>
          <a:ln w="9525">
            <a:solidFill>
              <a:srgbClr val="D8D2C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