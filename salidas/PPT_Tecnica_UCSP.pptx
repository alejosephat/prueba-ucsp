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Demanda académica de la UCSP frente al sur y al país, 2021–2025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6B6B"/>
                </a:solidFill>
                <a:latin typeface="Arial"/>
              </a:rPr>
              <a:t>Solución de extremo a extremo sobre los datos abiertos de SUNEDU (tuni.pe): ingesta, calidad, modelo, estadística y tablero en Power BI.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883664"/>
            <a:ext cx="5760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6B6B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2456" y="1883664"/>
            <a:ext cx="24048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6B6B"/>
                </a:solidFill>
                <a:latin typeface="Arial"/>
              </a:rPr>
              <a:t>Pregunta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7056" y="1883664"/>
            <a:ext cx="7598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6B6B"/>
                </a:solidFill>
                <a:latin typeface="Arial"/>
              </a:rPr>
              <a:t>Respuesta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139696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656" y="2212848"/>
            <a:ext cx="576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212848"/>
            <a:ext cx="24048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Benchmark de demanda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7056" y="2212848"/>
            <a:ext cx="7598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El ingreso de la UCSP cae 4,9 % al año mientras el del sur crece 8,2 %. La matrícula aún crece 0,8 % porque arrastra cohortes.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2779776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" y="2852928"/>
            <a:ext cx="576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4.2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2456" y="2852928"/>
            <a:ext cx="24048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Demanda por programa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7056" y="2852928"/>
            <a:ext cx="7598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Top y bottom 5 por ingreso y matrícula, recalculados con cada filtro. UCSP 2025: lidera Ing. Industrial (483 ingresantes); cierra Contabilidad (65).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419856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6656" y="3493008"/>
            <a:ext cx="576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4.3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" y="3493008"/>
            <a:ext cx="24048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Tendencia de los programas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056" y="3493008"/>
            <a:ext cx="7598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Ningún programa de la UCSP crece en ingreso y matrícula a la vez. Contabilidad y Administración caen en ambas; Arquitectura pierde ingreso.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4059936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6656" y="4133088"/>
            <a:ext cx="576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4.4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2456" y="4133088"/>
            <a:ext cx="24048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Selectividad (adicional)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77056" y="4133088"/>
            <a:ext cx="7598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</a:rPr>
              <a:t>La UCSP admite el 56 % de sus postulaciones; las demás privadas del sur, el 77 %. Sin Medicina Humana, admitiría el 79 %.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700016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" y="50749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6B6B6B"/>
                </a:solidFill>
                <a:latin typeface="Arial"/>
              </a:rPr>
              <a:t>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492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SUNEDU · tuni.pe: 9 datasets, 56 archivos (1 270 MB). Ingresantes, matrícula (12 semestres), postulantes, egresados, docentes y títulos, 2020–2025.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0749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6B6B6B"/>
                </a:solidFill>
                <a:latin typeface="Arial"/>
              </a:rPr>
              <a:t>LIMITACIONES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3492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Series de 5 años: 3 grados de libertad por regresión. La matrícula es un stock y arrastra cohortes. Postulaciones no son personas.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FLUJO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Un comando lleva los datos de la fuente al tablero en 23 minutos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155143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2148840"/>
            <a:ext cx="1405128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Fuente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API de TUNI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9 datasets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SUNEDU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28088" y="2583180"/>
            <a:ext cx="246888" cy="0"/>
          </a:xfrm>
          <a:prstGeom prst="line">
            <a:avLst/>
          </a:prstGeom>
          <a:ln w="15875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511551" y="2148840"/>
            <a:ext cx="155143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4703" y="2148840"/>
            <a:ext cx="1405128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01 · Descarga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1551" y="315468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Python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56 zips · sha256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3 min 45 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99559" y="2583180"/>
            <a:ext cx="246888" cy="0"/>
          </a:xfrm>
          <a:prstGeom prst="line">
            <a:avLst/>
          </a:prstGeom>
          <a:ln w="15875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383024" y="2148840"/>
            <a:ext cx="155143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6176" y="2148840"/>
            <a:ext cx="1405128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02 · Transformación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3024" y="315468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SQL en DuckDB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bronze → silver → gold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19 min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1031" y="2583180"/>
            <a:ext cx="246888" cy="0"/>
          </a:xfrm>
          <a:prstGeom prst="line">
            <a:avLst/>
          </a:prstGeom>
          <a:ln w="15875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54495" y="2148840"/>
            <a:ext cx="155143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7" y="2148840"/>
            <a:ext cx="1405128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03 · Calidad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5" y="315468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SQL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17 controles · CSV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13 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42503" y="2583180"/>
            <a:ext cx="246888" cy="0"/>
          </a:xfrm>
          <a:prstGeom prst="line">
            <a:avLst/>
          </a:prstGeom>
          <a:ln w="15875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125967" y="2148840"/>
            <a:ext cx="155143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9119" y="2148840"/>
            <a:ext cx="1405128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04 · Tendencias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5967" y="315468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Python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regresión por programa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3 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713975" y="2583180"/>
            <a:ext cx="246889" cy="0"/>
          </a:xfrm>
          <a:prstGeom prst="line">
            <a:avLst/>
          </a:prstGeom>
          <a:ln w="15875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9997439" y="2148840"/>
            <a:ext cx="155143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70591" y="2148840"/>
            <a:ext cx="1405128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Arial"/>
              </a:rPr>
              <a:t>Power BI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97439" y="315468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modelo y tablero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12 tablas · 76 medidas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3 páginas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43434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45720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33333"/>
                </a:solidFill>
                <a:latin typeface="Arial"/>
              </a:rPr>
              <a:t>Reproducible. </a:t>
            </a:r>
            <a:r>
              <a:rPr sz="1300" b="0">
                <a:solidFill>
                  <a:srgbClr val="333333"/>
                </a:solidFill>
                <a:latin typeface="Arial"/>
              </a:rPr>
              <a:t>python run_all.py, sin pasos manuales: 23 min 13 s desde cero y 19 min 21 s con los zips ya descargados.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45720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33333"/>
                </a:solidFill>
                <a:latin typeface="Arial"/>
              </a:rPr>
              <a:t>Idempotente. </a:t>
            </a:r>
            <a:r>
              <a:rPr sz="1300" b="0">
                <a:solidFill>
                  <a:srgbClr val="333333"/>
                </a:solidFill>
                <a:latin typeface="Arial"/>
              </a:rPr>
              <a:t>El sha256 evita volver a descargar; una segunda corrida deja los 12 parquets idénticos.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7" y="45720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33333"/>
                </a:solidFill>
                <a:latin typeface="Arial"/>
              </a:rPr>
              <a:t>Portable. </a:t>
            </a:r>
            <a:r>
              <a:rPr sz="1300" b="0">
                <a:solidFill>
                  <a:srgbClr val="333333"/>
                </a:solidFill>
                <a:latin typeface="Arial"/>
              </a:rPr>
              <a:t>Toda la lógica está en SQL: corre en DuckDB y, cambiando 5 de 382 líneas, en Spark sobre Fabric.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3.1 · INGESTA Y TRANSFORMACIÓN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76872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Criterio: ingesta y transformación ·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Descarga y transformación automáticas, de la API al modelo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681228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333333"/>
                </a:solidFill>
                <a:latin typeface="Arial"/>
              </a:rPr>
              <a:t>Descarga por API. </a:t>
            </a:r>
            <a:r>
              <a:rPr sz="1500" b="0">
                <a:solidFill>
                  <a:srgbClr val="333333"/>
                </a:solidFill>
                <a:latin typeface="Arial"/>
              </a:rPr>
              <a:t>Se reprodujo la cadena de cinco llamadas de tuni.pe: 56 archivos (1 270 MB), con su sha256 en un manifiesto.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333333"/>
                </a:solidFill>
                <a:latin typeface="Arial"/>
              </a:rPr>
              <a:t>Transformación en SQL. </a:t>
            </a:r>
            <a:r>
              <a:rPr sz="1500" b="0">
                <a:solidFill>
                  <a:srgbClr val="333333"/>
                </a:solidFill>
                <a:latin typeface="Arial"/>
              </a:rPr>
              <a:t>Bronze → silver → gold en archivos .sql por capa, sobre DuckDB. Python solo orquesta.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333333"/>
                </a:solidFill>
                <a:latin typeface="Arial"/>
              </a:rPr>
              <a:t>Periodos consolidados. </a:t>
            </a:r>
            <a:r>
              <a:rPr sz="1500" b="0">
                <a:solidFill>
                  <a:srgbClr val="333333"/>
                </a:solidFill>
                <a:latin typeface="Arial"/>
              </a:rPr>
              <a:t>2020–2025: 12 semestres de matrícula, 6 años de ingresantes y 4 de postulantes, con columnas unificadas.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333333"/>
                </a:solidFill>
                <a:latin typeface="Arial"/>
              </a:rPr>
              <a:t>Estandarización. </a:t>
            </a:r>
            <a:r>
              <a:rPr sz="1500" b="0">
                <a:solidFill>
                  <a:srgbClr val="333333"/>
                </a:solidFill>
                <a:latin typeface="Arial"/>
              </a:rPr>
              <a:t>Universidad por código INEI, programa por INEI + código SIU, geografía normalizada y macrorregión por tabla de referencia.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920240"/>
            <a:ext cx="3730752" cy="42245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14884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6B6B6B"/>
                </a:solidFill>
                <a:latin typeface="Arial"/>
              </a:rPr>
              <a:t>EVIDENCIA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51460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23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04495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de la fuente al modelo, desde cero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47472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Byte a byte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00507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parquets idénticos al repetir la corrida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43484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96519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archivos .sql con toda la lógica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532120"/>
            <a:ext cx="3182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run_all.py · 01_descargar.py · 02_transformar.py · sql/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3.2 · CALIDAD E 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76872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Criterio: calidad e integración · 15 %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17 controles en SQL, con su resultado medido y publicado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681228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333333"/>
                </a:solidFill>
                <a:latin typeface="Arial"/>
              </a:rPr>
              <a:t>Nada se pierde entre capas. </a:t>
            </a:r>
            <a:r>
              <a:rPr sz="1500" b="0">
                <a:solidFill>
                  <a:srgbClr val="333333"/>
                </a:solidFill>
                <a:latin typeface="Arial"/>
              </a:rPr>
              <a:t>Conciliación archivo por archivo entre bronze y gold: 0 diferencias en 49 conciliaciones.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333333"/>
                </a:solidFill>
                <a:latin typeface="Arial"/>
              </a:rPr>
              <a:t>Las llaves identifican lo que dicen. </a:t>
            </a:r>
            <a:r>
              <a:rPr sz="1500" b="0">
                <a:solidFill>
                  <a:srgbClr val="333333"/>
                </a:solidFill>
                <a:latin typeface="Arial"/>
              </a:rPr>
              <a:t>El código SIU se repite entre universidades: el programa se identifica con INEI + SIU. 0 huérfanos en 17 pruebas.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333333"/>
                </a:solidFill>
                <a:latin typeface="Arial"/>
              </a:rPr>
              <a:t>Cada fuente cubre lo que dice. </a:t>
            </a:r>
            <a:r>
              <a:rPr sz="1500" b="0">
                <a:solidFill>
                  <a:srgbClr val="333333"/>
                </a:solidFill>
                <a:latin typeface="Arial"/>
              </a:rPr>
              <a:t>Los periodos incompletos se marcan: egresados 2025-II llega al 55 %.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333333"/>
                </a:solidFill>
                <a:latin typeface="Arial"/>
              </a:rPr>
              <a:t>Lo que quedó fuera, contado. </a:t>
            </a:r>
            <a:r>
              <a:rPr sz="1500" b="0">
                <a:solidFill>
                  <a:srgbClr val="333333"/>
                </a:solidFill>
                <a:latin typeface="Arial"/>
              </a:rPr>
              <a:t>Posgrado (~20 % de cada archivo) y los años sin dato en la regresión.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920240"/>
            <a:ext cx="3730752" cy="42245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14884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6B6B6B"/>
                </a:solidFill>
                <a:latin typeface="Arial"/>
              </a:rPr>
              <a:t>EVIDENCIA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51460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04495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filas perdidas entre bronze y gold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47472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00507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huérfanos en 17 pruebas de llaves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43484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96519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controles con resultado en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532120"/>
            <a:ext cx="3182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sql/calidad.sql · salidas/calidad/qc_resultados.csv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3.3 · MODELO DIMENSIONAL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76872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Criterio: modelo de datos ·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Estrella de seis hechos con dimensiones compartidas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993392"/>
            <a:ext cx="16276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Hecho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993392"/>
            <a:ext cx="3959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Una fila por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1993392"/>
            <a:ext cx="8046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Filas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249424"/>
            <a:ext cx="6720839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656" y="2322576"/>
            <a:ext cx="162763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fct_ingresantes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5" y="2322576"/>
            <a:ext cx="395935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año × universidad × programa × ubicación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322576"/>
            <a:ext cx="80467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15 215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2633472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" y="2706624"/>
            <a:ext cx="162763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fct_matricula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4015" y="2706624"/>
            <a:ext cx="395935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año × semestre × universidad × programa × ubicación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706624"/>
            <a:ext cx="80467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37 828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017520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6656" y="3090672"/>
            <a:ext cx="162763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fct_postulantes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3090672"/>
            <a:ext cx="395935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año × universidad × programa × ubicación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3090672"/>
            <a:ext cx="80467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10 607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3401568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6656" y="3474720"/>
            <a:ext cx="162763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fct_egresados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14015" y="3474720"/>
            <a:ext cx="395935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año × semestre × universidad × programa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3474720"/>
            <a:ext cx="80467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11 000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3785615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" y="3858768"/>
            <a:ext cx="162763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fct_docentes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14015" y="3858768"/>
            <a:ext cx="395935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año × semestre × universidad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858768"/>
            <a:ext cx="80467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1 300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4169663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76656" y="4242816"/>
            <a:ext cx="162763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fct_titulos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242816"/>
            <a:ext cx="395935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año × universidad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3096" y="4242816"/>
            <a:ext cx="804672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915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4553712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" y="4800600"/>
            <a:ext cx="6720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33333"/>
                </a:solidFill>
                <a:latin typeface="Arial"/>
              </a:rPr>
              <a:t>Dimensiones compartidas: </a:t>
            </a:r>
            <a:r>
              <a:rPr sz="1300" b="0">
                <a:solidFill>
                  <a:srgbClr val="333333"/>
                </a:solidFill>
                <a:latin typeface="Arial"/>
              </a:rPr>
              <a:t>periodo, semestre, universidad, programa y ubicación. La tendencia de cada programa se une 1:1 al programa. Un mismo segmentador filtra ingresantes y matrícula a la vez.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1920240"/>
            <a:ext cx="3730752" cy="42245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214884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6B6B6B"/>
                </a:solidFill>
                <a:latin typeface="Arial"/>
              </a:rPr>
              <a:t>EVIDENCIA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251460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304495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relaciones de una dirección, llaves únicas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347472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400507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filas huérfanas en las relaciones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443484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2440" y="496519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segmentador de periodo filtra los seis hechos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5532120"/>
            <a:ext cx="3182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docs/diccionario_datos.md · sql/gold/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3.4 · MEDIDAS DAX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76872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Criterio: medidas DAX · 15 %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76 medidas explícitas, verificadas contra el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681228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Variación interanual. </a:t>
            </a:r>
            <a:r>
              <a:rPr sz="1400" b="0">
                <a:solidFill>
                  <a:srgbClr val="333333"/>
                </a:solidFill>
                <a:latin typeface="Arial"/>
              </a:rPr>
              <a:t>Absoluta y porcentual, para matrícula e ingresantes.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Participación. </a:t>
            </a:r>
            <a:r>
              <a:rPr sz="1400" b="0">
                <a:solidFill>
                  <a:srgbClr val="333333"/>
                </a:solidFill>
                <a:latin typeface="Arial"/>
              </a:rPr>
              <a:t>% Participacion en su Universidad: el denominador es la universidad de cada programa.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Ranking que responde a los filtros. </a:t>
            </a:r>
            <a:r>
              <a:rPr sz="1400" b="0">
                <a:solidFill>
                  <a:srgbClr val="333333"/>
                </a:solidFill>
                <a:latin typeface="Arial"/>
              </a:rPr>
              <a:t>RANKX sobre ALLSELECTED: el top y el bottom 5 se recalculan con cada segmentador.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Crecimiento. </a:t>
            </a:r>
            <a:r>
              <a:rPr sz="1400" b="0">
                <a:solidFill>
                  <a:srgbClr val="333333"/>
                </a:solidFill>
                <a:latin typeface="Arial"/>
              </a:rPr>
              <a:t>CAGR del rango seleccionado y tendencia por regresión, para la UCSP, su mercado y el país.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Buenas prácticas. </a:t>
            </a:r>
            <a:r>
              <a:rPr sz="1400" b="0">
                <a:solidFill>
                  <a:srgbClr val="333333"/>
                </a:solidFill>
                <a:latin typeface="Arial"/>
              </a:rPr>
              <a:t>Medidas explícitas, VAR, DIVIDE, formato declarado y carpetas.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920240"/>
            <a:ext cx="3730752" cy="42245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14884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6B6B6B"/>
                </a:solidFill>
                <a:latin typeface="Arial"/>
              </a:rPr>
              <a:t>EVIDENCIA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51460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04495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medidas, organizadas en 12 carpetas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47472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9 188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00507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matrícula UCSP 2025: DAX igual a 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43484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96519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medidas implícitas: desactivadas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532120"/>
            <a:ext cx="3182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docs/catalogo_medidas.md · UCSP_Benchmark.pbix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3.5 · COMPONENTE ESTADÍSTICO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76872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Criterio: análisis · 15 %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Regresión por programa para separar tendencia de ruido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681228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Técnica. </a:t>
            </a:r>
            <a:r>
              <a:rPr sz="1400" b="0">
                <a:solidFill>
                  <a:srgbClr val="333333"/>
                </a:solidFill>
                <a:latin typeface="Arial"/>
              </a:rPr>
              <a:t>Mínimos cuadrados sobre log(ingresantes) y log(matrícula) de cada programa; la pendiente b da la tasa anual: CAGR = eᵇ − 1.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Por qué. </a:t>
            </a:r>
            <a:r>
              <a:rPr sz="1400" b="0">
                <a:solidFill>
                  <a:srgbClr val="333333"/>
                </a:solidFill>
                <a:latin typeface="Arial"/>
              </a:rPr>
              <a:t>Compara programas de tamaños muy distintos y prueba si la tendencia es real, con una t de Student de n − 2 grados de libertad.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Tendencia sostenida. </a:t>
            </a:r>
            <a:r>
              <a:rPr sz="1400" b="0">
                <a:solidFill>
                  <a:srgbClr val="333333"/>
                </a:solidFill>
                <a:latin typeface="Arial"/>
              </a:rPr>
              <a:t>Al menos 4 años, p &lt; 0,05 y |CAGR| ≥ 3 %. Se cruzan las dos series: la matrícula arrastra cohortes; el ingreso no.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>
                <a:solidFill>
                  <a:srgbClr val="333333"/>
                </a:solidFill>
                <a:latin typeface="Arial"/>
              </a:rPr>
              <a:t>Limitaciones. </a:t>
            </a:r>
            <a:r>
              <a:rPr sz="1400" b="0">
                <a:solidFill>
                  <a:srgbClr val="333333"/>
                </a:solidFill>
                <a:latin typeface="Arial"/>
              </a:rPr>
              <a:t>Cinco puntos por serie, comparaciones múltiples y autocorrelación en la matrícula. Una tendencia no explica su causa.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920240"/>
            <a:ext cx="3730752" cy="42245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14884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6B6B6B"/>
                </a:solidFill>
                <a:latin typeface="Arial"/>
              </a:rPr>
              <a:t>EVIDENCIA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51460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4 051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04495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regresiones, de ingreso y de matrícula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47472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00507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programas de la UCSP en caída confirmada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43484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96519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en alerta: cae el ingreso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532120"/>
            <a:ext cx="3182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04_tendencias.py · dim_tendencia_programa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TABLERO ·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76872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Criterio: dashboard · 10 %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Tres páginas que abren con la respuesta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maqueta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3453384" cy="194252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1965960"/>
            <a:ext cx="3453384" cy="1942528"/>
          </a:xfrm>
          <a:prstGeom prst="rect">
            <a:avLst/>
          </a:prstGeom>
          <a:noFill/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18216"/>
            <a:ext cx="3453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Arial"/>
              </a:rPr>
              <a:t>1 · Posición de mercado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Pregunta 4.1</a:t>
            </a:r>
          </a:p>
        </p:txBody>
      </p:sp>
      <p:pic>
        <p:nvPicPr>
          <p:cNvPr id="12" name="Picture 11" descr="maqueta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784" y="1965960"/>
            <a:ext cx="3453384" cy="194252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367784" y="1965960"/>
            <a:ext cx="3453384" cy="1942528"/>
          </a:xfrm>
          <a:prstGeom prst="rect">
            <a:avLst/>
          </a:prstGeom>
          <a:noFill/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7784" y="4018216"/>
            <a:ext cx="3453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Arial"/>
              </a:rPr>
              <a:t>2 · Portafolio de programas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Preguntas 4.2 y 4.3</a:t>
            </a:r>
          </a:p>
        </p:txBody>
      </p:sp>
      <p:pic>
        <p:nvPicPr>
          <p:cNvPr id="15" name="Picture 14" descr="maqueta_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488" y="1965960"/>
            <a:ext cx="3453384" cy="19425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95488" y="1965960"/>
            <a:ext cx="3453384" cy="1942528"/>
          </a:xfrm>
          <a:prstGeom prst="rect">
            <a:avLst/>
          </a:prstGeom>
          <a:noFill/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5488" y="4018216"/>
            <a:ext cx="3453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Arial"/>
              </a:rPr>
              <a:t>3 · Admisión y selectividad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Pregunta 4.4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333333"/>
                </a:solidFill>
                <a:latin typeface="Arial"/>
              </a:rPr>
              <a:t>Filtros. </a:t>
            </a:r>
            <a:r>
              <a:rPr sz="1300" b="0">
                <a:solidFill>
                  <a:srgbClr val="333333"/>
                </a:solidFill>
                <a:latin typeface="Arial"/>
              </a:rPr>
              <a:t>Periodo, departamento, macrorregión y gestión en las tres páginas. La UCSP es el sujeto fijo: la geografía y la gestión definen el mercado contra el que se compara; sin filtro, el sur.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333333"/>
                </a:solidFill>
                <a:latin typeface="Arial"/>
              </a:rPr>
              <a:t>Lectura. </a:t>
            </a:r>
            <a:r>
              <a:rPr sz="1300" b="0">
                <a:solidFill>
                  <a:srgbClr val="333333"/>
                </a:solidFill>
                <a:latin typeface="Arial"/>
              </a:rPr>
              <a:t>Un titular calculado en DAX abre cada página y se reescribe con los filtros; debajo, solo los indicadores que lo sostienen.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3.6 · MICROSOFT FABRIC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76872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Criterio: documentación · 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En Fabric, solo cambia la lectura de archivos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99339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Capa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6856" y="1993392"/>
            <a:ext cx="20391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Hoy, en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96" y="1993392"/>
            <a:ext cx="28620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En Fabric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249424"/>
            <a:ext cx="6720839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656" y="2322576"/>
            <a:ext cx="1490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Ingesta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6856" y="2322576"/>
            <a:ext cx="2039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01_descargar.py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322576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Notebook disparado por un Data Pipeline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2752344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" y="2825496"/>
            <a:ext cx="1490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Bronze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825496"/>
            <a:ext cx="2039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data/bronze/*.zip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825496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Lakehouse · Files/bronze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255263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6656" y="3328415"/>
            <a:ext cx="1490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Silver y gold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6856" y="3328415"/>
            <a:ext cx="2039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DuckDB + sql/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3328415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Spark SQL con los mismos .sql · Delta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3758183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6656" y="3831335"/>
            <a:ext cx="1490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Calidad y tendencias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6856" y="3831335"/>
            <a:ext cx="2039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03 y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3831335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Notebooks que escriben en Tables/gold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261103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" y="4334255"/>
            <a:ext cx="1490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Modelo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76856" y="4334255"/>
            <a:ext cx="2039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.pbix importado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6" y="4334255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Modelo semántico Direct Lake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4764023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76656" y="4837175"/>
            <a:ext cx="14904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Actualización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76856" y="4837175"/>
            <a:ext cx="2039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run_all.py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4837175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Pipeline mensual: corre si TUNI publica un periodo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5266943"/>
            <a:ext cx="6720839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818120" y="1920240"/>
            <a:ext cx="3730752" cy="42245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2440" y="214884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6B6B6B"/>
                </a:solidFill>
                <a:latin typeface="Arial"/>
              </a:rPr>
              <a:t>EVIDENCIA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251460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5 de 382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304495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líneas de SQL cambian para Spark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347472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Mensual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400507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revisión del catálogo de TUNI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4434840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4965192"/>
            <a:ext cx="31821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Arial"/>
              </a:rPr>
              <a:t>descargas repetidas: el manifiesto lo impide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2440" y="5532120"/>
            <a:ext cx="3182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fabric/nb_01_transformar.py · fabric/verificar_udf.py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ANEXO · ENTREGABLES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</a:rPr>
              <a:t>Dónde está cada entregable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664208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00800"/>
            <a:ext cx="10908792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Prueba técnica · Analista de Datos · Universidad Católica San Pablo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4472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B9B9B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93392"/>
            <a:ext cx="29077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Entregable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1993392"/>
            <a:ext cx="77815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Archivo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2249424"/>
            <a:ext cx="10908792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6656" y="2322576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5.1 Tablero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322576"/>
            <a:ext cx="77815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UCSP_Benchmark.pbix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2651760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6656" y="2724912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5.2 Código y ejecución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2724912"/>
            <a:ext cx="77815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README.md · run_all.py · 01–05_*.py · sql/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3054096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" y="3127248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5.3 Diccionario y catálogo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3127248"/>
            <a:ext cx="77815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docs/diccionario_datos.md · docs/catalogo_medidas.md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456432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76656" y="3529584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5.4 Presentación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94176" y="3529584"/>
            <a:ext cx="77815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salidas/PPT_Tecnica_UCSP.pptx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3858768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6656" y="3931920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Calidad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4176" y="3931920"/>
            <a:ext cx="77815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sql/calidad.sql · salidas/calidad/qc_resultados.csv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4261104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76656" y="4334256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Estadística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176" y="4334256"/>
            <a:ext cx="77815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04_tendencias.py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663440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" y="4736592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Fabric y portabilidad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4736592"/>
            <a:ext cx="77815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</a:rPr>
              <a:t>fabric/ · sql/ddl_postgres.sql · sql/ddl_sqlserver.sql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5065776"/>
            <a:ext cx="10908792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566928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6B6B"/>
                </a:solidFill>
                <a:latin typeface="Arial"/>
              </a:rPr>
              <a:t>Uso de IA generativa. </a:t>
            </a:r>
            <a:r>
              <a:rPr sz="1100" b="0">
                <a:solidFill>
                  <a:srgbClr val="6B6B6B"/>
                </a:solidFill>
                <a:latin typeface="Arial"/>
              </a:rPr>
              <a:t>Claude (Anthropic) asistió en la ingeniería inversa de la API, la redacción del código y los borradores de documentación. Las decisiones se justificaron explícitamente y todas las cifras salen de ejecutar el pipeline.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